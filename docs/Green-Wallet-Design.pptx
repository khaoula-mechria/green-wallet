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4D2B"/>
                </a:solidFill>
                <a:latin typeface="Arial"/>
              </a:defRPr>
            </a:pPr>
            <a:r>
              <a:rPr sz="1300" b="0" i="0" u="none" strike="noStrike">
                <a:solidFill>
                  <a:srgbClr val="1F4D2B"/>
                </a:solidFill>
                <a:latin typeface="Arial"/>
              </a:rPr>
              <a:t>Ceiling = what a household pays the utility (TEC/kWh)</a:t>
            </a:r>
          </a:p>
        </c:rich>
      </c:tx>
      <c:layout/>
      <c:overlay val="0"/>
    </c:title>
    <c:autoTitleDeleted val="0"/>
    <c:plotArea>
      <c:layout/>
      <c:barChart>
        <c:barDir val="bar"/>
        <c:grouping val="stacked"/>
        <c:varyColors val="0"/>
        <c:ser>
          <c:idx val="0"/>
          <c:order val="0"/>
          <c:tx>
            <c:strRef>
              <c:f>Sheet1!$B$1</c:f>
              <c:strCache>
                <c:ptCount val="1"/>
                <c:pt idx="0">
                  <c:v>Wholesale energy</c:v>
                </c:pt>
              </c:strCache>
            </c:strRef>
          </c:tx>
          <c:spPr>
            <a:solidFill>
              <a:srgbClr val="1F4D2B"/>
            </a:solidFill>
            <a:effectLst/>
          </c:spPr>
          <c:invertIfNegative val="0"/>
          <c:dLbls>
            <c:numFmt formatCode="0.00" sourceLinked="0"/>
            <c:txPr>
              <a:bodyPr/>
              <a:lstStyle/>
              <a:p>
                <a:pPr>
                  <a:defRPr b="0" i="0" strike="noStrike" sz="13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Import price</c:v>
                  </c:pt>
                </c:lvl>
              </c:multiLvlStrCache>
            </c:multiLvlStrRef>
          </c:cat>
          <c:val>
            <c:numRef>
              <c:f>Sheet1!$B$2:$B$2</c:f>
              <c:numCache>
                <c:formatCode>General</c:formatCode>
                <c:ptCount val="1"/>
                <c:pt idx="0">
                  <c:v>0.08</c:v>
                </c:pt>
              </c:numCache>
            </c:numRef>
          </c:val>
        </c:ser>
        <c:ser>
          <c:idx val="1"/>
          <c:order val="1"/>
          <c:tx>
            <c:strRef>
              <c:f>Sheet1!$C$1</c:f>
              <c:strCache>
                <c:ptCount val="1"/>
                <c:pt idx="0">
                  <c:v>Network fee</c:v>
                </c:pt>
              </c:strCache>
            </c:strRef>
          </c:tx>
          <c:spPr>
            <a:solidFill>
              <a:srgbClr val="3E8E41"/>
            </a:solidFill>
            <a:effectLst/>
          </c:spPr>
          <c:invertIfNegative val="0"/>
          <c:dLbls>
            <c:numFmt formatCode="0.00" sourceLinked="0"/>
            <c:txPr>
              <a:bodyPr/>
              <a:lstStyle/>
              <a:p>
                <a:pPr>
                  <a:defRPr b="0" i="0" strike="noStrike" sz="13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Import price</c:v>
                  </c:pt>
                </c:lvl>
              </c:multiLvlStrCache>
            </c:multiLvlStrRef>
          </c:cat>
          <c:val>
            <c:numRef>
              <c:f>Sheet1!$C$2:$C$2</c:f>
              <c:numCache>
                <c:formatCode>General</c:formatCode>
                <c:ptCount val="1"/>
                <c:pt idx="0">
                  <c:v>0.09</c:v>
                </c:pt>
              </c:numCache>
            </c:numRef>
          </c:val>
        </c:ser>
        <c:ser>
          <c:idx val="2"/>
          <c:order val="2"/>
          <c:tx>
            <c:strRef>
              <c:f>Sheet1!$D$1</c:f>
              <c:strCache>
                <c:ptCount val="1"/>
                <c:pt idx="0">
                  <c:v>Taxes &amp; levies</c:v>
                </c:pt>
              </c:strCache>
            </c:strRef>
          </c:tx>
          <c:spPr>
            <a:solidFill>
              <a:srgbClr val="97BC62"/>
            </a:solidFill>
            <a:effectLst/>
          </c:spPr>
          <c:invertIfNegative val="0"/>
          <c:dLbls>
            <c:numFmt formatCode="0.00" sourceLinked="0"/>
            <c:txPr>
              <a:bodyPr/>
              <a:lstStyle/>
              <a:p>
                <a:pPr>
                  <a:defRPr b="0" i="0" strike="noStrike" sz="13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Import price</c:v>
                  </c:pt>
                </c:lvl>
              </c:multiLvlStrCache>
            </c:multiLvlStrRef>
          </c:cat>
          <c:val>
            <c:numRef>
              <c:f>Sheet1!$D$2:$D$2</c:f>
              <c:numCache>
                <c:formatCode>General</c:formatCode>
                <c:ptCount val="1"/>
                <c:pt idx="0">
                  <c:v>0.08</c:v>
                </c:pt>
              </c:numCache>
            </c:numRef>
          </c:val>
        </c:ser>
        <c:ser>
          <c:idx val="3"/>
          <c:order val="3"/>
          <c:tx>
            <c:strRef>
              <c:f>Sheet1!$E$1</c:f>
              <c:strCache>
                <c:ptCount val="1"/>
                <c:pt idx="0">
                  <c:v>Supplier margin</c:v>
                </c:pt>
              </c:strCache>
            </c:strRef>
          </c:tx>
          <c:spPr>
            <a:solidFill>
              <a:srgbClr val="F2A900"/>
            </a:solidFill>
            <a:effectLst/>
          </c:spPr>
          <c:invertIfNegative val="0"/>
          <c:dLbls>
            <c:numFmt formatCode="0.00" sourceLinked="0"/>
            <c:txPr>
              <a:bodyPr/>
              <a:lstStyle/>
              <a:p>
                <a:pPr>
                  <a:defRPr b="0" i="0" strike="noStrike" sz="13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Import price</c:v>
                  </c:pt>
                </c:lvl>
              </c:multiLvlStrCache>
            </c:multiLvlStrRef>
          </c:cat>
          <c:val>
            <c:numRef>
              <c:f>Sheet1!$E$2:$E$2</c:f>
              <c:numCache>
                <c:formatCode>General</c:formatCode>
                <c:ptCount val="1"/>
                <c:pt idx="0">
                  <c:v>0.05</c:v>
                </c:pt>
              </c:numCache>
            </c:numRef>
          </c:val>
        </c:ser>
        <c:dLbls>
          <c:numFmt formatCode="0.00" sourceLinked="0"/>
          <c:txPr>
            <a:bodyPr/>
            <a:lstStyle/>
            <a:p>
              <a:pPr>
                <a:defRPr b="0" i="0" strike="noStrike" sz="13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63"/>
                </a:solidFill>
                <a:latin typeface="Arial"/>
              </a:defRPr>
            </a:pPr>
            <a:endParaRPr lang="en-US"/>
          </a:p>
        </c:txPr>
        <c:crossAx val="2094734552"/>
        <c:crosses val="autoZero"/>
        <c:auto val="1"/>
        <c:lblAlgn val="ctr"/>
        <c:noMultiLvlLbl val="1"/>
      </c:catAx>
      <c:valAx>
        <c:axId val="2094734552"/>
        <c:scaling>
          <c:orientation val="minMax"/>
          <c:max val="0.3"/>
          <c:min val="0"/>
        </c:scaling>
        <c:delete val="0"/>
        <c:axPos val="b"/>
        <c:majorGridlines>
          <c:spPr>
            <a:ln w="6350" cap="flat">
              <a:solidFill>
                <a:srgbClr val="E3E8E4"/>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B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4D2B"/>
                </a:solidFill>
                <a:latin typeface="Arial"/>
              </a:defRPr>
            </a:pPr>
            <a:r>
              <a:rPr sz="1300" b="0" i="0" u="none" strike="noStrike">
                <a:solidFill>
                  <a:srgbClr val="1F4D2B"/>
                </a:solidFill>
                <a:latin typeface="Arial"/>
              </a:rPr>
              <a:t>Clearing price (TEC/kWh) over one simulated day</a:t>
            </a:r>
          </a:p>
        </c:rich>
      </c:tx>
      <c:layout/>
      <c:overlay val="0"/>
    </c:title>
    <c:autoTitleDeleted val="0"/>
    <c:plotArea>
      <c:layout/>
      <c:lineChart>
        <c:varyColors val="0"/>
        <c:ser>
          <c:idx val="0"/>
          <c:order val="0"/>
          <c:tx>
            <c:strRef>
              <c:f>Sheet1!$B$1</c:f>
              <c:strCache>
                <c:ptCount val="1"/>
                <c:pt idx="0">
                  <c:v>Clearing price</c:v>
                </c:pt>
              </c:strCache>
            </c:strRef>
          </c:tx>
          <c:spPr>
            <a:solidFill>
              <a:srgbClr val="3E8E41"/>
            </a:solidFill>
            <a:ln w="31750" cap="flat">
              <a:solidFill>
                <a:srgbClr val="3E8E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E8E41"/>
              </a:solidFill>
              <a:ln w="9525" cap="flat">
                <a:solidFill>
                  <a:srgbClr val="3E8E41"/>
                </a:solidFill>
                <a:prstDash val="solid"/>
                <a:round/>
              </a:ln>
              <a:effectLst/>
            </c:spPr>
          </c:marker>
          <c:cat>
            <c:multiLvlStrRef>
              <c:f>Sheet1!$A$2:$A$17</c:f>
              <c:multiLvlStrCache>
                <c:ptCount val="16"/>
                <c:lvl>
                  <c:pt idx="0">
                    <c:v>06:00</c:v>
                  </c:pt>
                  <c:pt idx="1">
                    <c:v>07:30</c:v>
                  </c:pt>
                  <c:pt idx="2">
                    <c:v>09:00</c:v>
                  </c:pt>
                  <c:pt idx="3">
                    <c:v>10:30</c:v>
                  </c:pt>
                  <c:pt idx="4">
                    <c:v>12:00</c:v>
                  </c:pt>
                  <c:pt idx="5">
                    <c:v>13:30</c:v>
                  </c:pt>
                  <c:pt idx="6">
                    <c:v>15:00</c:v>
                  </c:pt>
                  <c:pt idx="7">
                    <c:v>16:30</c:v>
                  </c:pt>
                  <c:pt idx="8">
                    <c:v>18:00</c:v>
                  </c:pt>
                  <c:pt idx="9">
                    <c:v>19:30</c:v>
                  </c:pt>
                  <c:pt idx="10">
                    <c:v>21:00</c:v>
                  </c:pt>
                  <c:pt idx="11">
                    <c:v>22:30</c:v>
                  </c:pt>
                  <c:pt idx="12">
                    <c:v>00:00</c:v>
                  </c:pt>
                  <c:pt idx="13">
                    <c:v>01:30</c:v>
                  </c:pt>
                  <c:pt idx="14">
                    <c:v>03:00</c:v>
                  </c:pt>
                  <c:pt idx="15">
                    <c:v>04:30</c:v>
                  </c:pt>
                </c:lvl>
              </c:multiLvlStrCache>
            </c:multiLvlStrRef>
          </c:cat>
          <c:val>
            <c:numRef>
              <c:f>Sheet1!$B$2:$B$17</c:f>
              <c:numCache>
                <c:formatCode>General</c:formatCode>
                <c:ptCount val="16"/>
                <c:pt idx="0">
                  <c:v>0.114</c:v>
                </c:pt>
                <c:pt idx="1">
                  <c:v>0.073</c:v>
                </c:pt>
                <c:pt idx="2">
                  <c:v>0.105</c:v>
                </c:pt>
                <c:pt idx="3">
                  <c:v>0.1</c:v>
                </c:pt>
                <c:pt idx="4">
                  <c:v>0.1</c:v>
                </c:pt>
                <c:pt idx="5">
                  <c:v>0.1</c:v>
                </c:pt>
                <c:pt idx="6">
                  <c:v>0.105</c:v>
                </c:pt>
                <c:pt idx="7">
                  <c:v>0.105</c:v>
                </c:pt>
                <c:pt idx="8">
                  <c:v>0.131</c:v>
                </c:pt>
                <c:pt idx="9">
                  <c:v>0.133</c:v>
                </c:pt>
                <c:pt idx="10">
                  <c:v>0.19</c:v>
                </c:pt>
                <c:pt idx="11">
                  <c:v>0.2</c:v>
                </c:pt>
                <c:pt idx="12">
                  <c:v>0.089</c:v>
                </c:pt>
                <c:pt idx="13">
                  <c:v>0.088</c:v>
                </c:pt>
                <c:pt idx="14">
                  <c:v>0.087</c:v>
                </c:pt>
                <c:pt idx="15">
                  <c:v>0.087</c:v>
                </c:pt>
              </c:numCache>
            </c:numRef>
          </c:val>
          <c:smooth val="0"/>
        </c:ser>
        <c:ser>
          <c:idx val="1"/>
          <c:order val="1"/>
          <c:tx>
            <c:strRef>
              <c:f>Sheet1!$C$1</c:f>
              <c:strCache>
                <c:ptCount val="1"/>
                <c:pt idx="0">
                  <c:v>Ceiling (import)</c:v>
                </c:pt>
              </c:strCache>
            </c:strRef>
          </c:tx>
          <c:spPr>
            <a:solidFill>
              <a:srgbClr val="C0392B"/>
            </a:solidFill>
            <a:ln w="3175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0392B"/>
              </a:solidFill>
              <a:ln w="9525" cap="flat">
                <a:solidFill>
                  <a:srgbClr val="C0392B"/>
                </a:solidFill>
                <a:prstDash val="solid"/>
                <a:round/>
              </a:ln>
              <a:effectLst/>
            </c:spPr>
          </c:marker>
          <c:cat>
            <c:multiLvlStrRef>
              <c:f>Sheet1!$A$2:$A$17</c:f>
              <c:multiLvlStrCache>
                <c:ptCount val="16"/>
                <c:lvl>
                  <c:pt idx="0">
                    <c:v>06:00</c:v>
                  </c:pt>
                  <c:pt idx="1">
                    <c:v>07:30</c:v>
                  </c:pt>
                  <c:pt idx="2">
                    <c:v>09:00</c:v>
                  </c:pt>
                  <c:pt idx="3">
                    <c:v>10:30</c:v>
                  </c:pt>
                  <c:pt idx="4">
                    <c:v>12:00</c:v>
                  </c:pt>
                  <c:pt idx="5">
                    <c:v>13:30</c:v>
                  </c:pt>
                  <c:pt idx="6">
                    <c:v>15:00</c:v>
                  </c:pt>
                  <c:pt idx="7">
                    <c:v>16:30</c:v>
                  </c:pt>
                  <c:pt idx="8">
                    <c:v>18:00</c:v>
                  </c:pt>
                  <c:pt idx="9">
                    <c:v>19:30</c:v>
                  </c:pt>
                  <c:pt idx="10">
                    <c:v>21:00</c:v>
                  </c:pt>
                  <c:pt idx="11">
                    <c:v>22:30</c:v>
                  </c:pt>
                  <c:pt idx="12">
                    <c:v>00:00</c:v>
                  </c:pt>
                  <c:pt idx="13">
                    <c:v>01:30</c:v>
                  </c:pt>
                  <c:pt idx="14">
                    <c:v>03:00</c:v>
                  </c:pt>
                  <c:pt idx="15">
                    <c:v>04:30</c:v>
                  </c:pt>
                </c:lvl>
              </c:multiLvlStrCache>
            </c:multiLvlStrRef>
          </c:cat>
          <c:val>
            <c:numRef>
              <c:f>Sheet1!$C$2:$C$17</c:f>
              <c:numCache>
                <c:formatCode>General</c:formatCode>
                <c:ptCount val="16"/>
                <c:pt idx="0">
                  <c:v>0.3</c:v>
                </c:pt>
                <c:pt idx="1">
                  <c:v>0.3</c:v>
                </c:pt>
                <c:pt idx="2">
                  <c:v>0.3</c:v>
                </c:pt>
                <c:pt idx="3">
                  <c:v>0.3</c:v>
                </c:pt>
                <c:pt idx="4">
                  <c:v>0.3</c:v>
                </c:pt>
                <c:pt idx="5">
                  <c:v>0.3</c:v>
                </c:pt>
                <c:pt idx="6">
                  <c:v>0.3</c:v>
                </c:pt>
                <c:pt idx="7">
                  <c:v>0.3</c:v>
                </c:pt>
                <c:pt idx="8">
                  <c:v>0.3</c:v>
                </c:pt>
                <c:pt idx="9">
                  <c:v>0.3</c:v>
                </c:pt>
                <c:pt idx="10">
                  <c:v>0.3</c:v>
                </c:pt>
                <c:pt idx="11">
                  <c:v>0.3</c:v>
                </c:pt>
                <c:pt idx="12">
                  <c:v>0.3</c:v>
                </c:pt>
                <c:pt idx="13">
                  <c:v>0.3</c:v>
                </c:pt>
                <c:pt idx="14">
                  <c:v>0.3</c:v>
                </c:pt>
                <c:pt idx="15">
                  <c:v>0.3</c:v>
                </c:pt>
              </c:numCache>
            </c:numRef>
          </c:val>
          <c:smooth val="0"/>
        </c:ser>
        <c:ser>
          <c:idx val="2"/>
          <c:order val="2"/>
          <c:tx>
            <c:strRef>
              <c:f>Sheet1!$D$1</c:f>
              <c:strCache>
                <c:ptCount val="1"/>
                <c:pt idx="0">
                  <c:v>Floor (export)</c:v>
                </c:pt>
              </c:strCache>
            </c:strRef>
          </c:tx>
          <c:spPr>
            <a:solidFill>
              <a:srgbClr val="2F6690"/>
            </a:solidFill>
            <a:ln w="31750" cap="flat">
              <a:solidFill>
                <a:srgbClr val="2F669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6690"/>
              </a:solidFill>
              <a:ln w="9525" cap="flat">
                <a:solidFill>
                  <a:srgbClr val="2F6690"/>
                </a:solidFill>
                <a:prstDash val="solid"/>
                <a:round/>
              </a:ln>
              <a:effectLst/>
            </c:spPr>
          </c:marker>
          <c:cat>
            <c:multiLvlStrRef>
              <c:f>Sheet1!$A$2:$A$17</c:f>
              <c:multiLvlStrCache>
                <c:ptCount val="16"/>
                <c:lvl>
                  <c:pt idx="0">
                    <c:v>06:00</c:v>
                  </c:pt>
                  <c:pt idx="1">
                    <c:v>07:30</c:v>
                  </c:pt>
                  <c:pt idx="2">
                    <c:v>09:00</c:v>
                  </c:pt>
                  <c:pt idx="3">
                    <c:v>10:30</c:v>
                  </c:pt>
                  <c:pt idx="4">
                    <c:v>12:00</c:v>
                  </c:pt>
                  <c:pt idx="5">
                    <c:v>13:30</c:v>
                  </c:pt>
                  <c:pt idx="6">
                    <c:v>15:00</c:v>
                  </c:pt>
                  <c:pt idx="7">
                    <c:v>16:30</c:v>
                  </c:pt>
                  <c:pt idx="8">
                    <c:v>18:00</c:v>
                  </c:pt>
                  <c:pt idx="9">
                    <c:v>19:30</c:v>
                  </c:pt>
                  <c:pt idx="10">
                    <c:v>21:00</c:v>
                  </c:pt>
                  <c:pt idx="11">
                    <c:v>22:30</c:v>
                  </c:pt>
                  <c:pt idx="12">
                    <c:v>00:00</c:v>
                  </c:pt>
                  <c:pt idx="13">
                    <c:v>01:30</c:v>
                  </c:pt>
                  <c:pt idx="14">
                    <c:v>03:00</c:v>
                  </c:pt>
                  <c:pt idx="15">
                    <c:v>04:30</c:v>
                  </c:pt>
                </c:lvl>
              </c:multiLvlStrCache>
            </c:multiLvlStrRef>
          </c:cat>
          <c:val>
            <c:numRef>
              <c:f>Sheet1!$D$2:$D$17</c:f>
              <c:numCache>
                <c:formatCode>General</c:formatCode>
                <c:ptCount val="16"/>
                <c:pt idx="0">
                  <c:v>0.05</c:v>
                </c:pt>
                <c:pt idx="1">
                  <c:v>0.05</c:v>
                </c:pt>
                <c:pt idx="2">
                  <c:v>0.05</c:v>
                </c:pt>
                <c:pt idx="3">
                  <c:v>0.05</c:v>
                </c:pt>
                <c:pt idx="4">
                  <c:v>0.05</c:v>
                </c:pt>
                <c:pt idx="5">
                  <c:v>0.05</c:v>
                </c:pt>
                <c:pt idx="6">
                  <c:v>0.05</c:v>
                </c:pt>
                <c:pt idx="7">
                  <c:v>0.05</c:v>
                </c:pt>
                <c:pt idx="8">
                  <c:v>0.05</c:v>
                </c:pt>
                <c:pt idx="9">
                  <c:v>0.05</c:v>
                </c:pt>
                <c:pt idx="10">
                  <c:v>0.05</c:v>
                </c:pt>
                <c:pt idx="11">
                  <c:v>0.05</c:v>
                </c:pt>
                <c:pt idx="12">
                  <c:v>0.05</c:v>
                </c:pt>
                <c:pt idx="13">
                  <c:v>0.05</c:v>
                </c:pt>
                <c:pt idx="14">
                  <c:v>0.05</c:v>
                </c:pt>
                <c:pt idx="15">
                  <c:v>0.05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63"/>
                </a:solidFill>
                <a:latin typeface="Arial"/>
              </a:defRPr>
            </a:pPr>
            <a:endParaRPr lang="en-US"/>
          </a:p>
        </c:txPr>
        <c:crossAx val="2094734552"/>
        <c:crosses val="autoZero"/>
        <c:auto val="1"/>
        <c:lblAlgn val="ctr"/>
        <c:noMultiLvlLbl val="1"/>
      </c:catAx>
      <c:valAx>
        <c:axId val="2094734552"/>
        <c:scaling>
          <c:orientation val="minMax"/>
          <c:max val="0.35"/>
          <c:min val="0"/>
        </c:scaling>
        <c:delete val="0"/>
        <c:axPos val="l"/>
        <c:majorGridlines>
          <c:spPr>
            <a:ln w="6350" cap="flat">
              <a:solidFill>
                <a:srgbClr val="E3E8E4"/>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Wallet is a simulated local energy market. Homes with solar panels, large solar and wind farms, and ordinary homes trade energy with each other, store it in batteries, and prove it is green with certificates recorded on a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parts. We follow the energy: who takes part, what happens to surplus, how people get paid, how prices are formed, what happens when energy is missing, storage, money, manual trading, and finally how we check and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Producers are like big power plants. Prosumers are households with solar panels. Consumers only use energy. Batteries, storage modes and rented space all concern prosumers.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ground rules. The utility is always there as a backup. We assume trading is legal. The blockchain is simulated but Hedera-shaped, and it acts as a notary rather than a decentralized system. The operator is the company running the platform; it pays all fees so users never need cryptocurrency.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runs fast: 5 real seconds equal 30 simulated minutes, so a full day plays in 4 minutes. Each interval, readings are collected, households use their own energy first, and the rest is settled together in one auction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Surplus always fills the home battery first because it is free. After that the prosumer's chosen mode decides: sell now, or store in the community battery and wait for a better price. Anything the auction does not buy is exported to the utility at the floor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accounting rule: a kilowatt-hour sits in exactly one place at a time — battery, storage, sold, consumed, exported or lost. That is what prevents selling energy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systems separate proof from payment: certificates of green origin are issued at production, money moves only on sale. This removes double payment and inflation, and every TEC is backed by a real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simple rule: certificates travel with the kilowatt-hours. When energy is consumed, its certificate is retired so nobody can claim the same green energy twice. That gives each household a clear green share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band is the heart of the economics. Export price is the floor, import price is the ceiling. Local trading exists because any price in between beats the utility for both the seller and the buyer.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floor and ceiling are not computed by our market: they are the utility's prices, built from cost components like a real electricity bill. Future work: a daily wholesale curve would make the band move by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uniform-price double auction, the method used by real electricity exchanges like EPEX Spot and Nord Pool. Academic name for our pricing rule: a k-double auction with k equal to one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buyers, different supply. At noon the solar farm floods the market and the price is low. In the evening supply is scarce and the price rises. The price moves purely from supply and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types bids: an automatic agent bids for each home using its settings. The treasury acts as a clearing house, like the central counterparty of a real exchange. Leftovers go to the utility.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home in deficit uses what it already owns first, then buys locally, and finally the utility supplies the rest on a normal bill. Like a real home, it is never cut off for lack of tokens; it just pays the higher utility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community batteries sell slices of capacity to households and keep the rest for the operator. Storage is paid in energy: stored kWh shrink by 1% per simulated hour, which also models real battery losses and prevents hoarding.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prices come from running the in-browser simulation for two days. The price stays inside the band, drops when solar floods the market, and rises in the evening when storage becomes valuable.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 behaves like a stablecoin or e-money: always worth one unit of real money. TEC only appears when someone pays money in and disappears when someone cashes out. The operator keeps three separate accounts so the books can be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money and certificate movement becomes a ledger transaction with a Hedera-style ID and a simulated fee paid by the operator. Hash-chained blocks make tampering visible. The utility bill stays outside, in the utility's own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marketplace is the manual layer, like bilateral contracts in real markets. Delivering into the buyer's rented space means purchased energy follows storage rules: it decays and is capped, so buying is not a way to get free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checks prove that nothing is created or lost by accident: money, energy and certificates all balance. They are shown live on the dashboard and will be enforced by the backend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done and runs on a simulation of the design. The backend follows in four phases, from the money model to the full auction.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rule was chosen from a real system, which makes the design defensible. The future-work list is what a real deployment would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ideas to remember. Thank you —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slideLayout" Target="../slideLayouts/slideLayout1.xml"/><Relationship Id="rId1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D2B"/>
        </a:solidFill>
      </p:bgPr>
    </p:bg>
    <p:spTree>
      <p:nvGrpSpPr>
        <p:cNvPr id="1" name=""/>
        <p:cNvGrpSpPr/>
        <p:nvPr/>
      </p:nvGrpSpPr>
      <p:grpSpPr>
        <a:xfrm>
          <a:off x="0" y="0"/>
          <a:ext cx="0" cy="0"/>
          <a:chOff x="0" y="0"/>
          <a:chExt cx="0" cy="0"/>
        </a:xfrm>
      </p:grpSpPr>
      <p:sp>
        <p:nvSpPr>
          <p:cNvPr id="2" name="Shape 0"/>
          <p:cNvSpPr/>
          <p:nvPr/>
        </p:nvSpPr>
        <p:spPr>
          <a:xfrm>
            <a:off x="731520" y="1097280"/>
            <a:ext cx="685800" cy="685800"/>
          </a:xfrm>
          <a:prstGeom prst="ellipse">
            <a:avLst/>
          </a:prstGeom>
          <a:solidFill>
            <a:srgbClr val="F2A900"/>
          </a:solidFill>
          <a:ln w="12700">
            <a:solidFill>
              <a:srgbClr val="F2A900"/>
            </a:solidFill>
            <a:prstDash val="solid"/>
          </a:ln>
        </p:spPr>
      </p:sp>
      <p:pic>
        <p:nvPicPr>
          <p:cNvPr id="3" name="Image 0" descr="preencoded.png">    </p:cNvPr>
          <p:cNvPicPr>
            <a:picLocks noChangeAspect="1"/>
          </p:cNvPicPr>
          <p:nvPr/>
        </p:nvPicPr>
        <p:blipFill>
          <a:blip r:embed="rId1"/>
          <a:stretch>
            <a:fillRect/>
          </a:stretch>
        </p:blipFill>
        <p:spPr>
          <a:xfrm>
            <a:off x="896112" y="1261872"/>
            <a:ext cx="356616" cy="356616"/>
          </a:xfrm>
          <a:prstGeom prst="rect">
            <a:avLst/>
          </a:prstGeom>
        </p:spPr>
      </p:pic>
      <p:sp>
        <p:nvSpPr>
          <p:cNvPr id="4" name="Shape 1"/>
          <p:cNvSpPr/>
          <p:nvPr/>
        </p:nvSpPr>
        <p:spPr>
          <a:xfrm>
            <a:off x="1645920" y="1097280"/>
            <a:ext cx="685800" cy="685800"/>
          </a:xfrm>
          <a:prstGeom prst="ellipse">
            <a:avLst/>
          </a:prstGeom>
          <a:solidFill>
            <a:srgbClr val="3E8E41"/>
          </a:solidFill>
          <a:ln w="12700">
            <a:solidFill>
              <a:srgbClr val="3E8E41"/>
            </a:solidFill>
            <a:prstDash val="solid"/>
          </a:ln>
        </p:spPr>
      </p:sp>
      <p:pic>
        <p:nvPicPr>
          <p:cNvPr id="5" name="Image 1" descr="preencoded.png">    </p:cNvPr>
          <p:cNvPicPr>
            <a:picLocks noChangeAspect="1"/>
          </p:cNvPicPr>
          <p:nvPr/>
        </p:nvPicPr>
        <p:blipFill>
          <a:blip r:embed="rId2"/>
          <a:stretch>
            <a:fillRect/>
          </a:stretch>
        </p:blipFill>
        <p:spPr>
          <a:xfrm>
            <a:off x="1810512" y="1261872"/>
            <a:ext cx="356616" cy="356616"/>
          </a:xfrm>
          <a:prstGeom prst="rect">
            <a:avLst/>
          </a:prstGeom>
        </p:spPr>
      </p:pic>
      <p:sp>
        <p:nvSpPr>
          <p:cNvPr id="6" name="Shape 2"/>
          <p:cNvSpPr/>
          <p:nvPr/>
        </p:nvSpPr>
        <p:spPr>
          <a:xfrm>
            <a:off x="2560320" y="1097280"/>
            <a:ext cx="685800" cy="685800"/>
          </a:xfrm>
          <a:prstGeom prst="ellipse">
            <a:avLst/>
          </a:prstGeom>
          <a:solidFill>
            <a:srgbClr val="3E8E41"/>
          </a:solidFill>
          <a:ln w="12700">
            <a:solidFill>
              <a:srgbClr val="3E8E41"/>
            </a:solidFill>
            <a:prstDash val="solid"/>
          </a:ln>
        </p:spPr>
      </p:sp>
      <p:pic>
        <p:nvPicPr>
          <p:cNvPr id="7" name="Image 2" descr="preencoded.png">    </p:cNvPr>
          <p:cNvPicPr>
            <a:picLocks noChangeAspect="1"/>
          </p:cNvPicPr>
          <p:nvPr/>
        </p:nvPicPr>
        <p:blipFill>
          <a:blip r:embed="rId3"/>
          <a:stretch>
            <a:fillRect/>
          </a:stretch>
        </p:blipFill>
        <p:spPr>
          <a:xfrm>
            <a:off x="2724912" y="1261872"/>
            <a:ext cx="356616" cy="356616"/>
          </a:xfrm>
          <a:prstGeom prst="rect">
            <a:avLst/>
          </a:prstGeom>
        </p:spPr>
      </p:pic>
      <p:sp>
        <p:nvSpPr>
          <p:cNvPr id="8" name="Text 3"/>
          <p:cNvSpPr txBox="1"/>
          <p:nvPr/>
        </p:nvSpPr>
        <p:spPr>
          <a:xfrm>
            <a:off x="731520" y="2148840"/>
            <a:ext cx="100584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Green Wallet</a:t>
            </a:r>
            <a:endParaRPr lang="en-US" sz="5400" dirty="0"/>
          </a:p>
        </p:txBody>
      </p:sp>
      <p:sp>
        <p:nvSpPr>
          <p:cNvPr id="9" name="Text 4"/>
          <p:cNvSpPr txBox="1"/>
          <p:nvPr/>
        </p:nvSpPr>
        <p:spPr>
          <a:xfrm>
            <a:off x="731520" y="3246120"/>
            <a:ext cx="10058400" cy="640080"/>
          </a:xfrm>
          <a:prstGeom prst="rect">
            <a:avLst/>
          </a:prstGeom>
          <a:noFill/>
          <a:ln/>
        </p:spPr>
        <p:txBody>
          <a:bodyPr wrap="square" lIns="0" tIns="0" rIns="0" bIns="0" rtlCol="0" anchor="t"/>
          <a:lstStyle/>
          <a:p>
            <a:pPr indent="0" marL="0">
              <a:buNone/>
            </a:pPr>
            <a:r>
              <a:rPr lang="en-US" sz="2400" dirty="0">
                <a:solidFill>
                  <a:srgbClr val="97BC62"/>
                </a:solidFill>
                <a:latin typeface="Calibri" pitchFamily="34" charset="0"/>
                <a:ea typeface="Calibri" pitchFamily="34" charset="-122"/>
                <a:cs typeface="Calibri" pitchFamily="34" charset="-120"/>
              </a:rPr>
              <a:t>A local energy market with batteries, auctions and green certificates</a:t>
            </a:r>
            <a:endParaRPr lang="en-US" sz="2400" dirty="0"/>
          </a:p>
        </p:txBody>
      </p:sp>
      <p:sp>
        <p:nvSpPr>
          <p:cNvPr id="10" name="Text 5"/>
          <p:cNvSpPr txBox="1"/>
          <p:nvPr/>
        </p:nvSpPr>
        <p:spPr>
          <a:xfrm>
            <a:off x="731520" y="5120640"/>
            <a:ext cx="10058400" cy="3657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Design overview — how the whole system works, explained simply</a:t>
            </a:r>
            <a:endParaRPr lang="en-US" sz="1600" dirty="0"/>
          </a:p>
        </p:txBody>
      </p:sp>
      <p:sp>
        <p:nvSpPr>
          <p:cNvPr id="11" name="Text 6"/>
          <p:cNvSpPr txBox="1"/>
          <p:nvPr/>
        </p:nvSpPr>
        <p:spPr>
          <a:xfrm>
            <a:off x="731520" y="5532120"/>
            <a:ext cx="10058400" cy="365760"/>
          </a:xfrm>
          <a:prstGeom prst="rect">
            <a:avLst/>
          </a:prstGeom>
          <a:noFill/>
          <a:ln/>
        </p:spPr>
        <p:txBody>
          <a:bodyPr wrap="square" lIns="0" tIns="0" rIns="0" bIns="0" rtlCol="0" anchor="t"/>
          <a:lstStyle/>
          <a:p>
            <a:pPr indent="0" marL="0">
              <a:buNone/>
            </a:pPr>
            <a:r>
              <a:rPr lang="en-US" sz="1300" i="1" dirty="0">
                <a:solidFill>
                  <a:srgbClr val="97BC62"/>
                </a:solidFill>
                <a:latin typeface="Calibri" pitchFamily="34" charset="0"/>
                <a:ea typeface="Calibri" pitchFamily="34" charset="-122"/>
                <a:cs typeface="Calibri" pitchFamily="34" charset="-120"/>
              </a:rPr>
              <a:t>Based on docs/DESIGN.md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AGENDA</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What we will cover</a:t>
            </a:r>
            <a:endParaRPr lang="en-US" sz="3200" dirty="0"/>
          </a:p>
        </p:txBody>
      </p:sp>
      <p:sp>
        <p:nvSpPr>
          <p:cNvPr id="5" name="Shape 3"/>
          <p:cNvSpPr/>
          <p:nvPr/>
        </p:nvSpPr>
        <p:spPr>
          <a:xfrm>
            <a:off x="548640" y="1600200"/>
            <a:ext cx="640080" cy="640080"/>
          </a:xfrm>
          <a:prstGeom prst="ellipse">
            <a:avLst/>
          </a:prstGeom>
          <a:solidFill>
            <a:srgbClr val="1F4D2B"/>
          </a:solidFill>
          <a:ln w="12700">
            <a:solidFill>
              <a:srgbClr val="1F4D2B"/>
            </a:solidFill>
            <a:prstDash val="solid"/>
          </a:ln>
        </p:spPr>
      </p:sp>
      <p:sp>
        <p:nvSpPr>
          <p:cNvPr id="6" name="Text 4"/>
          <p:cNvSpPr txBox="1"/>
          <p:nvPr/>
        </p:nvSpPr>
        <p:spPr>
          <a:xfrm>
            <a:off x="548640" y="1600200"/>
            <a:ext cx="640080" cy="640080"/>
          </a:xfrm>
          <a:prstGeom prst="rect">
            <a:avLst/>
          </a:prstGeom>
          <a:noFill/>
          <a:ln/>
        </p:spPr>
        <p:txBody>
          <a:bodyPr wrap="square" lIns="0" tIns="0" rIns="0" bIns="0" rtlCol="0" anchor="ctr"/>
          <a:lstStyle/>
          <a:p>
            <a:pPr algn="ctr" indent="0" marL="0">
              <a:buNone/>
            </a:pPr>
            <a:r>
              <a:rPr lang="en-US" sz="1820" b="1" dirty="0">
                <a:solidFill>
                  <a:srgbClr val="F2A900"/>
                </a:solidFill>
                <a:latin typeface="Cambria" pitchFamily="34" charset="0"/>
                <a:ea typeface="Cambria" pitchFamily="34" charset="-122"/>
                <a:cs typeface="Cambria" pitchFamily="34" charset="-120"/>
              </a:rPr>
              <a:t>1</a:t>
            </a:r>
            <a:endParaRPr lang="en-US" sz="1820" dirty="0"/>
          </a:p>
        </p:txBody>
      </p:sp>
      <p:sp>
        <p:nvSpPr>
          <p:cNvPr id="7" name="Text 5"/>
          <p:cNvSpPr txBox="1"/>
          <p:nvPr/>
        </p:nvSpPr>
        <p:spPr>
          <a:xfrm>
            <a:off x="1371600" y="1618488"/>
            <a:ext cx="4663440" cy="329184"/>
          </a:xfrm>
          <a:prstGeom prst="rect">
            <a:avLst/>
          </a:prstGeom>
          <a:noFill/>
          <a:ln/>
        </p:spPr>
        <p:txBody>
          <a:bodyPr wrap="square" lIns="0" tIns="0" rIns="0" bIns="0" rtlCol="0" anchor="t"/>
          <a:lstStyle/>
          <a:p>
            <a:pPr indent="0" marL="0">
              <a:buNone/>
            </a:pPr>
            <a:r>
              <a:rPr lang="en-US" sz="1800" b="1" dirty="0">
                <a:solidFill>
                  <a:srgbClr val="1F4D2B"/>
                </a:solidFill>
                <a:latin typeface="Calibri" pitchFamily="34" charset="0"/>
                <a:ea typeface="Calibri" pitchFamily="34" charset="-122"/>
                <a:cs typeface="Calibri" pitchFamily="34" charset="-120"/>
              </a:rPr>
              <a:t>The world we simulate</a:t>
            </a:r>
            <a:endParaRPr lang="en-US" sz="1800" dirty="0"/>
          </a:p>
        </p:txBody>
      </p:sp>
      <p:sp>
        <p:nvSpPr>
          <p:cNvPr id="8" name="Text 6"/>
          <p:cNvSpPr txBox="1"/>
          <p:nvPr/>
        </p:nvSpPr>
        <p:spPr>
          <a:xfrm>
            <a:off x="1371600" y="1947672"/>
            <a:ext cx="4663440" cy="2743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Roles, the utility, the ledger, time</a:t>
            </a:r>
            <a:endParaRPr lang="en-US" sz="1300" dirty="0"/>
          </a:p>
        </p:txBody>
      </p:sp>
      <p:sp>
        <p:nvSpPr>
          <p:cNvPr id="9" name="Shape 7"/>
          <p:cNvSpPr/>
          <p:nvPr/>
        </p:nvSpPr>
        <p:spPr>
          <a:xfrm>
            <a:off x="548640" y="2542032"/>
            <a:ext cx="640080" cy="640080"/>
          </a:xfrm>
          <a:prstGeom prst="ellipse">
            <a:avLst/>
          </a:prstGeom>
          <a:solidFill>
            <a:srgbClr val="1F4D2B"/>
          </a:solidFill>
          <a:ln w="12700">
            <a:solidFill>
              <a:srgbClr val="1F4D2B"/>
            </a:solidFill>
            <a:prstDash val="solid"/>
          </a:ln>
        </p:spPr>
      </p:sp>
      <p:sp>
        <p:nvSpPr>
          <p:cNvPr id="10" name="Text 8"/>
          <p:cNvSpPr txBox="1"/>
          <p:nvPr/>
        </p:nvSpPr>
        <p:spPr>
          <a:xfrm>
            <a:off x="548640" y="2542032"/>
            <a:ext cx="640080" cy="640080"/>
          </a:xfrm>
          <a:prstGeom prst="rect">
            <a:avLst/>
          </a:prstGeom>
          <a:noFill/>
          <a:ln/>
        </p:spPr>
        <p:txBody>
          <a:bodyPr wrap="square" lIns="0" tIns="0" rIns="0" bIns="0" rtlCol="0" anchor="ctr"/>
          <a:lstStyle/>
          <a:p>
            <a:pPr algn="ctr" indent="0" marL="0">
              <a:buNone/>
            </a:pPr>
            <a:r>
              <a:rPr lang="en-US" sz="1820" b="1" dirty="0">
                <a:solidFill>
                  <a:srgbClr val="F2A900"/>
                </a:solidFill>
                <a:latin typeface="Cambria" pitchFamily="34" charset="0"/>
                <a:ea typeface="Cambria" pitchFamily="34" charset="-122"/>
                <a:cs typeface="Cambria" pitchFamily="34" charset="-120"/>
              </a:rPr>
              <a:t>2</a:t>
            </a:r>
            <a:endParaRPr lang="en-US" sz="1820" dirty="0"/>
          </a:p>
        </p:txBody>
      </p:sp>
      <p:sp>
        <p:nvSpPr>
          <p:cNvPr id="11" name="Text 9"/>
          <p:cNvSpPr txBox="1"/>
          <p:nvPr/>
        </p:nvSpPr>
        <p:spPr>
          <a:xfrm>
            <a:off x="1371600" y="2560320"/>
            <a:ext cx="4663440" cy="329184"/>
          </a:xfrm>
          <a:prstGeom prst="rect">
            <a:avLst/>
          </a:prstGeom>
          <a:noFill/>
          <a:ln/>
        </p:spPr>
        <p:txBody>
          <a:bodyPr wrap="square" lIns="0" tIns="0" rIns="0" bIns="0" rtlCol="0" anchor="t"/>
          <a:lstStyle/>
          <a:p>
            <a:pPr indent="0" marL="0">
              <a:buNone/>
            </a:pPr>
            <a:r>
              <a:rPr lang="en-US" sz="1800" b="1" dirty="0">
                <a:solidFill>
                  <a:srgbClr val="1F4D2B"/>
                </a:solidFill>
                <a:latin typeface="Calibri" pitchFamily="34" charset="0"/>
                <a:ea typeface="Calibri" pitchFamily="34" charset="-122"/>
                <a:cs typeface="Calibri" pitchFamily="34" charset="-120"/>
              </a:rPr>
              <a:t>Prosumers &amp; batteries</a:t>
            </a:r>
            <a:endParaRPr lang="en-US" sz="1800" dirty="0"/>
          </a:p>
        </p:txBody>
      </p:sp>
      <p:sp>
        <p:nvSpPr>
          <p:cNvPr id="12" name="Text 10"/>
          <p:cNvSpPr txBox="1"/>
          <p:nvPr/>
        </p:nvSpPr>
        <p:spPr>
          <a:xfrm>
            <a:off x="1371600" y="2889504"/>
            <a:ext cx="4663440" cy="2743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What happens to extra energy</a:t>
            </a:r>
            <a:endParaRPr lang="en-US" sz="1300" dirty="0"/>
          </a:p>
        </p:txBody>
      </p:sp>
      <p:sp>
        <p:nvSpPr>
          <p:cNvPr id="13" name="Shape 11"/>
          <p:cNvSpPr/>
          <p:nvPr/>
        </p:nvSpPr>
        <p:spPr>
          <a:xfrm>
            <a:off x="548640" y="3483864"/>
            <a:ext cx="640080" cy="640080"/>
          </a:xfrm>
          <a:prstGeom prst="ellipse">
            <a:avLst/>
          </a:prstGeom>
          <a:solidFill>
            <a:srgbClr val="1F4D2B"/>
          </a:solidFill>
          <a:ln w="12700">
            <a:solidFill>
              <a:srgbClr val="1F4D2B"/>
            </a:solidFill>
            <a:prstDash val="solid"/>
          </a:ln>
        </p:spPr>
      </p:sp>
      <p:sp>
        <p:nvSpPr>
          <p:cNvPr id="14" name="Text 12"/>
          <p:cNvSpPr txBox="1"/>
          <p:nvPr/>
        </p:nvSpPr>
        <p:spPr>
          <a:xfrm>
            <a:off x="548640" y="3483864"/>
            <a:ext cx="640080" cy="640080"/>
          </a:xfrm>
          <a:prstGeom prst="rect">
            <a:avLst/>
          </a:prstGeom>
          <a:noFill/>
          <a:ln/>
        </p:spPr>
        <p:txBody>
          <a:bodyPr wrap="square" lIns="0" tIns="0" rIns="0" bIns="0" rtlCol="0" anchor="ctr"/>
          <a:lstStyle/>
          <a:p>
            <a:pPr algn="ctr" indent="0" marL="0">
              <a:buNone/>
            </a:pPr>
            <a:r>
              <a:rPr lang="en-US" sz="1820" b="1" dirty="0">
                <a:solidFill>
                  <a:srgbClr val="F2A900"/>
                </a:solidFill>
                <a:latin typeface="Cambria" pitchFamily="34" charset="0"/>
                <a:ea typeface="Cambria" pitchFamily="34" charset="-122"/>
                <a:cs typeface="Cambria" pitchFamily="34" charset="-120"/>
              </a:rPr>
              <a:t>3</a:t>
            </a:r>
            <a:endParaRPr lang="en-US" sz="1820" dirty="0"/>
          </a:p>
        </p:txBody>
      </p:sp>
      <p:sp>
        <p:nvSpPr>
          <p:cNvPr id="15" name="Text 13"/>
          <p:cNvSpPr txBox="1"/>
          <p:nvPr/>
        </p:nvSpPr>
        <p:spPr>
          <a:xfrm>
            <a:off x="1371600" y="3502152"/>
            <a:ext cx="4663440" cy="329184"/>
          </a:xfrm>
          <a:prstGeom prst="rect">
            <a:avLst/>
          </a:prstGeom>
          <a:noFill/>
          <a:ln/>
        </p:spPr>
        <p:txBody>
          <a:bodyPr wrap="square" lIns="0" tIns="0" rIns="0" bIns="0" rtlCol="0" anchor="t"/>
          <a:lstStyle/>
          <a:p>
            <a:pPr indent="0" marL="0">
              <a:buNone/>
            </a:pPr>
            <a:r>
              <a:rPr lang="en-US" sz="1800" b="1" dirty="0">
                <a:solidFill>
                  <a:srgbClr val="1F4D2B"/>
                </a:solidFill>
                <a:latin typeface="Calibri" pitchFamily="34" charset="0"/>
                <a:ea typeface="Calibri" pitchFamily="34" charset="-122"/>
                <a:cs typeface="Calibri" pitchFamily="34" charset="-120"/>
              </a:rPr>
              <a:t>Getting paid</a:t>
            </a:r>
            <a:endParaRPr lang="en-US" sz="1800" dirty="0"/>
          </a:p>
        </p:txBody>
      </p:sp>
      <p:sp>
        <p:nvSpPr>
          <p:cNvPr id="16" name="Text 14"/>
          <p:cNvSpPr txBox="1"/>
          <p:nvPr/>
        </p:nvSpPr>
        <p:spPr>
          <a:xfrm>
            <a:off x="1371600" y="3831336"/>
            <a:ext cx="4663440" cy="2743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Green certificates instead of minting</a:t>
            </a:r>
            <a:endParaRPr lang="en-US" sz="1300" dirty="0"/>
          </a:p>
        </p:txBody>
      </p:sp>
      <p:sp>
        <p:nvSpPr>
          <p:cNvPr id="17" name="Shape 15"/>
          <p:cNvSpPr/>
          <p:nvPr/>
        </p:nvSpPr>
        <p:spPr>
          <a:xfrm>
            <a:off x="548640" y="4425696"/>
            <a:ext cx="640080" cy="640080"/>
          </a:xfrm>
          <a:prstGeom prst="ellipse">
            <a:avLst/>
          </a:prstGeom>
          <a:solidFill>
            <a:srgbClr val="1F4D2B"/>
          </a:solidFill>
          <a:ln w="12700">
            <a:solidFill>
              <a:srgbClr val="1F4D2B"/>
            </a:solidFill>
            <a:prstDash val="solid"/>
          </a:ln>
        </p:spPr>
      </p:sp>
      <p:sp>
        <p:nvSpPr>
          <p:cNvPr id="18" name="Text 16"/>
          <p:cNvSpPr txBox="1"/>
          <p:nvPr/>
        </p:nvSpPr>
        <p:spPr>
          <a:xfrm>
            <a:off x="548640" y="4425696"/>
            <a:ext cx="640080" cy="640080"/>
          </a:xfrm>
          <a:prstGeom prst="rect">
            <a:avLst/>
          </a:prstGeom>
          <a:noFill/>
          <a:ln/>
        </p:spPr>
        <p:txBody>
          <a:bodyPr wrap="square" lIns="0" tIns="0" rIns="0" bIns="0" rtlCol="0" anchor="ctr"/>
          <a:lstStyle/>
          <a:p>
            <a:pPr algn="ctr" indent="0" marL="0">
              <a:buNone/>
            </a:pPr>
            <a:r>
              <a:rPr lang="en-US" sz="1820" b="1" dirty="0">
                <a:solidFill>
                  <a:srgbClr val="F2A900"/>
                </a:solidFill>
                <a:latin typeface="Cambria" pitchFamily="34" charset="0"/>
                <a:ea typeface="Cambria" pitchFamily="34" charset="-122"/>
                <a:cs typeface="Cambria" pitchFamily="34" charset="-120"/>
              </a:rPr>
              <a:t>4</a:t>
            </a:r>
            <a:endParaRPr lang="en-US" sz="1820" dirty="0"/>
          </a:p>
        </p:txBody>
      </p:sp>
      <p:sp>
        <p:nvSpPr>
          <p:cNvPr id="19" name="Text 17"/>
          <p:cNvSpPr txBox="1"/>
          <p:nvPr/>
        </p:nvSpPr>
        <p:spPr>
          <a:xfrm>
            <a:off x="1371600" y="4443984"/>
            <a:ext cx="4663440" cy="329184"/>
          </a:xfrm>
          <a:prstGeom prst="rect">
            <a:avLst/>
          </a:prstGeom>
          <a:noFill/>
          <a:ln/>
        </p:spPr>
        <p:txBody>
          <a:bodyPr wrap="square" lIns="0" tIns="0" rIns="0" bIns="0" rtlCol="0" anchor="t"/>
          <a:lstStyle/>
          <a:p>
            <a:pPr indent="0" marL="0">
              <a:buNone/>
            </a:pPr>
            <a:r>
              <a:rPr lang="en-US" sz="1800" b="1" dirty="0">
                <a:solidFill>
                  <a:srgbClr val="1F4D2B"/>
                </a:solidFill>
                <a:latin typeface="Calibri" pitchFamily="34" charset="0"/>
                <a:ea typeface="Calibri" pitchFamily="34" charset="-122"/>
                <a:cs typeface="Calibri" pitchFamily="34" charset="-120"/>
              </a:rPr>
              <a:t>Prices: the band</a:t>
            </a:r>
            <a:endParaRPr lang="en-US" sz="1800" dirty="0"/>
          </a:p>
        </p:txBody>
      </p:sp>
      <p:sp>
        <p:nvSpPr>
          <p:cNvPr id="20" name="Text 18"/>
          <p:cNvSpPr txBox="1"/>
          <p:nvPr/>
        </p:nvSpPr>
        <p:spPr>
          <a:xfrm>
            <a:off x="1371600" y="4773168"/>
            <a:ext cx="4663440" cy="2743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Floor, ceiling and where they come from</a:t>
            </a:r>
            <a:endParaRPr lang="en-US" sz="1300" dirty="0"/>
          </a:p>
        </p:txBody>
      </p:sp>
      <p:sp>
        <p:nvSpPr>
          <p:cNvPr id="21" name="Shape 19"/>
          <p:cNvSpPr/>
          <p:nvPr/>
        </p:nvSpPr>
        <p:spPr>
          <a:xfrm>
            <a:off x="548640" y="5367528"/>
            <a:ext cx="640080" cy="640080"/>
          </a:xfrm>
          <a:prstGeom prst="ellipse">
            <a:avLst/>
          </a:prstGeom>
          <a:solidFill>
            <a:srgbClr val="1F4D2B"/>
          </a:solidFill>
          <a:ln w="12700">
            <a:solidFill>
              <a:srgbClr val="1F4D2B"/>
            </a:solidFill>
            <a:prstDash val="solid"/>
          </a:ln>
        </p:spPr>
      </p:sp>
      <p:sp>
        <p:nvSpPr>
          <p:cNvPr id="22" name="Text 20"/>
          <p:cNvSpPr txBox="1"/>
          <p:nvPr/>
        </p:nvSpPr>
        <p:spPr>
          <a:xfrm>
            <a:off x="548640" y="5367528"/>
            <a:ext cx="640080" cy="640080"/>
          </a:xfrm>
          <a:prstGeom prst="rect">
            <a:avLst/>
          </a:prstGeom>
          <a:noFill/>
          <a:ln/>
        </p:spPr>
        <p:txBody>
          <a:bodyPr wrap="square" lIns="0" tIns="0" rIns="0" bIns="0" rtlCol="0" anchor="ctr"/>
          <a:lstStyle/>
          <a:p>
            <a:pPr algn="ctr" indent="0" marL="0">
              <a:buNone/>
            </a:pPr>
            <a:r>
              <a:rPr lang="en-US" sz="1820" b="1" dirty="0">
                <a:solidFill>
                  <a:srgbClr val="F2A900"/>
                </a:solidFill>
                <a:latin typeface="Cambria" pitchFamily="34" charset="0"/>
                <a:ea typeface="Cambria" pitchFamily="34" charset="-122"/>
                <a:cs typeface="Cambria" pitchFamily="34" charset="-120"/>
              </a:rPr>
              <a:t>5</a:t>
            </a:r>
            <a:endParaRPr lang="en-US" sz="1820" dirty="0"/>
          </a:p>
        </p:txBody>
      </p:sp>
      <p:sp>
        <p:nvSpPr>
          <p:cNvPr id="23" name="Text 21"/>
          <p:cNvSpPr txBox="1"/>
          <p:nvPr/>
        </p:nvSpPr>
        <p:spPr>
          <a:xfrm>
            <a:off x="1371600" y="5385816"/>
            <a:ext cx="4663440" cy="329184"/>
          </a:xfrm>
          <a:prstGeom prst="rect">
            <a:avLst/>
          </a:prstGeom>
          <a:noFill/>
          <a:ln/>
        </p:spPr>
        <p:txBody>
          <a:bodyPr wrap="square" lIns="0" tIns="0" rIns="0" bIns="0" rtlCol="0" anchor="t"/>
          <a:lstStyle/>
          <a:p>
            <a:pPr indent="0" marL="0">
              <a:buNone/>
            </a:pPr>
            <a:r>
              <a:rPr lang="en-US" sz="1800" b="1" dirty="0">
                <a:solidFill>
                  <a:srgbClr val="1F4D2B"/>
                </a:solidFill>
                <a:latin typeface="Calibri" pitchFamily="34" charset="0"/>
                <a:ea typeface="Calibri" pitchFamily="34" charset="-122"/>
                <a:cs typeface="Calibri" pitchFamily="34" charset="-120"/>
              </a:rPr>
              <a:t>The auction</a:t>
            </a:r>
            <a:endParaRPr lang="en-US" sz="1800" dirty="0"/>
          </a:p>
        </p:txBody>
      </p:sp>
      <p:sp>
        <p:nvSpPr>
          <p:cNvPr id="24" name="Text 22"/>
          <p:cNvSpPr txBox="1"/>
          <p:nvPr/>
        </p:nvSpPr>
        <p:spPr>
          <a:xfrm>
            <a:off x="1371600" y="5715000"/>
            <a:ext cx="4663440" cy="2743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One fair price every 30 minutes</a:t>
            </a:r>
            <a:endParaRPr lang="en-US" sz="1300" dirty="0"/>
          </a:p>
        </p:txBody>
      </p:sp>
      <p:sp>
        <p:nvSpPr>
          <p:cNvPr id="25" name="Shape 23"/>
          <p:cNvSpPr/>
          <p:nvPr/>
        </p:nvSpPr>
        <p:spPr>
          <a:xfrm>
            <a:off x="6217920" y="1600200"/>
            <a:ext cx="640080" cy="640080"/>
          </a:xfrm>
          <a:prstGeom prst="ellipse">
            <a:avLst/>
          </a:prstGeom>
          <a:solidFill>
            <a:srgbClr val="1F4D2B"/>
          </a:solidFill>
          <a:ln w="12700">
            <a:solidFill>
              <a:srgbClr val="1F4D2B"/>
            </a:solidFill>
            <a:prstDash val="solid"/>
          </a:ln>
        </p:spPr>
      </p:sp>
      <p:sp>
        <p:nvSpPr>
          <p:cNvPr id="26" name="Text 24"/>
          <p:cNvSpPr txBox="1"/>
          <p:nvPr/>
        </p:nvSpPr>
        <p:spPr>
          <a:xfrm>
            <a:off x="6217920" y="1600200"/>
            <a:ext cx="640080" cy="640080"/>
          </a:xfrm>
          <a:prstGeom prst="rect">
            <a:avLst/>
          </a:prstGeom>
          <a:noFill/>
          <a:ln/>
        </p:spPr>
        <p:txBody>
          <a:bodyPr wrap="square" lIns="0" tIns="0" rIns="0" bIns="0" rtlCol="0" anchor="ctr"/>
          <a:lstStyle/>
          <a:p>
            <a:pPr algn="ctr" indent="0" marL="0">
              <a:buNone/>
            </a:pPr>
            <a:r>
              <a:rPr lang="en-US" sz="1820" b="1" dirty="0">
                <a:solidFill>
                  <a:srgbClr val="F2A900"/>
                </a:solidFill>
                <a:latin typeface="Cambria" pitchFamily="34" charset="0"/>
                <a:ea typeface="Cambria" pitchFamily="34" charset="-122"/>
                <a:cs typeface="Cambria" pitchFamily="34" charset="-120"/>
              </a:rPr>
              <a:t>6</a:t>
            </a:r>
            <a:endParaRPr lang="en-US" sz="1820" dirty="0"/>
          </a:p>
        </p:txBody>
      </p:sp>
      <p:sp>
        <p:nvSpPr>
          <p:cNvPr id="27" name="Text 25"/>
          <p:cNvSpPr txBox="1"/>
          <p:nvPr/>
        </p:nvSpPr>
        <p:spPr>
          <a:xfrm>
            <a:off x="7040880" y="1618488"/>
            <a:ext cx="4663440" cy="329184"/>
          </a:xfrm>
          <a:prstGeom prst="rect">
            <a:avLst/>
          </a:prstGeom>
          <a:noFill/>
          <a:ln/>
        </p:spPr>
        <p:txBody>
          <a:bodyPr wrap="square" lIns="0" tIns="0" rIns="0" bIns="0" rtlCol="0" anchor="t"/>
          <a:lstStyle/>
          <a:p>
            <a:pPr indent="0" marL="0">
              <a:buNone/>
            </a:pPr>
            <a:r>
              <a:rPr lang="en-US" sz="1800" b="1" dirty="0">
                <a:solidFill>
                  <a:srgbClr val="1F4D2B"/>
                </a:solidFill>
                <a:latin typeface="Calibri" pitchFamily="34" charset="0"/>
                <a:ea typeface="Calibri" pitchFamily="34" charset="-122"/>
                <a:cs typeface="Calibri" pitchFamily="34" charset="-120"/>
              </a:rPr>
              <a:t>Covering a deficit</a:t>
            </a:r>
            <a:endParaRPr lang="en-US" sz="1800" dirty="0"/>
          </a:p>
        </p:txBody>
      </p:sp>
      <p:sp>
        <p:nvSpPr>
          <p:cNvPr id="28" name="Text 26"/>
          <p:cNvSpPr txBox="1"/>
          <p:nvPr/>
        </p:nvSpPr>
        <p:spPr>
          <a:xfrm>
            <a:off x="7040880" y="1947672"/>
            <a:ext cx="4663440" cy="2743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Where missing energy comes from</a:t>
            </a:r>
            <a:endParaRPr lang="en-US" sz="1300" dirty="0"/>
          </a:p>
        </p:txBody>
      </p:sp>
      <p:sp>
        <p:nvSpPr>
          <p:cNvPr id="29" name="Shape 27"/>
          <p:cNvSpPr/>
          <p:nvPr/>
        </p:nvSpPr>
        <p:spPr>
          <a:xfrm>
            <a:off x="6217920" y="2542032"/>
            <a:ext cx="640080" cy="640080"/>
          </a:xfrm>
          <a:prstGeom prst="ellipse">
            <a:avLst/>
          </a:prstGeom>
          <a:solidFill>
            <a:srgbClr val="1F4D2B"/>
          </a:solidFill>
          <a:ln w="12700">
            <a:solidFill>
              <a:srgbClr val="1F4D2B"/>
            </a:solidFill>
            <a:prstDash val="solid"/>
          </a:ln>
        </p:spPr>
      </p:sp>
      <p:sp>
        <p:nvSpPr>
          <p:cNvPr id="30" name="Text 28"/>
          <p:cNvSpPr txBox="1"/>
          <p:nvPr/>
        </p:nvSpPr>
        <p:spPr>
          <a:xfrm>
            <a:off x="6217920" y="2542032"/>
            <a:ext cx="640080" cy="640080"/>
          </a:xfrm>
          <a:prstGeom prst="rect">
            <a:avLst/>
          </a:prstGeom>
          <a:noFill/>
          <a:ln/>
        </p:spPr>
        <p:txBody>
          <a:bodyPr wrap="square" lIns="0" tIns="0" rIns="0" bIns="0" rtlCol="0" anchor="ctr"/>
          <a:lstStyle/>
          <a:p>
            <a:pPr algn="ctr" indent="0" marL="0">
              <a:buNone/>
            </a:pPr>
            <a:r>
              <a:rPr lang="en-US" sz="1820" b="1" dirty="0">
                <a:solidFill>
                  <a:srgbClr val="F2A900"/>
                </a:solidFill>
                <a:latin typeface="Cambria" pitchFamily="34" charset="0"/>
                <a:ea typeface="Cambria" pitchFamily="34" charset="-122"/>
                <a:cs typeface="Cambria" pitchFamily="34" charset="-120"/>
              </a:rPr>
              <a:t>7</a:t>
            </a:r>
            <a:endParaRPr lang="en-US" sz="1820" dirty="0"/>
          </a:p>
        </p:txBody>
      </p:sp>
      <p:sp>
        <p:nvSpPr>
          <p:cNvPr id="31" name="Text 29"/>
          <p:cNvSpPr txBox="1"/>
          <p:nvPr/>
        </p:nvSpPr>
        <p:spPr>
          <a:xfrm>
            <a:off x="7040880" y="2560320"/>
            <a:ext cx="4663440" cy="329184"/>
          </a:xfrm>
          <a:prstGeom prst="rect">
            <a:avLst/>
          </a:prstGeom>
          <a:noFill/>
          <a:ln/>
        </p:spPr>
        <p:txBody>
          <a:bodyPr wrap="square" lIns="0" tIns="0" rIns="0" bIns="0" rtlCol="0" anchor="t"/>
          <a:lstStyle/>
          <a:p>
            <a:pPr indent="0" marL="0">
              <a:buNone/>
            </a:pPr>
            <a:r>
              <a:rPr lang="en-US" sz="1800" b="1" dirty="0">
                <a:solidFill>
                  <a:srgbClr val="1F4D2B"/>
                </a:solidFill>
                <a:latin typeface="Calibri" pitchFamily="34" charset="0"/>
                <a:ea typeface="Calibri" pitchFamily="34" charset="-122"/>
                <a:cs typeface="Calibri" pitchFamily="34" charset="-120"/>
              </a:rPr>
              <a:t>The shared battery</a:t>
            </a:r>
            <a:endParaRPr lang="en-US" sz="1800" dirty="0"/>
          </a:p>
        </p:txBody>
      </p:sp>
      <p:sp>
        <p:nvSpPr>
          <p:cNvPr id="32" name="Text 30"/>
          <p:cNvSpPr txBox="1"/>
          <p:nvPr/>
        </p:nvSpPr>
        <p:spPr>
          <a:xfrm>
            <a:off x="7040880" y="2889504"/>
            <a:ext cx="4663440" cy="2743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Community storage and a day in the grid</a:t>
            </a:r>
            <a:endParaRPr lang="en-US" sz="1300" dirty="0"/>
          </a:p>
        </p:txBody>
      </p:sp>
      <p:sp>
        <p:nvSpPr>
          <p:cNvPr id="33" name="Shape 31"/>
          <p:cNvSpPr/>
          <p:nvPr/>
        </p:nvSpPr>
        <p:spPr>
          <a:xfrm>
            <a:off x="6217920" y="3483864"/>
            <a:ext cx="640080" cy="640080"/>
          </a:xfrm>
          <a:prstGeom prst="ellipse">
            <a:avLst/>
          </a:prstGeom>
          <a:solidFill>
            <a:srgbClr val="1F4D2B"/>
          </a:solidFill>
          <a:ln w="12700">
            <a:solidFill>
              <a:srgbClr val="1F4D2B"/>
            </a:solidFill>
            <a:prstDash val="solid"/>
          </a:ln>
        </p:spPr>
      </p:sp>
      <p:sp>
        <p:nvSpPr>
          <p:cNvPr id="34" name="Text 32"/>
          <p:cNvSpPr txBox="1"/>
          <p:nvPr/>
        </p:nvSpPr>
        <p:spPr>
          <a:xfrm>
            <a:off x="6217920" y="3483864"/>
            <a:ext cx="640080" cy="640080"/>
          </a:xfrm>
          <a:prstGeom prst="rect">
            <a:avLst/>
          </a:prstGeom>
          <a:noFill/>
          <a:ln/>
        </p:spPr>
        <p:txBody>
          <a:bodyPr wrap="square" lIns="0" tIns="0" rIns="0" bIns="0" rtlCol="0" anchor="ctr"/>
          <a:lstStyle/>
          <a:p>
            <a:pPr algn="ctr" indent="0" marL="0">
              <a:buNone/>
            </a:pPr>
            <a:r>
              <a:rPr lang="en-US" sz="1820" b="1" dirty="0">
                <a:solidFill>
                  <a:srgbClr val="F2A900"/>
                </a:solidFill>
                <a:latin typeface="Cambria" pitchFamily="34" charset="0"/>
                <a:ea typeface="Cambria" pitchFamily="34" charset="-122"/>
                <a:cs typeface="Cambria" pitchFamily="34" charset="-120"/>
              </a:rPr>
              <a:t>8</a:t>
            </a:r>
            <a:endParaRPr lang="en-US" sz="1820" dirty="0"/>
          </a:p>
        </p:txBody>
      </p:sp>
      <p:sp>
        <p:nvSpPr>
          <p:cNvPr id="35" name="Text 33"/>
          <p:cNvSpPr txBox="1"/>
          <p:nvPr/>
        </p:nvSpPr>
        <p:spPr>
          <a:xfrm>
            <a:off x="7040880" y="3502152"/>
            <a:ext cx="4663440" cy="329184"/>
          </a:xfrm>
          <a:prstGeom prst="rect">
            <a:avLst/>
          </a:prstGeom>
          <a:noFill/>
          <a:ln/>
        </p:spPr>
        <p:txBody>
          <a:bodyPr wrap="square" lIns="0" tIns="0" rIns="0" bIns="0" rtlCol="0" anchor="t"/>
          <a:lstStyle/>
          <a:p>
            <a:pPr indent="0" marL="0">
              <a:buNone/>
            </a:pPr>
            <a:r>
              <a:rPr lang="en-US" sz="1800" b="1" dirty="0">
                <a:solidFill>
                  <a:srgbClr val="1F4D2B"/>
                </a:solidFill>
                <a:latin typeface="Calibri" pitchFamily="34" charset="0"/>
                <a:ea typeface="Calibri" pitchFamily="34" charset="-122"/>
                <a:cs typeface="Calibri" pitchFamily="34" charset="-120"/>
              </a:rPr>
              <a:t>Money &amp; the ledger</a:t>
            </a:r>
            <a:endParaRPr lang="en-US" sz="1800" dirty="0"/>
          </a:p>
        </p:txBody>
      </p:sp>
      <p:sp>
        <p:nvSpPr>
          <p:cNvPr id="36" name="Text 34"/>
          <p:cNvSpPr txBox="1"/>
          <p:nvPr/>
        </p:nvSpPr>
        <p:spPr>
          <a:xfrm>
            <a:off x="7040880" y="3831336"/>
            <a:ext cx="4663440" cy="2743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TEC, the treasury, the simulated Hedera</a:t>
            </a:r>
            <a:endParaRPr lang="en-US" sz="1300" dirty="0"/>
          </a:p>
        </p:txBody>
      </p:sp>
      <p:sp>
        <p:nvSpPr>
          <p:cNvPr id="37" name="Shape 35"/>
          <p:cNvSpPr/>
          <p:nvPr/>
        </p:nvSpPr>
        <p:spPr>
          <a:xfrm>
            <a:off x="6217920" y="4425696"/>
            <a:ext cx="640080" cy="640080"/>
          </a:xfrm>
          <a:prstGeom prst="ellipse">
            <a:avLst/>
          </a:prstGeom>
          <a:solidFill>
            <a:srgbClr val="1F4D2B"/>
          </a:solidFill>
          <a:ln w="12700">
            <a:solidFill>
              <a:srgbClr val="1F4D2B"/>
            </a:solidFill>
            <a:prstDash val="solid"/>
          </a:ln>
        </p:spPr>
      </p:sp>
      <p:sp>
        <p:nvSpPr>
          <p:cNvPr id="38" name="Text 36"/>
          <p:cNvSpPr txBox="1"/>
          <p:nvPr/>
        </p:nvSpPr>
        <p:spPr>
          <a:xfrm>
            <a:off x="6217920" y="4425696"/>
            <a:ext cx="640080" cy="640080"/>
          </a:xfrm>
          <a:prstGeom prst="rect">
            <a:avLst/>
          </a:prstGeom>
          <a:noFill/>
          <a:ln/>
        </p:spPr>
        <p:txBody>
          <a:bodyPr wrap="square" lIns="0" tIns="0" rIns="0" bIns="0" rtlCol="0" anchor="ctr"/>
          <a:lstStyle/>
          <a:p>
            <a:pPr algn="ctr" indent="0" marL="0">
              <a:buNone/>
            </a:pPr>
            <a:r>
              <a:rPr lang="en-US" sz="1820" b="1" dirty="0">
                <a:solidFill>
                  <a:srgbClr val="F2A900"/>
                </a:solidFill>
                <a:latin typeface="Cambria" pitchFamily="34" charset="0"/>
                <a:ea typeface="Cambria" pitchFamily="34" charset="-122"/>
                <a:cs typeface="Cambria" pitchFamily="34" charset="-120"/>
              </a:rPr>
              <a:t>9</a:t>
            </a:r>
            <a:endParaRPr lang="en-US" sz="1820" dirty="0"/>
          </a:p>
        </p:txBody>
      </p:sp>
      <p:sp>
        <p:nvSpPr>
          <p:cNvPr id="39" name="Text 37"/>
          <p:cNvSpPr txBox="1"/>
          <p:nvPr/>
        </p:nvSpPr>
        <p:spPr>
          <a:xfrm>
            <a:off x="7040880" y="4443984"/>
            <a:ext cx="4663440" cy="329184"/>
          </a:xfrm>
          <a:prstGeom prst="rect">
            <a:avLst/>
          </a:prstGeom>
          <a:noFill/>
          <a:ln/>
        </p:spPr>
        <p:txBody>
          <a:bodyPr wrap="square" lIns="0" tIns="0" rIns="0" bIns="0" rtlCol="0" anchor="t"/>
          <a:lstStyle/>
          <a:p>
            <a:pPr indent="0" marL="0">
              <a:buNone/>
            </a:pPr>
            <a:r>
              <a:rPr lang="en-US" sz="1800" b="1" dirty="0">
                <a:solidFill>
                  <a:srgbClr val="1F4D2B"/>
                </a:solidFill>
                <a:latin typeface="Calibri" pitchFamily="34" charset="0"/>
                <a:ea typeface="Calibri" pitchFamily="34" charset="-122"/>
                <a:cs typeface="Calibri" pitchFamily="34" charset="-120"/>
              </a:rPr>
              <a:t>The marketplace</a:t>
            </a:r>
            <a:endParaRPr lang="en-US" sz="1800" dirty="0"/>
          </a:p>
        </p:txBody>
      </p:sp>
      <p:sp>
        <p:nvSpPr>
          <p:cNvPr id="40" name="Text 38"/>
          <p:cNvSpPr txBox="1"/>
          <p:nvPr/>
        </p:nvSpPr>
        <p:spPr>
          <a:xfrm>
            <a:off x="7040880" y="4773168"/>
            <a:ext cx="4663440" cy="2743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Fixed-price deals between neighbours</a:t>
            </a:r>
            <a:endParaRPr lang="en-US" sz="1300" dirty="0"/>
          </a:p>
        </p:txBody>
      </p:sp>
      <p:sp>
        <p:nvSpPr>
          <p:cNvPr id="41" name="Shape 39"/>
          <p:cNvSpPr/>
          <p:nvPr/>
        </p:nvSpPr>
        <p:spPr>
          <a:xfrm>
            <a:off x="6217920" y="5367528"/>
            <a:ext cx="640080" cy="640080"/>
          </a:xfrm>
          <a:prstGeom prst="ellipse">
            <a:avLst/>
          </a:prstGeom>
          <a:solidFill>
            <a:srgbClr val="1F4D2B"/>
          </a:solidFill>
          <a:ln w="12700">
            <a:solidFill>
              <a:srgbClr val="1F4D2B"/>
            </a:solidFill>
            <a:prstDash val="solid"/>
          </a:ln>
        </p:spPr>
      </p:sp>
      <p:sp>
        <p:nvSpPr>
          <p:cNvPr id="42" name="Text 40"/>
          <p:cNvSpPr txBox="1"/>
          <p:nvPr/>
        </p:nvSpPr>
        <p:spPr>
          <a:xfrm>
            <a:off x="6217920" y="5367528"/>
            <a:ext cx="640080" cy="640080"/>
          </a:xfrm>
          <a:prstGeom prst="rect">
            <a:avLst/>
          </a:prstGeom>
          <a:noFill/>
          <a:ln/>
        </p:spPr>
        <p:txBody>
          <a:bodyPr wrap="square" lIns="0" tIns="0" rIns="0" bIns="0" rtlCol="0" anchor="ctr"/>
          <a:lstStyle/>
          <a:p>
            <a:pPr algn="ctr" indent="0" marL="0">
              <a:buNone/>
            </a:pPr>
            <a:r>
              <a:rPr lang="en-US" sz="1820" b="1" dirty="0">
                <a:solidFill>
                  <a:srgbClr val="F2A900"/>
                </a:solidFill>
                <a:latin typeface="Cambria" pitchFamily="34" charset="0"/>
                <a:ea typeface="Cambria" pitchFamily="34" charset="-122"/>
                <a:cs typeface="Cambria" pitchFamily="34" charset="-120"/>
              </a:rPr>
              <a:t>10</a:t>
            </a:r>
            <a:endParaRPr lang="en-US" sz="1820" dirty="0"/>
          </a:p>
        </p:txBody>
      </p:sp>
      <p:sp>
        <p:nvSpPr>
          <p:cNvPr id="43" name="Text 41"/>
          <p:cNvSpPr txBox="1"/>
          <p:nvPr/>
        </p:nvSpPr>
        <p:spPr>
          <a:xfrm>
            <a:off x="7040880" y="5385816"/>
            <a:ext cx="4663440" cy="329184"/>
          </a:xfrm>
          <a:prstGeom prst="rect">
            <a:avLst/>
          </a:prstGeom>
          <a:noFill/>
          <a:ln/>
        </p:spPr>
        <p:txBody>
          <a:bodyPr wrap="square" lIns="0" tIns="0" rIns="0" bIns="0" rtlCol="0" anchor="t"/>
          <a:lstStyle/>
          <a:p>
            <a:pPr indent="0" marL="0">
              <a:buNone/>
            </a:pPr>
            <a:r>
              <a:rPr lang="en-US" sz="1800" b="1" dirty="0">
                <a:solidFill>
                  <a:srgbClr val="1F4D2B"/>
                </a:solidFill>
                <a:latin typeface="Calibri" pitchFamily="34" charset="0"/>
                <a:ea typeface="Calibri" pitchFamily="34" charset="-122"/>
                <a:cs typeface="Calibri" pitchFamily="34" charset="-120"/>
              </a:rPr>
              <a:t>Safety checks &amp; plan</a:t>
            </a:r>
            <a:endParaRPr lang="en-US" sz="1800" dirty="0"/>
          </a:p>
        </p:txBody>
      </p:sp>
      <p:sp>
        <p:nvSpPr>
          <p:cNvPr id="44" name="Text 42"/>
          <p:cNvSpPr txBox="1"/>
          <p:nvPr/>
        </p:nvSpPr>
        <p:spPr>
          <a:xfrm>
            <a:off x="7040880" y="5715000"/>
            <a:ext cx="4663440" cy="2743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What we test and how we build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1 · THE WORLD WE SIMULATE</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Three kinds of participants</a:t>
            </a:r>
            <a:endParaRPr lang="en-US" sz="3200" dirty="0"/>
          </a:p>
        </p:txBody>
      </p:sp>
      <p:sp>
        <p:nvSpPr>
          <p:cNvPr id="5" name="Shape 3"/>
          <p:cNvSpPr/>
          <p:nvPr/>
        </p:nvSpPr>
        <p:spPr>
          <a:xfrm>
            <a:off x="548640" y="1600200"/>
            <a:ext cx="3520440" cy="3291840"/>
          </a:xfrm>
          <a:prstGeom prst="roundRect">
            <a:avLst>
              <a:gd name="adj" fmla="val 3333"/>
            </a:avLst>
          </a:prstGeom>
          <a:solidFill>
            <a:srgbClr val="EEF5E6"/>
          </a:solidFill>
          <a:ln w="12700">
            <a:solidFill>
              <a:srgbClr val="EEF5E6"/>
            </a:solidFill>
            <a:prstDash val="solid"/>
          </a:ln>
        </p:spPr>
      </p:sp>
      <p:sp>
        <p:nvSpPr>
          <p:cNvPr id="6" name="Shape 4"/>
          <p:cNvSpPr/>
          <p:nvPr/>
        </p:nvSpPr>
        <p:spPr>
          <a:xfrm>
            <a:off x="822960" y="1828800"/>
            <a:ext cx="731520" cy="731520"/>
          </a:xfrm>
          <a:prstGeom prst="ellipse">
            <a:avLst/>
          </a:prstGeom>
          <a:solidFill>
            <a:srgbClr val="3E8E41"/>
          </a:solidFill>
          <a:ln w="12700">
            <a:solidFill>
              <a:srgbClr val="3E8E41"/>
            </a:solidFill>
            <a:prstDash val="solid"/>
          </a:ln>
        </p:spPr>
      </p:sp>
      <p:pic>
        <p:nvPicPr>
          <p:cNvPr id="7" name="Image 0" descr="preencoded.png">    </p:cNvPr>
          <p:cNvPicPr>
            <a:picLocks noChangeAspect="1"/>
          </p:cNvPicPr>
          <p:nvPr/>
        </p:nvPicPr>
        <p:blipFill>
          <a:blip r:embed="rId1"/>
          <a:stretch>
            <a:fillRect/>
          </a:stretch>
        </p:blipFill>
        <p:spPr>
          <a:xfrm>
            <a:off x="998525" y="2004365"/>
            <a:ext cx="380390" cy="380390"/>
          </a:xfrm>
          <a:prstGeom prst="rect">
            <a:avLst/>
          </a:prstGeom>
        </p:spPr>
      </p:pic>
      <p:sp>
        <p:nvSpPr>
          <p:cNvPr id="8" name="Text 5"/>
          <p:cNvSpPr txBox="1"/>
          <p:nvPr/>
        </p:nvSpPr>
        <p:spPr>
          <a:xfrm>
            <a:off x="1691640" y="1901952"/>
            <a:ext cx="2286000" cy="411480"/>
          </a:xfrm>
          <a:prstGeom prst="rect">
            <a:avLst/>
          </a:prstGeom>
          <a:noFill/>
          <a:ln/>
        </p:spPr>
        <p:txBody>
          <a:bodyPr wrap="square" lIns="0" tIns="0" rIns="0" bIns="0" rtlCol="0" anchor="t"/>
          <a:lstStyle/>
          <a:p>
            <a:pPr indent="0" marL="0">
              <a:buNone/>
            </a:pPr>
            <a:r>
              <a:rPr lang="en-US" sz="2200" b="1" dirty="0">
                <a:solidFill>
                  <a:srgbClr val="1F4D2B"/>
                </a:solidFill>
                <a:latin typeface="Cambria" pitchFamily="34" charset="0"/>
                <a:ea typeface="Cambria" pitchFamily="34" charset="-122"/>
                <a:cs typeface="Cambria" pitchFamily="34" charset="-120"/>
              </a:rPr>
              <a:t>Producer</a:t>
            </a:r>
            <a:endParaRPr lang="en-US" sz="2200" dirty="0"/>
          </a:p>
        </p:txBody>
      </p:sp>
      <p:sp>
        <p:nvSpPr>
          <p:cNvPr id="9" name="Text 6"/>
          <p:cNvSpPr txBox="1"/>
          <p:nvPr/>
        </p:nvSpPr>
        <p:spPr>
          <a:xfrm>
            <a:off x="1691640" y="2286000"/>
            <a:ext cx="2240280" cy="45720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A large plant: solar farm or wind farm</a:t>
            </a:r>
            <a:endParaRPr lang="en-US" sz="1250" dirty="0"/>
          </a:p>
        </p:txBody>
      </p:sp>
      <p:sp>
        <p:nvSpPr>
          <p:cNvPr id="10" name="Text 7"/>
          <p:cNvSpPr txBox="1"/>
          <p:nvPr/>
        </p:nvSpPr>
        <p:spPr>
          <a:xfrm>
            <a:off x="868680" y="2926080"/>
            <a:ext cx="301752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Does not consume</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No battery</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Sells all its output in the auction</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Bids low, large volumes</a:t>
            </a:r>
            <a:endParaRPr lang="en-US" sz="1500" dirty="0"/>
          </a:p>
        </p:txBody>
      </p:sp>
      <p:sp>
        <p:nvSpPr>
          <p:cNvPr id="11" name="Shape 8"/>
          <p:cNvSpPr/>
          <p:nvPr/>
        </p:nvSpPr>
        <p:spPr>
          <a:xfrm>
            <a:off x="4343400" y="1600200"/>
            <a:ext cx="3520440" cy="3291840"/>
          </a:xfrm>
          <a:prstGeom prst="roundRect">
            <a:avLst>
              <a:gd name="adj" fmla="val 3333"/>
            </a:avLst>
          </a:prstGeom>
          <a:solidFill>
            <a:srgbClr val="EEF5E6"/>
          </a:solidFill>
          <a:ln w="12700">
            <a:solidFill>
              <a:srgbClr val="EEF5E6"/>
            </a:solidFill>
            <a:prstDash val="solid"/>
          </a:ln>
        </p:spPr>
      </p:sp>
      <p:sp>
        <p:nvSpPr>
          <p:cNvPr id="12" name="Shape 9"/>
          <p:cNvSpPr/>
          <p:nvPr/>
        </p:nvSpPr>
        <p:spPr>
          <a:xfrm>
            <a:off x="4617720" y="1828800"/>
            <a:ext cx="731520" cy="731520"/>
          </a:xfrm>
          <a:prstGeom prst="ellipse">
            <a:avLst/>
          </a:prstGeom>
          <a:solidFill>
            <a:srgbClr val="F2A900"/>
          </a:solidFill>
          <a:ln w="12700">
            <a:solidFill>
              <a:srgbClr val="F2A900"/>
            </a:solidFill>
            <a:prstDash val="solid"/>
          </a:ln>
        </p:spPr>
      </p:sp>
      <p:pic>
        <p:nvPicPr>
          <p:cNvPr id="13" name="Image 1" descr="preencoded.png">    </p:cNvPr>
          <p:cNvPicPr>
            <a:picLocks noChangeAspect="1"/>
          </p:cNvPicPr>
          <p:nvPr/>
        </p:nvPicPr>
        <p:blipFill>
          <a:blip r:embed="rId2"/>
          <a:stretch>
            <a:fillRect/>
          </a:stretch>
        </p:blipFill>
        <p:spPr>
          <a:xfrm>
            <a:off x="4793285" y="2004365"/>
            <a:ext cx="380390" cy="380390"/>
          </a:xfrm>
          <a:prstGeom prst="rect">
            <a:avLst/>
          </a:prstGeom>
        </p:spPr>
      </p:pic>
      <p:sp>
        <p:nvSpPr>
          <p:cNvPr id="14" name="Text 10"/>
          <p:cNvSpPr txBox="1"/>
          <p:nvPr/>
        </p:nvSpPr>
        <p:spPr>
          <a:xfrm>
            <a:off x="5486400" y="1901952"/>
            <a:ext cx="2286000" cy="411480"/>
          </a:xfrm>
          <a:prstGeom prst="rect">
            <a:avLst/>
          </a:prstGeom>
          <a:noFill/>
          <a:ln/>
        </p:spPr>
        <p:txBody>
          <a:bodyPr wrap="square" lIns="0" tIns="0" rIns="0" bIns="0" rtlCol="0" anchor="t"/>
          <a:lstStyle/>
          <a:p>
            <a:pPr indent="0" marL="0">
              <a:buNone/>
            </a:pPr>
            <a:r>
              <a:rPr lang="en-US" sz="2200" b="1" dirty="0">
                <a:solidFill>
                  <a:srgbClr val="1F4D2B"/>
                </a:solidFill>
                <a:latin typeface="Cambria" pitchFamily="34" charset="0"/>
                <a:ea typeface="Cambria" pitchFamily="34" charset="-122"/>
                <a:cs typeface="Cambria" pitchFamily="34" charset="-120"/>
              </a:rPr>
              <a:t>Prosumer</a:t>
            </a:r>
            <a:endParaRPr lang="en-US" sz="2200" dirty="0"/>
          </a:p>
        </p:txBody>
      </p:sp>
      <p:sp>
        <p:nvSpPr>
          <p:cNvPr id="15" name="Text 11"/>
          <p:cNvSpPr txBox="1"/>
          <p:nvPr/>
        </p:nvSpPr>
        <p:spPr>
          <a:xfrm>
            <a:off x="5486400" y="2286000"/>
            <a:ext cx="2240280" cy="45720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A home that produces AND consumes</a:t>
            </a:r>
            <a:endParaRPr lang="en-US" sz="1250" dirty="0"/>
          </a:p>
        </p:txBody>
      </p:sp>
      <p:sp>
        <p:nvSpPr>
          <p:cNvPr id="16" name="Text 12"/>
          <p:cNvSpPr txBox="1"/>
          <p:nvPr/>
        </p:nvSpPr>
        <p:spPr>
          <a:xfrm>
            <a:off x="4663440" y="2926080"/>
            <a:ext cx="301752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Rooftop solar panels</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Can own a home battery</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Sells surplus, buys when short</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Can rent shared storage</a:t>
            </a:r>
            <a:endParaRPr lang="en-US" sz="1500" dirty="0"/>
          </a:p>
        </p:txBody>
      </p:sp>
      <p:sp>
        <p:nvSpPr>
          <p:cNvPr id="17" name="Shape 13"/>
          <p:cNvSpPr/>
          <p:nvPr/>
        </p:nvSpPr>
        <p:spPr>
          <a:xfrm>
            <a:off x="8138160" y="1600200"/>
            <a:ext cx="3520440" cy="3291840"/>
          </a:xfrm>
          <a:prstGeom prst="roundRect">
            <a:avLst>
              <a:gd name="adj" fmla="val 3333"/>
            </a:avLst>
          </a:prstGeom>
          <a:solidFill>
            <a:srgbClr val="EEF5E6"/>
          </a:solidFill>
          <a:ln w="12700">
            <a:solidFill>
              <a:srgbClr val="EEF5E6"/>
            </a:solidFill>
            <a:prstDash val="solid"/>
          </a:ln>
        </p:spPr>
      </p:sp>
      <p:sp>
        <p:nvSpPr>
          <p:cNvPr id="18" name="Shape 14"/>
          <p:cNvSpPr/>
          <p:nvPr/>
        </p:nvSpPr>
        <p:spPr>
          <a:xfrm>
            <a:off x="8412480" y="1828800"/>
            <a:ext cx="731520" cy="731520"/>
          </a:xfrm>
          <a:prstGeom prst="ellipse">
            <a:avLst/>
          </a:prstGeom>
          <a:solidFill>
            <a:srgbClr val="2F6690"/>
          </a:solidFill>
          <a:ln w="12700">
            <a:solidFill>
              <a:srgbClr val="2F6690"/>
            </a:solidFill>
            <a:prstDash val="solid"/>
          </a:ln>
        </p:spPr>
      </p:sp>
      <p:pic>
        <p:nvPicPr>
          <p:cNvPr id="19" name="Image 2" descr="preencoded.png">    </p:cNvPr>
          <p:cNvPicPr>
            <a:picLocks noChangeAspect="1"/>
          </p:cNvPicPr>
          <p:nvPr/>
        </p:nvPicPr>
        <p:blipFill>
          <a:blip r:embed="rId3"/>
          <a:stretch>
            <a:fillRect/>
          </a:stretch>
        </p:blipFill>
        <p:spPr>
          <a:xfrm>
            <a:off x="8588045" y="2004365"/>
            <a:ext cx="380390" cy="380390"/>
          </a:xfrm>
          <a:prstGeom prst="rect">
            <a:avLst/>
          </a:prstGeom>
        </p:spPr>
      </p:pic>
      <p:sp>
        <p:nvSpPr>
          <p:cNvPr id="20" name="Text 15"/>
          <p:cNvSpPr txBox="1"/>
          <p:nvPr/>
        </p:nvSpPr>
        <p:spPr>
          <a:xfrm>
            <a:off x="9281160" y="1901952"/>
            <a:ext cx="2286000" cy="411480"/>
          </a:xfrm>
          <a:prstGeom prst="rect">
            <a:avLst/>
          </a:prstGeom>
          <a:noFill/>
          <a:ln/>
        </p:spPr>
        <p:txBody>
          <a:bodyPr wrap="square" lIns="0" tIns="0" rIns="0" bIns="0" rtlCol="0" anchor="t"/>
          <a:lstStyle/>
          <a:p>
            <a:pPr indent="0" marL="0">
              <a:buNone/>
            </a:pPr>
            <a:r>
              <a:rPr lang="en-US" sz="2200" b="1" dirty="0">
                <a:solidFill>
                  <a:srgbClr val="1F4D2B"/>
                </a:solidFill>
                <a:latin typeface="Cambria" pitchFamily="34" charset="0"/>
                <a:ea typeface="Cambria" pitchFamily="34" charset="-122"/>
                <a:cs typeface="Cambria" pitchFamily="34" charset="-120"/>
              </a:rPr>
              <a:t>Consumer</a:t>
            </a:r>
            <a:endParaRPr lang="en-US" sz="2200" dirty="0"/>
          </a:p>
        </p:txBody>
      </p:sp>
      <p:sp>
        <p:nvSpPr>
          <p:cNvPr id="21" name="Text 16"/>
          <p:cNvSpPr txBox="1"/>
          <p:nvPr/>
        </p:nvSpPr>
        <p:spPr>
          <a:xfrm>
            <a:off x="9281160" y="2286000"/>
            <a:ext cx="2240280" cy="45720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A home that only consumes</a:t>
            </a:r>
            <a:endParaRPr lang="en-US" sz="1250" dirty="0"/>
          </a:p>
        </p:txBody>
      </p:sp>
      <p:sp>
        <p:nvSpPr>
          <p:cNvPr id="22" name="Text 17"/>
          <p:cNvSpPr txBox="1"/>
          <p:nvPr/>
        </p:nvSpPr>
        <p:spPr>
          <a:xfrm>
            <a:off x="8458200" y="2926080"/>
            <a:ext cx="301752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No production</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No battery</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Buys locally when cheaper</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Otherwise the utility supplies it</a:t>
            </a:r>
            <a:endParaRPr lang="en-US" sz="1500" dirty="0"/>
          </a:p>
        </p:txBody>
      </p:sp>
      <p:sp>
        <p:nvSpPr>
          <p:cNvPr id="23" name="Text 18"/>
          <p:cNvSpPr txBox="1"/>
          <p:nvPr/>
        </p:nvSpPr>
        <p:spPr>
          <a:xfrm>
            <a:off x="548640" y="5257800"/>
            <a:ext cx="10972800" cy="365760"/>
          </a:xfrm>
          <a:prstGeom prst="rect">
            <a:avLst/>
          </a:prstGeom>
          <a:noFill/>
          <a:ln/>
        </p:spPr>
        <p:txBody>
          <a:bodyPr wrap="square" lIns="0" tIns="0" rIns="0" bIns="0" rtlCol="0" anchor="t"/>
          <a:lstStyle/>
          <a:p>
            <a:pPr indent="0" marL="0">
              <a:buNone/>
            </a:pPr>
            <a:r>
              <a:rPr lang="en-US" sz="1500" i="1" dirty="0">
                <a:solidFill>
                  <a:srgbClr val="3E8E41"/>
                </a:solidFill>
                <a:latin typeface="Calibri" pitchFamily="34" charset="0"/>
                <a:ea typeface="Calibri" pitchFamily="34" charset="-122"/>
                <a:cs typeface="Calibri" pitchFamily="34" charset="-120"/>
              </a:rPr>
              <a:t>Everything about batteries and storage in this design is the prosumer's story.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1 · THE WORLD WE SIMULATE</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The rules of the game</a:t>
            </a:r>
            <a:endParaRPr lang="en-US" sz="3200" dirty="0"/>
          </a:p>
        </p:txBody>
      </p:sp>
      <p:sp>
        <p:nvSpPr>
          <p:cNvPr id="5" name="Shape 3"/>
          <p:cNvSpPr/>
          <p:nvPr/>
        </p:nvSpPr>
        <p:spPr>
          <a:xfrm>
            <a:off x="548640" y="1600200"/>
            <a:ext cx="5394960" cy="1783080"/>
          </a:xfrm>
          <a:prstGeom prst="roundRect">
            <a:avLst>
              <a:gd name="adj" fmla="val 6154"/>
            </a:avLst>
          </a:prstGeom>
          <a:solidFill>
            <a:srgbClr val="EEF5E6"/>
          </a:solidFill>
          <a:ln w="12700">
            <a:solidFill>
              <a:srgbClr val="EEF5E6"/>
            </a:solidFill>
            <a:prstDash val="solid"/>
          </a:ln>
        </p:spPr>
      </p:sp>
      <p:sp>
        <p:nvSpPr>
          <p:cNvPr id="6" name="Shape 4"/>
          <p:cNvSpPr/>
          <p:nvPr/>
        </p:nvSpPr>
        <p:spPr>
          <a:xfrm>
            <a:off x="822960" y="1874520"/>
            <a:ext cx="685800" cy="685800"/>
          </a:xfrm>
          <a:prstGeom prst="ellipse">
            <a:avLst/>
          </a:prstGeom>
          <a:solidFill>
            <a:srgbClr val="2F6690"/>
          </a:solidFill>
          <a:ln w="12700">
            <a:solidFill>
              <a:srgbClr val="2F6690"/>
            </a:solidFill>
            <a:prstDash val="solid"/>
          </a:ln>
        </p:spPr>
      </p:sp>
      <p:pic>
        <p:nvPicPr>
          <p:cNvPr id="7" name="Image 0" descr="preencoded.png">    </p:cNvPr>
          <p:cNvPicPr>
            <a:picLocks noChangeAspect="1"/>
          </p:cNvPicPr>
          <p:nvPr/>
        </p:nvPicPr>
        <p:blipFill>
          <a:blip r:embed="rId1"/>
          <a:stretch>
            <a:fillRect/>
          </a:stretch>
        </p:blipFill>
        <p:spPr>
          <a:xfrm>
            <a:off x="987552" y="2039112"/>
            <a:ext cx="356616" cy="356616"/>
          </a:xfrm>
          <a:prstGeom prst="rect">
            <a:avLst/>
          </a:prstGeom>
        </p:spPr>
      </p:pic>
      <p:sp>
        <p:nvSpPr>
          <p:cNvPr id="8" name="Text 5"/>
          <p:cNvSpPr txBox="1"/>
          <p:nvPr/>
        </p:nvSpPr>
        <p:spPr>
          <a:xfrm>
            <a:off x="1737360" y="1892808"/>
            <a:ext cx="4023360" cy="365760"/>
          </a:xfrm>
          <a:prstGeom prst="rect">
            <a:avLst/>
          </a:prstGeom>
          <a:noFill/>
          <a:ln/>
        </p:spPr>
        <p:txBody>
          <a:bodyPr wrap="square" lIns="0" tIns="0" rIns="0" bIns="0" rtlCol="0" anchor="t"/>
          <a:lstStyle/>
          <a:p>
            <a:pPr indent="0" marL="0">
              <a:buNone/>
            </a:pPr>
            <a:r>
              <a:rPr lang="en-US" sz="2000" b="1" dirty="0">
                <a:solidFill>
                  <a:srgbClr val="1F4D2B"/>
                </a:solidFill>
                <a:latin typeface="Cambria" pitchFamily="34" charset="0"/>
                <a:ea typeface="Cambria" pitchFamily="34" charset="-122"/>
                <a:cs typeface="Cambria" pitchFamily="34" charset="-120"/>
              </a:rPr>
              <a:t>Main utility grid</a:t>
            </a:r>
            <a:endParaRPr lang="en-US" sz="2000" dirty="0"/>
          </a:p>
        </p:txBody>
      </p:sp>
      <p:sp>
        <p:nvSpPr>
          <p:cNvPr id="9" name="Text 6"/>
          <p:cNvSpPr txBox="1"/>
          <p:nvPr/>
        </p:nvSpPr>
        <p:spPr>
          <a:xfrm>
            <a:off x="1737360" y="2331720"/>
            <a:ext cx="3977640" cy="1188720"/>
          </a:xfrm>
          <a:prstGeom prst="rect">
            <a:avLst/>
          </a:prstGeom>
          <a:noFill/>
          <a:ln/>
        </p:spPr>
        <p:txBody>
          <a:bodyPr wrap="square" lIns="0" tIns="0" rIns="0" bIns="0" rtlCol="0" anchor="t"/>
          <a:lstStyle/>
          <a:p>
            <a:pPr indent="0" marL="0">
              <a:buNone/>
            </a:pPr>
            <a:r>
              <a:rPr lang="en-US" sz="1400" dirty="0">
                <a:solidFill>
                  <a:srgbClr val="1B2A21"/>
                </a:solidFill>
                <a:latin typeface="Calibri" pitchFamily="34" charset="0"/>
                <a:ea typeface="Calibri" pitchFamily="34" charset="-122"/>
                <a:cs typeface="Calibri" pitchFamily="34" charset="-120"/>
              </a:rPr>
              <a:t>Outside the microgrid, the last resort. Always buys leftovers at 0.05 and always sells missing energy at 0.30. Never cuts anyone off.</a:t>
            </a:r>
            <a:endParaRPr lang="en-US" sz="1400" dirty="0"/>
          </a:p>
        </p:txBody>
      </p:sp>
      <p:sp>
        <p:nvSpPr>
          <p:cNvPr id="10" name="Shape 7"/>
          <p:cNvSpPr/>
          <p:nvPr/>
        </p:nvSpPr>
        <p:spPr>
          <a:xfrm>
            <a:off x="6217920" y="1600200"/>
            <a:ext cx="5394960" cy="1783080"/>
          </a:xfrm>
          <a:prstGeom prst="roundRect">
            <a:avLst>
              <a:gd name="adj" fmla="val 6154"/>
            </a:avLst>
          </a:prstGeom>
          <a:solidFill>
            <a:srgbClr val="EEF5E6"/>
          </a:solidFill>
          <a:ln w="12700">
            <a:solidFill>
              <a:srgbClr val="EEF5E6"/>
            </a:solidFill>
            <a:prstDash val="solid"/>
          </a:ln>
        </p:spPr>
      </p:sp>
      <p:sp>
        <p:nvSpPr>
          <p:cNvPr id="11" name="Shape 8"/>
          <p:cNvSpPr/>
          <p:nvPr/>
        </p:nvSpPr>
        <p:spPr>
          <a:xfrm>
            <a:off x="6492240" y="1874520"/>
            <a:ext cx="685800" cy="685800"/>
          </a:xfrm>
          <a:prstGeom prst="ellipse">
            <a:avLst/>
          </a:prstGeom>
          <a:solidFill>
            <a:srgbClr val="3E8E41"/>
          </a:solidFill>
          <a:ln w="12700">
            <a:solidFill>
              <a:srgbClr val="3E8E41"/>
            </a:solidFill>
            <a:prstDash val="solid"/>
          </a:ln>
        </p:spPr>
      </p:sp>
      <p:pic>
        <p:nvPicPr>
          <p:cNvPr id="12" name="Image 1" descr="preencoded.png">    </p:cNvPr>
          <p:cNvPicPr>
            <a:picLocks noChangeAspect="1"/>
          </p:cNvPicPr>
          <p:nvPr/>
        </p:nvPicPr>
        <p:blipFill>
          <a:blip r:embed="rId2"/>
          <a:stretch>
            <a:fillRect/>
          </a:stretch>
        </p:blipFill>
        <p:spPr>
          <a:xfrm>
            <a:off x="6656832" y="2039112"/>
            <a:ext cx="356616" cy="356616"/>
          </a:xfrm>
          <a:prstGeom prst="rect">
            <a:avLst/>
          </a:prstGeom>
        </p:spPr>
      </p:pic>
      <p:sp>
        <p:nvSpPr>
          <p:cNvPr id="13" name="Text 9"/>
          <p:cNvSpPr txBox="1"/>
          <p:nvPr/>
        </p:nvSpPr>
        <p:spPr>
          <a:xfrm>
            <a:off x="7406640" y="1892808"/>
            <a:ext cx="4023360" cy="365760"/>
          </a:xfrm>
          <a:prstGeom prst="rect">
            <a:avLst/>
          </a:prstGeom>
          <a:noFill/>
          <a:ln/>
        </p:spPr>
        <p:txBody>
          <a:bodyPr wrap="square" lIns="0" tIns="0" rIns="0" bIns="0" rtlCol="0" anchor="t"/>
          <a:lstStyle/>
          <a:p>
            <a:pPr indent="0" marL="0">
              <a:buNone/>
            </a:pPr>
            <a:r>
              <a:rPr lang="en-US" sz="2000" b="1" dirty="0">
                <a:solidFill>
                  <a:srgbClr val="1F4D2B"/>
                </a:solidFill>
                <a:latin typeface="Cambria" pitchFamily="34" charset="0"/>
                <a:ea typeface="Cambria" pitchFamily="34" charset="-122"/>
                <a:cs typeface="Cambria" pitchFamily="34" charset="-120"/>
              </a:rPr>
              <a:t>Regulation</a:t>
            </a:r>
            <a:endParaRPr lang="en-US" sz="2000" dirty="0"/>
          </a:p>
        </p:txBody>
      </p:sp>
      <p:sp>
        <p:nvSpPr>
          <p:cNvPr id="14" name="Text 10"/>
          <p:cNvSpPr txBox="1"/>
          <p:nvPr/>
        </p:nvSpPr>
        <p:spPr>
          <a:xfrm>
            <a:off x="7406640" y="2331720"/>
            <a:ext cx="3977640" cy="1188720"/>
          </a:xfrm>
          <a:prstGeom prst="rect">
            <a:avLst/>
          </a:prstGeom>
          <a:noFill/>
          <a:ln/>
        </p:spPr>
        <p:txBody>
          <a:bodyPr wrap="square" lIns="0" tIns="0" rIns="0" bIns="0" rtlCol="0" anchor="t"/>
          <a:lstStyle/>
          <a:p>
            <a:pPr indent="0" marL="0">
              <a:buNone/>
            </a:pPr>
            <a:r>
              <a:rPr lang="en-US" sz="1400" dirty="0">
                <a:solidFill>
                  <a:srgbClr val="1B2A21"/>
                </a:solidFill>
                <a:latin typeface="Calibri" pitchFamily="34" charset="0"/>
                <a:ea typeface="Calibri" pitchFamily="34" charset="-122"/>
                <a:cs typeface="Calibri" pitchFamily="34" charset="-120"/>
              </a:rPr>
              <a:t>Stated assumption: a licensed energy community in a regulatory sandbox, where neighbours may trade directly.</a:t>
            </a:r>
            <a:endParaRPr lang="en-US" sz="1400" dirty="0"/>
          </a:p>
        </p:txBody>
      </p:sp>
      <p:sp>
        <p:nvSpPr>
          <p:cNvPr id="15" name="Shape 11"/>
          <p:cNvSpPr/>
          <p:nvPr/>
        </p:nvSpPr>
        <p:spPr>
          <a:xfrm>
            <a:off x="548640" y="3657600"/>
            <a:ext cx="5394960" cy="1783080"/>
          </a:xfrm>
          <a:prstGeom prst="roundRect">
            <a:avLst>
              <a:gd name="adj" fmla="val 6154"/>
            </a:avLst>
          </a:prstGeom>
          <a:solidFill>
            <a:srgbClr val="EEF5E6"/>
          </a:solidFill>
          <a:ln w="12700">
            <a:solidFill>
              <a:srgbClr val="EEF5E6"/>
            </a:solidFill>
            <a:prstDash val="solid"/>
          </a:ln>
        </p:spPr>
      </p:sp>
      <p:sp>
        <p:nvSpPr>
          <p:cNvPr id="16" name="Shape 12"/>
          <p:cNvSpPr/>
          <p:nvPr/>
        </p:nvSpPr>
        <p:spPr>
          <a:xfrm>
            <a:off x="822960" y="3931920"/>
            <a:ext cx="685800" cy="685800"/>
          </a:xfrm>
          <a:prstGeom prst="ellipse">
            <a:avLst/>
          </a:prstGeom>
          <a:solidFill>
            <a:srgbClr val="1F4D2B"/>
          </a:solidFill>
          <a:ln w="12700">
            <a:solidFill>
              <a:srgbClr val="1F4D2B"/>
            </a:solidFill>
            <a:prstDash val="solid"/>
          </a:ln>
        </p:spPr>
      </p:sp>
      <p:pic>
        <p:nvPicPr>
          <p:cNvPr id="17" name="Image 2" descr="preencoded.png">    </p:cNvPr>
          <p:cNvPicPr>
            <a:picLocks noChangeAspect="1"/>
          </p:cNvPicPr>
          <p:nvPr/>
        </p:nvPicPr>
        <p:blipFill>
          <a:blip r:embed="rId3"/>
          <a:stretch>
            <a:fillRect/>
          </a:stretch>
        </p:blipFill>
        <p:spPr>
          <a:xfrm>
            <a:off x="987552" y="4096512"/>
            <a:ext cx="356616" cy="356616"/>
          </a:xfrm>
          <a:prstGeom prst="rect">
            <a:avLst/>
          </a:prstGeom>
        </p:spPr>
      </p:pic>
      <p:sp>
        <p:nvSpPr>
          <p:cNvPr id="18" name="Text 13"/>
          <p:cNvSpPr txBox="1"/>
          <p:nvPr/>
        </p:nvSpPr>
        <p:spPr>
          <a:xfrm>
            <a:off x="1737360" y="3950208"/>
            <a:ext cx="4023360" cy="365760"/>
          </a:xfrm>
          <a:prstGeom prst="rect">
            <a:avLst/>
          </a:prstGeom>
          <a:noFill/>
          <a:ln/>
        </p:spPr>
        <p:txBody>
          <a:bodyPr wrap="square" lIns="0" tIns="0" rIns="0" bIns="0" rtlCol="0" anchor="t"/>
          <a:lstStyle/>
          <a:p>
            <a:pPr indent="0" marL="0">
              <a:buNone/>
            </a:pPr>
            <a:r>
              <a:rPr lang="en-US" sz="2000" b="1" dirty="0">
                <a:solidFill>
                  <a:srgbClr val="1F4D2B"/>
                </a:solidFill>
                <a:latin typeface="Cambria" pitchFamily="34" charset="0"/>
                <a:ea typeface="Cambria" pitchFamily="34" charset="-122"/>
                <a:cs typeface="Cambria" pitchFamily="34" charset="-120"/>
              </a:rPr>
              <a:t>Simulated Hedera ledger</a:t>
            </a:r>
            <a:endParaRPr lang="en-US" sz="2000" dirty="0"/>
          </a:p>
        </p:txBody>
      </p:sp>
      <p:sp>
        <p:nvSpPr>
          <p:cNvPr id="19" name="Text 14"/>
          <p:cNvSpPr txBox="1"/>
          <p:nvPr/>
        </p:nvSpPr>
        <p:spPr>
          <a:xfrm>
            <a:off x="1737360" y="4389120"/>
            <a:ext cx="3977640" cy="1188720"/>
          </a:xfrm>
          <a:prstGeom prst="rect">
            <a:avLst/>
          </a:prstGeom>
          <a:noFill/>
          <a:ln/>
        </p:spPr>
        <p:txBody>
          <a:bodyPr wrap="square" lIns="0" tIns="0" rIns="0" bIns="0" rtlCol="0" anchor="t"/>
          <a:lstStyle/>
          <a:p>
            <a:pPr indent="0" marL="0">
              <a:buNone/>
            </a:pPr>
            <a:r>
              <a:rPr lang="en-US" sz="1400" dirty="0">
                <a:solidFill>
                  <a:srgbClr val="1B2A21"/>
                </a:solidFill>
                <a:latin typeface="Calibri" pitchFamily="34" charset="0"/>
                <a:ea typeface="Calibri" pitchFamily="34" charset="-122"/>
                <a:cs typeface="Calibri" pitchFamily="34" charset="-120"/>
              </a:rPr>
              <a:t>A public notary: every payment and certificate gets a Hedera-style ID. TEC is the money; HBAR is only the network fuel.</a:t>
            </a:r>
            <a:endParaRPr lang="en-US" sz="1400" dirty="0"/>
          </a:p>
        </p:txBody>
      </p:sp>
      <p:sp>
        <p:nvSpPr>
          <p:cNvPr id="20" name="Shape 15"/>
          <p:cNvSpPr/>
          <p:nvPr/>
        </p:nvSpPr>
        <p:spPr>
          <a:xfrm>
            <a:off x="6217920" y="3657600"/>
            <a:ext cx="5394960" cy="1783080"/>
          </a:xfrm>
          <a:prstGeom prst="roundRect">
            <a:avLst>
              <a:gd name="adj" fmla="val 6154"/>
            </a:avLst>
          </a:prstGeom>
          <a:solidFill>
            <a:srgbClr val="EEF5E6"/>
          </a:solidFill>
          <a:ln w="12700">
            <a:solidFill>
              <a:srgbClr val="EEF5E6"/>
            </a:solidFill>
            <a:prstDash val="solid"/>
          </a:ln>
        </p:spPr>
      </p:sp>
      <p:sp>
        <p:nvSpPr>
          <p:cNvPr id="21" name="Shape 16"/>
          <p:cNvSpPr/>
          <p:nvPr/>
        </p:nvSpPr>
        <p:spPr>
          <a:xfrm>
            <a:off x="6492240" y="3931920"/>
            <a:ext cx="685800" cy="685800"/>
          </a:xfrm>
          <a:prstGeom prst="ellipse">
            <a:avLst/>
          </a:prstGeom>
          <a:solidFill>
            <a:srgbClr val="F2A900"/>
          </a:solidFill>
          <a:ln w="12700">
            <a:solidFill>
              <a:srgbClr val="F2A900"/>
            </a:solidFill>
            <a:prstDash val="solid"/>
          </a:ln>
        </p:spPr>
      </p:sp>
      <p:pic>
        <p:nvPicPr>
          <p:cNvPr id="22" name="Image 3" descr="preencoded.png">    </p:cNvPr>
          <p:cNvPicPr>
            <a:picLocks noChangeAspect="1"/>
          </p:cNvPicPr>
          <p:nvPr/>
        </p:nvPicPr>
        <p:blipFill>
          <a:blip r:embed="rId4"/>
          <a:stretch>
            <a:fillRect/>
          </a:stretch>
        </p:blipFill>
        <p:spPr>
          <a:xfrm>
            <a:off x="6656832" y="4096512"/>
            <a:ext cx="356616" cy="356616"/>
          </a:xfrm>
          <a:prstGeom prst="rect">
            <a:avLst/>
          </a:prstGeom>
        </p:spPr>
      </p:pic>
      <p:sp>
        <p:nvSpPr>
          <p:cNvPr id="23" name="Text 17"/>
          <p:cNvSpPr txBox="1"/>
          <p:nvPr/>
        </p:nvSpPr>
        <p:spPr>
          <a:xfrm>
            <a:off x="7406640" y="3950208"/>
            <a:ext cx="4023360" cy="365760"/>
          </a:xfrm>
          <a:prstGeom prst="rect">
            <a:avLst/>
          </a:prstGeom>
          <a:noFill/>
          <a:ln/>
        </p:spPr>
        <p:txBody>
          <a:bodyPr wrap="square" lIns="0" tIns="0" rIns="0" bIns="0" rtlCol="0" anchor="t"/>
          <a:lstStyle/>
          <a:p>
            <a:pPr indent="0" marL="0">
              <a:buNone/>
            </a:pPr>
            <a:r>
              <a:rPr lang="en-US" sz="2000" b="1" dirty="0">
                <a:solidFill>
                  <a:srgbClr val="1F4D2B"/>
                </a:solidFill>
                <a:latin typeface="Cambria" pitchFamily="34" charset="0"/>
                <a:ea typeface="Cambria" pitchFamily="34" charset="-122"/>
                <a:cs typeface="Cambria" pitchFamily="34" charset="-120"/>
              </a:rPr>
              <a:t>The operator</a:t>
            </a:r>
            <a:endParaRPr lang="en-US" sz="2000" dirty="0"/>
          </a:p>
        </p:txBody>
      </p:sp>
      <p:sp>
        <p:nvSpPr>
          <p:cNvPr id="24" name="Text 18"/>
          <p:cNvSpPr txBox="1"/>
          <p:nvPr/>
        </p:nvSpPr>
        <p:spPr>
          <a:xfrm>
            <a:off x="7406640" y="4389120"/>
            <a:ext cx="3977640" cy="1188720"/>
          </a:xfrm>
          <a:prstGeom prst="rect">
            <a:avLst/>
          </a:prstGeom>
          <a:noFill/>
          <a:ln/>
        </p:spPr>
        <p:txBody>
          <a:bodyPr wrap="square" lIns="0" tIns="0" rIns="0" bIns="0" rtlCol="0" anchor="t"/>
          <a:lstStyle/>
          <a:p>
            <a:pPr indent="0" marL="0">
              <a:buNone/>
            </a:pPr>
            <a:r>
              <a:rPr lang="en-US" sz="1400" dirty="0">
                <a:solidFill>
                  <a:srgbClr val="1B2A21"/>
                </a:solidFill>
                <a:latin typeface="Calibri" pitchFamily="34" charset="0"/>
                <a:ea typeface="Calibri" pitchFamily="34" charset="-122"/>
                <a:cs typeface="Calibri" pitchFamily="34" charset="-120"/>
              </a:rPr>
              <a:t>The platform itself. Pays every network fee, runs the treasury, the auction's clearing account and the shared battery.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1 · THE WORLD WE SIMULATE</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One clock, settled every 30 minutes</a:t>
            </a:r>
            <a:endParaRPr lang="en-US" sz="3200" dirty="0"/>
          </a:p>
        </p:txBody>
      </p:sp>
      <p:sp>
        <p:nvSpPr>
          <p:cNvPr id="5" name="Text 3"/>
          <p:cNvSpPr txBox="1"/>
          <p:nvPr/>
        </p:nvSpPr>
        <p:spPr>
          <a:xfrm>
            <a:off x="548640" y="1554480"/>
            <a:ext cx="3474720" cy="914400"/>
          </a:xfrm>
          <a:prstGeom prst="rect">
            <a:avLst/>
          </a:prstGeom>
          <a:noFill/>
          <a:ln/>
        </p:spPr>
        <p:txBody>
          <a:bodyPr wrap="square" lIns="0" tIns="0" rIns="0" bIns="0" rtlCol="0" anchor="t"/>
          <a:lstStyle/>
          <a:p>
            <a:pPr indent="0" marL="0">
              <a:buNone/>
            </a:pPr>
            <a:r>
              <a:rPr lang="en-US" sz="5400" b="1" dirty="0">
                <a:solidFill>
                  <a:srgbClr val="1F4D2B"/>
                </a:solidFill>
                <a:latin typeface="Cambria" pitchFamily="34" charset="0"/>
                <a:ea typeface="Cambria" pitchFamily="34" charset="-122"/>
                <a:cs typeface="Cambria" pitchFamily="34" charset="-120"/>
              </a:rPr>
              <a:t>5 s</a:t>
            </a:r>
            <a:endParaRPr lang="en-US" sz="5400" dirty="0"/>
          </a:p>
        </p:txBody>
      </p:sp>
      <p:sp>
        <p:nvSpPr>
          <p:cNvPr id="6" name="Text 4"/>
          <p:cNvSpPr txBox="1"/>
          <p:nvPr/>
        </p:nvSpPr>
        <p:spPr>
          <a:xfrm>
            <a:off x="548640" y="2468880"/>
            <a:ext cx="3474720" cy="320040"/>
          </a:xfrm>
          <a:prstGeom prst="rect">
            <a:avLst/>
          </a:prstGeom>
          <a:noFill/>
          <a:ln/>
        </p:spPr>
        <p:txBody>
          <a:bodyPr wrap="square" lIns="0" tIns="0" rIns="0" bIns="0" rtlCol="0" anchor="t"/>
          <a:lstStyle/>
          <a:p>
            <a:pPr indent="0" marL="0">
              <a:buNone/>
            </a:pPr>
            <a:r>
              <a:rPr lang="en-US" sz="1500" dirty="0">
                <a:solidFill>
                  <a:srgbClr val="5B6B63"/>
                </a:solidFill>
                <a:latin typeface="Calibri" pitchFamily="34" charset="0"/>
                <a:ea typeface="Calibri" pitchFamily="34" charset="-122"/>
                <a:cs typeface="Calibri" pitchFamily="34" charset="-120"/>
              </a:rPr>
              <a:t>of real time</a:t>
            </a:r>
            <a:endParaRPr lang="en-US" sz="1500" dirty="0"/>
          </a:p>
        </p:txBody>
      </p:sp>
      <p:sp>
        <p:nvSpPr>
          <p:cNvPr id="7" name="Text 5"/>
          <p:cNvSpPr txBox="1"/>
          <p:nvPr/>
        </p:nvSpPr>
        <p:spPr>
          <a:xfrm>
            <a:off x="4343400" y="1554480"/>
            <a:ext cx="3474720" cy="914400"/>
          </a:xfrm>
          <a:prstGeom prst="rect">
            <a:avLst/>
          </a:prstGeom>
          <a:noFill/>
          <a:ln/>
        </p:spPr>
        <p:txBody>
          <a:bodyPr wrap="square" lIns="0" tIns="0" rIns="0" bIns="0" rtlCol="0" anchor="t"/>
          <a:lstStyle/>
          <a:p>
            <a:pPr indent="0" marL="0">
              <a:buNone/>
            </a:pPr>
            <a:r>
              <a:rPr lang="en-US" sz="5400" b="1" dirty="0">
                <a:solidFill>
                  <a:srgbClr val="F2A900"/>
                </a:solidFill>
                <a:latin typeface="Cambria" pitchFamily="34" charset="0"/>
                <a:ea typeface="Cambria" pitchFamily="34" charset="-122"/>
                <a:cs typeface="Cambria" pitchFamily="34" charset="-120"/>
              </a:rPr>
              <a:t>30 min</a:t>
            </a:r>
            <a:endParaRPr lang="en-US" sz="5400" dirty="0"/>
          </a:p>
        </p:txBody>
      </p:sp>
      <p:sp>
        <p:nvSpPr>
          <p:cNvPr id="8" name="Text 6"/>
          <p:cNvSpPr txBox="1"/>
          <p:nvPr/>
        </p:nvSpPr>
        <p:spPr>
          <a:xfrm>
            <a:off x="4343400" y="2468880"/>
            <a:ext cx="3474720" cy="320040"/>
          </a:xfrm>
          <a:prstGeom prst="rect">
            <a:avLst/>
          </a:prstGeom>
          <a:noFill/>
          <a:ln/>
        </p:spPr>
        <p:txBody>
          <a:bodyPr wrap="square" lIns="0" tIns="0" rIns="0" bIns="0" rtlCol="0" anchor="t"/>
          <a:lstStyle/>
          <a:p>
            <a:pPr indent="0" marL="0">
              <a:buNone/>
            </a:pPr>
            <a:r>
              <a:rPr lang="en-US" sz="1500" dirty="0">
                <a:solidFill>
                  <a:srgbClr val="5B6B63"/>
                </a:solidFill>
                <a:latin typeface="Calibri" pitchFamily="34" charset="0"/>
                <a:ea typeface="Calibri" pitchFamily="34" charset="-122"/>
                <a:cs typeface="Calibri" pitchFamily="34" charset="-120"/>
              </a:rPr>
              <a:t>of simulated time</a:t>
            </a:r>
            <a:endParaRPr lang="en-US" sz="1500" dirty="0"/>
          </a:p>
        </p:txBody>
      </p:sp>
      <p:sp>
        <p:nvSpPr>
          <p:cNvPr id="9" name="Text 7"/>
          <p:cNvSpPr txBox="1"/>
          <p:nvPr/>
        </p:nvSpPr>
        <p:spPr>
          <a:xfrm>
            <a:off x="8138160" y="1554480"/>
            <a:ext cx="3474720" cy="914400"/>
          </a:xfrm>
          <a:prstGeom prst="rect">
            <a:avLst/>
          </a:prstGeom>
          <a:noFill/>
          <a:ln/>
        </p:spPr>
        <p:txBody>
          <a:bodyPr wrap="square" lIns="0" tIns="0" rIns="0" bIns="0" rtlCol="0" anchor="t"/>
          <a:lstStyle/>
          <a:p>
            <a:pPr indent="0" marL="0">
              <a:buNone/>
            </a:pPr>
            <a:r>
              <a:rPr lang="en-US" sz="5400" b="1" dirty="0">
                <a:solidFill>
                  <a:srgbClr val="1F4D2B"/>
                </a:solidFill>
                <a:latin typeface="Cambria" pitchFamily="34" charset="0"/>
                <a:ea typeface="Cambria" pitchFamily="34" charset="-122"/>
                <a:cs typeface="Cambria" pitchFamily="34" charset="-120"/>
              </a:rPr>
              <a:t>06:00</a:t>
            </a:r>
            <a:endParaRPr lang="en-US" sz="5400" dirty="0"/>
          </a:p>
        </p:txBody>
      </p:sp>
      <p:sp>
        <p:nvSpPr>
          <p:cNvPr id="10" name="Text 8"/>
          <p:cNvSpPr txBox="1"/>
          <p:nvPr/>
        </p:nvSpPr>
        <p:spPr>
          <a:xfrm>
            <a:off x="8138160" y="2468880"/>
            <a:ext cx="3474720" cy="320040"/>
          </a:xfrm>
          <a:prstGeom prst="rect">
            <a:avLst/>
          </a:prstGeom>
          <a:noFill/>
          <a:ln/>
        </p:spPr>
        <p:txBody>
          <a:bodyPr wrap="square" lIns="0" tIns="0" rIns="0" bIns="0" rtlCol="0" anchor="t"/>
          <a:lstStyle/>
          <a:p>
            <a:pPr indent="0" marL="0">
              <a:buNone/>
            </a:pPr>
            <a:r>
              <a:rPr lang="en-US" sz="1500" dirty="0">
                <a:solidFill>
                  <a:srgbClr val="5B6B63"/>
                </a:solidFill>
                <a:latin typeface="Calibri" pitchFamily="34" charset="0"/>
                <a:ea typeface="Calibri" pitchFamily="34" charset="-122"/>
                <a:cs typeface="Calibri" pitchFamily="34" charset="-120"/>
              </a:rPr>
              <a:t>the day starts here</a:t>
            </a:r>
            <a:endParaRPr lang="en-US" sz="1500" dirty="0"/>
          </a:p>
        </p:txBody>
      </p:sp>
      <p:sp>
        <p:nvSpPr>
          <p:cNvPr id="11" name="Shape 9"/>
          <p:cNvSpPr/>
          <p:nvPr/>
        </p:nvSpPr>
        <p:spPr>
          <a:xfrm>
            <a:off x="548640" y="3474720"/>
            <a:ext cx="2468880" cy="1188720"/>
          </a:xfrm>
          <a:prstGeom prst="roundRect">
            <a:avLst>
              <a:gd name="adj" fmla="val 9231"/>
            </a:avLst>
          </a:prstGeom>
          <a:solidFill>
            <a:srgbClr val="EEF5E6"/>
          </a:solidFill>
          <a:ln w="12700">
            <a:solidFill>
              <a:srgbClr val="EEF5E6"/>
            </a:solidFill>
            <a:prstDash val="solid"/>
          </a:ln>
        </p:spPr>
      </p:sp>
      <p:sp>
        <p:nvSpPr>
          <p:cNvPr id="12" name="Shape 10"/>
          <p:cNvSpPr/>
          <p:nvPr/>
        </p:nvSpPr>
        <p:spPr>
          <a:xfrm>
            <a:off x="731520" y="3794760"/>
            <a:ext cx="502920" cy="502920"/>
          </a:xfrm>
          <a:prstGeom prst="ellipse">
            <a:avLst/>
          </a:prstGeom>
          <a:solidFill>
            <a:srgbClr val="1F4D2B"/>
          </a:solidFill>
          <a:ln w="12700">
            <a:solidFill>
              <a:srgbClr val="1F4D2B"/>
            </a:solidFill>
            <a:prstDash val="solid"/>
          </a:ln>
        </p:spPr>
      </p:sp>
      <p:sp>
        <p:nvSpPr>
          <p:cNvPr id="13" name="Text 11"/>
          <p:cNvSpPr txBox="1"/>
          <p:nvPr/>
        </p:nvSpPr>
        <p:spPr>
          <a:xfrm>
            <a:off x="731520" y="379476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mbria" pitchFamily="34" charset="0"/>
                <a:ea typeface="Cambria" pitchFamily="34" charset="-122"/>
                <a:cs typeface="Cambria" pitchFamily="34" charset="-120"/>
              </a:rPr>
              <a:t>1</a:t>
            </a:r>
            <a:endParaRPr lang="en-US" sz="1430" dirty="0"/>
          </a:p>
        </p:txBody>
      </p:sp>
      <p:sp>
        <p:nvSpPr>
          <p:cNvPr id="14" name="Text 12"/>
          <p:cNvSpPr txBox="1"/>
          <p:nvPr/>
        </p:nvSpPr>
        <p:spPr>
          <a:xfrm>
            <a:off x="1371600" y="3611880"/>
            <a:ext cx="1554480" cy="914400"/>
          </a:xfrm>
          <a:prstGeom prst="rect">
            <a:avLst/>
          </a:prstGeom>
          <a:noFill/>
          <a:ln/>
        </p:spPr>
        <p:txBody>
          <a:bodyPr wrap="square" lIns="0" tIns="0" rIns="0" bIns="0" rtlCol="0" anchor="ctr"/>
          <a:lstStyle/>
          <a:p>
            <a:pPr indent="0" marL="0">
              <a:buNone/>
            </a:pPr>
            <a:r>
              <a:rPr lang="en-US" sz="1400" b="1" dirty="0">
                <a:solidFill>
                  <a:srgbClr val="1F4D2B"/>
                </a:solidFill>
                <a:latin typeface="Calibri" pitchFamily="34" charset="0"/>
                <a:ea typeface="Calibri" pitchFamily="34" charset="-122"/>
                <a:cs typeface="Calibri" pitchFamily="34" charset="-120"/>
              </a:rPr>
              <a:t>Meter reading arrives</a:t>
            </a:r>
            <a:endParaRPr lang="en-US" sz="1400" dirty="0"/>
          </a:p>
        </p:txBody>
      </p:sp>
      <p:pic>
        <p:nvPicPr>
          <p:cNvPr id="15" name="Image 0" descr="preencoded.png">    </p:cNvPr>
          <p:cNvPicPr>
            <a:picLocks noChangeAspect="1"/>
          </p:cNvPicPr>
          <p:nvPr/>
        </p:nvPicPr>
        <p:blipFill>
          <a:blip r:embed="rId1"/>
          <a:stretch>
            <a:fillRect/>
          </a:stretch>
        </p:blipFill>
        <p:spPr>
          <a:xfrm>
            <a:off x="3044952" y="3913632"/>
            <a:ext cx="329184" cy="329184"/>
          </a:xfrm>
          <a:prstGeom prst="rect">
            <a:avLst/>
          </a:prstGeom>
        </p:spPr>
      </p:pic>
      <p:sp>
        <p:nvSpPr>
          <p:cNvPr id="16" name="Shape 13"/>
          <p:cNvSpPr/>
          <p:nvPr/>
        </p:nvSpPr>
        <p:spPr>
          <a:xfrm>
            <a:off x="3429000" y="3474720"/>
            <a:ext cx="2468880" cy="1188720"/>
          </a:xfrm>
          <a:prstGeom prst="roundRect">
            <a:avLst>
              <a:gd name="adj" fmla="val 9231"/>
            </a:avLst>
          </a:prstGeom>
          <a:solidFill>
            <a:srgbClr val="EEF5E6"/>
          </a:solidFill>
          <a:ln w="12700">
            <a:solidFill>
              <a:srgbClr val="EEF5E6"/>
            </a:solidFill>
            <a:prstDash val="solid"/>
          </a:ln>
        </p:spPr>
      </p:sp>
      <p:sp>
        <p:nvSpPr>
          <p:cNvPr id="17" name="Shape 14"/>
          <p:cNvSpPr/>
          <p:nvPr/>
        </p:nvSpPr>
        <p:spPr>
          <a:xfrm>
            <a:off x="3611880" y="3794760"/>
            <a:ext cx="502920" cy="502920"/>
          </a:xfrm>
          <a:prstGeom prst="ellipse">
            <a:avLst/>
          </a:prstGeom>
          <a:solidFill>
            <a:srgbClr val="1F4D2B"/>
          </a:solidFill>
          <a:ln w="12700">
            <a:solidFill>
              <a:srgbClr val="1F4D2B"/>
            </a:solidFill>
            <a:prstDash val="solid"/>
          </a:ln>
        </p:spPr>
      </p:sp>
      <p:sp>
        <p:nvSpPr>
          <p:cNvPr id="18" name="Text 15"/>
          <p:cNvSpPr txBox="1"/>
          <p:nvPr/>
        </p:nvSpPr>
        <p:spPr>
          <a:xfrm>
            <a:off x="3611880" y="379476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mbria" pitchFamily="34" charset="0"/>
                <a:ea typeface="Cambria" pitchFamily="34" charset="-122"/>
                <a:cs typeface="Cambria" pitchFamily="34" charset="-120"/>
              </a:rPr>
              <a:t>2</a:t>
            </a:r>
            <a:endParaRPr lang="en-US" sz="1430" dirty="0"/>
          </a:p>
        </p:txBody>
      </p:sp>
      <p:sp>
        <p:nvSpPr>
          <p:cNvPr id="19" name="Text 16"/>
          <p:cNvSpPr txBox="1"/>
          <p:nvPr/>
        </p:nvSpPr>
        <p:spPr>
          <a:xfrm>
            <a:off x="4251960" y="3611880"/>
            <a:ext cx="1554480" cy="914400"/>
          </a:xfrm>
          <a:prstGeom prst="rect">
            <a:avLst/>
          </a:prstGeom>
          <a:noFill/>
          <a:ln/>
        </p:spPr>
        <p:txBody>
          <a:bodyPr wrap="square" lIns="0" tIns="0" rIns="0" bIns="0" rtlCol="0" anchor="ctr"/>
          <a:lstStyle/>
          <a:p>
            <a:pPr indent="0" marL="0">
              <a:buNone/>
            </a:pPr>
            <a:r>
              <a:rPr lang="en-US" sz="1400" b="1" dirty="0">
                <a:solidFill>
                  <a:srgbClr val="1F4D2B"/>
                </a:solidFill>
                <a:latin typeface="Calibri" pitchFamily="34" charset="0"/>
                <a:ea typeface="Calibri" pitchFamily="34" charset="-122"/>
                <a:cs typeface="Calibri" pitchFamily="34" charset="-120"/>
              </a:rPr>
              <a:t>Own sources used immediately</a:t>
            </a:r>
            <a:endParaRPr lang="en-US" sz="1400" dirty="0"/>
          </a:p>
        </p:txBody>
      </p:sp>
      <p:pic>
        <p:nvPicPr>
          <p:cNvPr id="20" name="Image 1" descr="preencoded.png">    </p:cNvPr>
          <p:cNvPicPr>
            <a:picLocks noChangeAspect="1"/>
          </p:cNvPicPr>
          <p:nvPr/>
        </p:nvPicPr>
        <p:blipFill>
          <a:blip r:embed="rId2"/>
          <a:stretch>
            <a:fillRect/>
          </a:stretch>
        </p:blipFill>
        <p:spPr>
          <a:xfrm>
            <a:off x="5925312" y="3913632"/>
            <a:ext cx="329184" cy="329184"/>
          </a:xfrm>
          <a:prstGeom prst="rect">
            <a:avLst/>
          </a:prstGeom>
        </p:spPr>
      </p:pic>
      <p:sp>
        <p:nvSpPr>
          <p:cNvPr id="21" name="Shape 17"/>
          <p:cNvSpPr/>
          <p:nvPr/>
        </p:nvSpPr>
        <p:spPr>
          <a:xfrm>
            <a:off x="6309360" y="3474720"/>
            <a:ext cx="2468880" cy="1188720"/>
          </a:xfrm>
          <a:prstGeom prst="roundRect">
            <a:avLst>
              <a:gd name="adj" fmla="val 9231"/>
            </a:avLst>
          </a:prstGeom>
          <a:solidFill>
            <a:srgbClr val="FDF3D6"/>
          </a:solidFill>
          <a:ln w="12700">
            <a:solidFill>
              <a:srgbClr val="FDF3D6"/>
            </a:solidFill>
            <a:prstDash val="solid"/>
          </a:ln>
        </p:spPr>
      </p:sp>
      <p:sp>
        <p:nvSpPr>
          <p:cNvPr id="22" name="Shape 18"/>
          <p:cNvSpPr/>
          <p:nvPr/>
        </p:nvSpPr>
        <p:spPr>
          <a:xfrm>
            <a:off x="6492240" y="3794760"/>
            <a:ext cx="502920" cy="502920"/>
          </a:xfrm>
          <a:prstGeom prst="ellipse">
            <a:avLst/>
          </a:prstGeom>
          <a:solidFill>
            <a:srgbClr val="F2A900"/>
          </a:solidFill>
          <a:ln w="12700">
            <a:solidFill>
              <a:srgbClr val="F2A900"/>
            </a:solidFill>
            <a:prstDash val="solid"/>
          </a:ln>
        </p:spPr>
      </p:sp>
      <p:sp>
        <p:nvSpPr>
          <p:cNvPr id="23" name="Text 19"/>
          <p:cNvSpPr txBox="1"/>
          <p:nvPr/>
        </p:nvSpPr>
        <p:spPr>
          <a:xfrm>
            <a:off x="6492240" y="379476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mbria" pitchFamily="34" charset="0"/>
                <a:ea typeface="Cambria" pitchFamily="34" charset="-122"/>
                <a:cs typeface="Cambria" pitchFamily="34" charset="-120"/>
              </a:rPr>
              <a:t>3</a:t>
            </a:r>
            <a:endParaRPr lang="en-US" sz="1430" dirty="0"/>
          </a:p>
        </p:txBody>
      </p:sp>
      <p:sp>
        <p:nvSpPr>
          <p:cNvPr id="24" name="Text 20"/>
          <p:cNvSpPr txBox="1"/>
          <p:nvPr/>
        </p:nvSpPr>
        <p:spPr>
          <a:xfrm>
            <a:off x="7132320" y="3611880"/>
            <a:ext cx="1554480" cy="914400"/>
          </a:xfrm>
          <a:prstGeom prst="rect">
            <a:avLst/>
          </a:prstGeom>
          <a:noFill/>
          <a:ln/>
        </p:spPr>
        <p:txBody>
          <a:bodyPr wrap="square" lIns="0" tIns="0" rIns="0" bIns="0" rtlCol="0" anchor="ctr"/>
          <a:lstStyle/>
          <a:p>
            <a:pPr indent="0" marL="0">
              <a:buNone/>
            </a:pPr>
            <a:r>
              <a:rPr lang="en-US" sz="1400" b="1" dirty="0">
                <a:solidFill>
                  <a:srgbClr val="1F4D2B"/>
                </a:solidFill>
                <a:latin typeface="Calibri" pitchFamily="34" charset="0"/>
                <a:ea typeface="Calibri" pitchFamily="34" charset="-122"/>
                <a:cs typeface="Calibri" pitchFamily="34" charset="-120"/>
              </a:rPr>
              <a:t>Auction at the end of the interval</a:t>
            </a:r>
            <a:endParaRPr lang="en-US" sz="1400" dirty="0"/>
          </a:p>
        </p:txBody>
      </p:sp>
      <p:pic>
        <p:nvPicPr>
          <p:cNvPr id="25" name="Image 2" descr="preencoded.png">    </p:cNvPr>
          <p:cNvPicPr>
            <a:picLocks noChangeAspect="1"/>
          </p:cNvPicPr>
          <p:nvPr/>
        </p:nvPicPr>
        <p:blipFill>
          <a:blip r:embed="rId3"/>
          <a:stretch>
            <a:fillRect/>
          </a:stretch>
        </p:blipFill>
        <p:spPr>
          <a:xfrm>
            <a:off x="8805672" y="3913632"/>
            <a:ext cx="329184" cy="329184"/>
          </a:xfrm>
          <a:prstGeom prst="rect">
            <a:avLst/>
          </a:prstGeom>
        </p:spPr>
      </p:pic>
      <p:sp>
        <p:nvSpPr>
          <p:cNvPr id="26" name="Shape 21"/>
          <p:cNvSpPr/>
          <p:nvPr/>
        </p:nvSpPr>
        <p:spPr>
          <a:xfrm>
            <a:off x="9189720" y="3474720"/>
            <a:ext cx="2468880" cy="1188720"/>
          </a:xfrm>
          <a:prstGeom prst="roundRect">
            <a:avLst>
              <a:gd name="adj" fmla="val 9231"/>
            </a:avLst>
          </a:prstGeom>
          <a:solidFill>
            <a:srgbClr val="EEF5E6"/>
          </a:solidFill>
          <a:ln w="12700">
            <a:solidFill>
              <a:srgbClr val="EEF5E6"/>
            </a:solidFill>
            <a:prstDash val="solid"/>
          </a:ln>
        </p:spPr>
      </p:sp>
      <p:sp>
        <p:nvSpPr>
          <p:cNvPr id="27" name="Shape 22"/>
          <p:cNvSpPr/>
          <p:nvPr/>
        </p:nvSpPr>
        <p:spPr>
          <a:xfrm>
            <a:off x="9372600" y="3794760"/>
            <a:ext cx="502920" cy="502920"/>
          </a:xfrm>
          <a:prstGeom prst="ellipse">
            <a:avLst/>
          </a:prstGeom>
          <a:solidFill>
            <a:srgbClr val="1F4D2B"/>
          </a:solidFill>
          <a:ln w="12700">
            <a:solidFill>
              <a:srgbClr val="1F4D2B"/>
            </a:solidFill>
            <a:prstDash val="solid"/>
          </a:ln>
        </p:spPr>
      </p:sp>
      <p:sp>
        <p:nvSpPr>
          <p:cNvPr id="28" name="Text 23"/>
          <p:cNvSpPr txBox="1"/>
          <p:nvPr/>
        </p:nvSpPr>
        <p:spPr>
          <a:xfrm>
            <a:off x="9372600" y="379476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mbria" pitchFamily="34" charset="0"/>
                <a:ea typeface="Cambria" pitchFamily="34" charset="-122"/>
                <a:cs typeface="Cambria" pitchFamily="34" charset="-120"/>
              </a:rPr>
              <a:t>4</a:t>
            </a:r>
            <a:endParaRPr lang="en-US" sz="1430" dirty="0"/>
          </a:p>
        </p:txBody>
      </p:sp>
      <p:sp>
        <p:nvSpPr>
          <p:cNvPr id="29" name="Text 24"/>
          <p:cNvSpPr txBox="1"/>
          <p:nvPr/>
        </p:nvSpPr>
        <p:spPr>
          <a:xfrm>
            <a:off x="10012680" y="3611880"/>
            <a:ext cx="1554480" cy="914400"/>
          </a:xfrm>
          <a:prstGeom prst="rect">
            <a:avLst/>
          </a:prstGeom>
          <a:noFill/>
          <a:ln/>
        </p:spPr>
        <p:txBody>
          <a:bodyPr wrap="square" lIns="0" tIns="0" rIns="0" bIns="0" rtlCol="0" anchor="ctr"/>
          <a:lstStyle/>
          <a:p>
            <a:pPr indent="0" marL="0">
              <a:buNone/>
            </a:pPr>
            <a:r>
              <a:rPr lang="en-US" sz="1400" b="1" dirty="0">
                <a:solidFill>
                  <a:srgbClr val="1F4D2B"/>
                </a:solidFill>
                <a:latin typeface="Calibri" pitchFamily="34" charset="0"/>
                <a:ea typeface="Calibri" pitchFamily="34" charset="-122"/>
                <a:cs typeface="Calibri" pitchFamily="34" charset="-120"/>
              </a:rPr>
              <a:t>Utility covers what is left</a:t>
            </a:r>
            <a:endParaRPr lang="en-US" sz="1400" dirty="0"/>
          </a:p>
        </p:txBody>
      </p:sp>
      <p:sp>
        <p:nvSpPr>
          <p:cNvPr id="30" name="Text 25"/>
          <p:cNvSpPr txBox="1"/>
          <p:nvPr/>
        </p:nvSpPr>
        <p:spPr>
          <a:xfrm>
            <a:off x="548640" y="5074920"/>
            <a:ext cx="11064240" cy="822960"/>
          </a:xfrm>
          <a:prstGeom prst="rect">
            <a:avLst/>
          </a:prstGeom>
          <a:noFill/>
          <a:ln/>
        </p:spPr>
        <p:txBody>
          <a:bodyPr wrap="square" lIns="0" tIns="0" rIns="0" bIns="0" rtlCol="0" anchor="t"/>
          <a:lstStyle/>
          <a:p>
            <a:pPr indent="0" marL="0">
              <a:buNone/>
            </a:pPr>
            <a:r>
              <a:rPr lang="en-US" sz="1500" i="1" dirty="0">
                <a:solidFill>
                  <a:srgbClr val="3E8E41"/>
                </a:solidFill>
                <a:latin typeface="Calibri" pitchFamily="34" charset="0"/>
                <a:ea typeface="Calibri" pitchFamily="34" charset="-122"/>
                <a:cs typeface="Calibri" pitchFamily="34" charset="-120"/>
              </a:rPr>
              <a:t>Electricity is never really "sent" to a buyer — the grid carries it by physics. Trading is an accounting settlement over meter readings, done once per interval, exactly like real markets.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2 · PROSUMERS &amp; BATTERIES</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Where extra energy goes</a:t>
            </a:r>
            <a:endParaRPr lang="en-US" sz="3200" dirty="0"/>
          </a:p>
        </p:txBody>
      </p:sp>
      <p:sp>
        <p:nvSpPr>
          <p:cNvPr id="5" name="Text 3"/>
          <p:cNvSpPr txBox="1"/>
          <p:nvPr/>
        </p:nvSpPr>
        <p:spPr>
          <a:xfrm>
            <a:off x="548640" y="1600200"/>
            <a:ext cx="2743200" cy="320040"/>
          </a:xfrm>
          <a:prstGeom prst="rect">
            <a:avLst/>
          </a:prstGeom>
          <a:noFill/>
          <a:ln/>
        </p:spPr>
        <p:txBody>
          <a:bodyPr wrap="square" lIns="0" tIns="0" rIns="0" bIns="0" rtlCol="0" anchor="t"/>
          <a:lstStyle/>
          <a:p>
            <a:pPr indent="0" marL="0">
              <a:buNone/>
            </a:pPr>
            <a:r>
              <a:rPr lang="en-US" sz="1400" b="1" dirty="0">
                <a:solidFill>
                  <a:srgbClr val="5B6B63"/>
                </a:solidFill>
                <a:latin typeface="Calibri" pitchFamily="34" charset="0"/>
                <a:ea typeface="Calibri" pitchFamily="34" charset="-122"/>
                <a:cs typeface="Calibri" pitchFamily="34" charset="-120"/>
              </a:rPr>
              <a:t>Prosumer</a:t>
            </a:r>
            <a:endParaRPr lang="en-US" sz="1400" dirty="0"/>
          </a:p>
        </p:txBody>
      </p:sp>
      <p:sp>
        <p:nvSpPr>
          <p:cNvPr id="6" name="Shape 4"/>
          <p:cNvSpPr/>
          <p:nvPr/>
        </p:nvSpPr>
        <p:spPr>
          <a:xfrm>
            <a:off x="548640" y="1965960"/>
            <a:ext cx="2468880" cy="1188720"/>
          </a:xfrm>
          <a:prstGeom prst="roundRect">
            <a:avLst>
              <a:gd name="adj" fmla="val 9231"/>
            </a:avLst>
          </a:prstGeom>
          <a:solidFill>
            <a:srgbClr val="EEF5E6"/>
          </a:solidFill>
          <a:ln w="12700">
            <a:solidFill>
              <a:srgbClr val="EEF5E6"/>
            </a:solidFill>
            <a:prstDash val="solid"/>
          </a:ln>
        </p:spPr>
      </p:sp>
      <p:sp>
        <p:nvSpPr>
          <p:cNvPr id="7" name="Shape 5"/>
          <p:cNvSpPr/>
          <p:nvPr/>
        </p:nvSpPr>
        <p:spPr>
          <a:xfrm>
            <a:off x="731520" y="2148840"/>
            <a:ext cx="594360" cy="594360"/>
          </a:xfrm>
          <a:prstGeom prst="ellipse">
            <a:avLst/>
          </a:prstGeom>
          <a:solidFill>
            <a:srgbClr val="3E8E41"/>
          </a:solidFill>
          <a:ln w="12700">
            <a:solidFill>
              <a:srgbClr val="3E8E41"/>
            </a:solidFill>
            <a:prstDash val="solid"/>
          </a:ln>
        </p:spPr>
      </p:sp>
      <p:pic>
        <p:nvPicPr>
          <p:cNvPr id="8" name="Image 0" descr="preencoded.png">    </p:cNvPr>
          <p:cNvPicPr>
            <a:picLocks noChangeAspect="1"/>
          </p:cNvPicPr>
          <p:nvPr/>
        </p:nvPicPr>
        <p:blipFill>
          <a:blip r:embed="rId1"/>
          <a:stretch>
            <a:fillRect/>
          </a:stretch>
        </p:blipFill>
        <p:spPr>
          <a:xfrm>
            <a:off x="874166" y="2291486"/>
            <a:ext cx="309067" cy="309067"/>
          </a:xfrm>
          <a:prstGeom prst="rect">
            <a:avLst/>
          </a:prstGeom>
        </p:spPr>
      </p:pic>
      <p:sp>
        <p:nvSpPr>
          <p:cNvPr id="9" name="Text 6"/>
          <p:cNvSpPr txBox="1"/>
          <p:nvPr/>
        </p:nvSpPr>
        <p:spPr>
          <a:xfrm>
            <a:off x="1463040" y="2148840"/>
            <a:ext cx="1508760" cy="36576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Own battery</a:t>
            </a:r>
            <a:endParaRPr lang="en-US" sz="1600" dirty="0"/>
          </a:p>
        </p:txBody>
      </p:sp>
      <p:sp>
        <p:nvSpPr>
          <p:cNvPr id="10" name="Text 7"/>
          <p:cNvSpPr txBox="1"/>
          <p:nvPr/>
        </p:nvSpPr>
        <p:spPr>
          <a:xfrm>
            <a:off x="1463040" y="2542032"/>
            <a:ext cx="1508760" cy="64008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Free, no losses</a:t>
            </a:r>
            <a:endParaRPr lang="en-US" sz="1250" dirty="0"/>
          </a:p>
        </p:txBody>
      </p:sp>
      <p:pic>
        <p:nvPicPr>
          <p:cNvPr id="11" name="Image 1" descr="preencoded.png">    </p:cNvPr>
          <p:cNvPicPr>
            <a:picLocks noChangeAspect="1"/>
          </p:cNvPicPr>
          <p:nvPr/>
        </p:nvPicPr>
        <p:blipFill>
          <a:blip r:embed="rId2"/>
          <a:stretch>
            <a:fillRect/>
          </a:stretch>
        </p:blipFill>
        <p:spPr>
          <a:xfrm>
            <a:off x="3044952" y="2487168"/>
            <a:ext cx="329184" cy="329184"/>
          </a:xfrm>
          <a:prstGeom prst="rect">
            <a:avLst/>
          </a:prstGeom>
        </p:spPr>
      </p:pic>
      <p:sp>
        <p:nvSpPr>
          <p:cNvPr id="12" name="Shape 8"/>
          <p:cNvSpPr/>
          <p:nvPr/>
        </p:nvSpPr>
        <p:spPr>
          <a:xfrm>
            <a:off x="3429000" y="1965960"/>
            <a:ext cx="2468880" cy="1188720"/>
          </a:xfrm>
          <a:prstGeom prst="roundRect">
            <a:avLst>
              <a:gd name="adj" fmla="val 9231"/>
            </a:avLst>
          </a:prstGeom>
          <a:solidFill>
            <a:srgbClr val="EEF5E6"/>
          </a:solidFill>
          <a:ln w="12700">
            <a:solidFill>
              <a:srgbClr val="EEF5E6"/>
            </a:solidFill>
            <a:prstDash val="solid"/>
          </a:ln>
        </p:spPr>
      </p:sp>
      <p:sp>
        <p:nvSpPr>
          <p:cNvPr id="13" name="Shape 9"/>
          <p:cNvSpPr/>
          <p:nvPr/>
        </p:nvSpPr>
        <p:spPr>
          <a:xfrm>
            <a:off x="3611880" y="2148840"/>
            <a:ext cx="594360" cy="594360"/>
          </a:xfrm>
          <a:prstGeom prst="ellipse">
            <a:avLst/>
          </a:prstGeom>
          <a:solidFill>
            <a:srgbClr val="F2A900"/>
          </a:solidFill>
          <a:ln w="12700">
            <a:solidFill>
              <a:srgbClr val="F2A900"/>
            </a:solidFill>
            <a:prstDash val="solid"/>
          </a:ln>
        </p:spPr>
      </p:sp>
      <p:pic>
        <p:nvPicPr>
          <p:cNvPr id="14" name="Image 2" descr="preencoded.png">    </p:cNvPr>
          <p:cNvPicPr>
            <a:picLocks noChangeAspect="1"/>
          </p:cNvPicPr>
          <p:nvPr/>
        </p:nvPicPr>
        <p:blipFill>
          <a:blip r:embed="rId3"/>
          <a:stretch>
            <a:fillRect/>
          </a:stretch>
        </p:blipFill>
        <p:spPr>
          <a:xfrm>
            <a:off x="3754526" y="2291486"/>
            <a:ext cx="309067" cy="309067"/>
          </a:xfrm>
          <a:prstGeom prst="rect">
            <a:avLst/>
          </a:prstGeom>
        </p:spPr>
      </p:pic>
      <p:sp>
        <p:nvSpPr>
          <p:cNvPr id="15" name="Text 10"/>
          <p:cNvSpPr txBox="1"/>
          <p:nvPr/>
        </p:nvSpPr>
        <p:spPr>
          <a:xfrm>
            <a:off x="4343400" y="2148840"/>
            <a:ext cx="1508760" cy="36576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Rented storage</a:t>
            </a:r>
            <a:endParaRPr lang="en-US" sz="1600" dirty="0"/>
          </a:p>
        </p:txBody>
      </p:sp>
      <p:sp>
        <p:nvSpPr>
          <p:cNvPr id="16" name="Text 11"/>
          <p:cNvSpPr txBox="1"/>
          <p:nvPr/>
        </p:nvSpPr>
        <p:spPr>
          <a:xfrm>
            <a:off x="4343400" y="2542032"/>
            <a:ext cx="1508760" cy="64008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Only in "store" mode</a:t>
            </a:r>
            <a:endParaRPr lang="en-US" sz="1250" dirty="0"/>
          </a:p>
        </p:txBody>
      </p:sp>
      <p:pic>
        <p:nvPicPr>
          <p:cNvPr id="17" name="Image 3" descr="preencoded.png">    </p:cNvPr>
          <p:cNvPicPr>
            <a:picLocks noChangeAspect="1"/>
          </p:cNvPicPr>
          <p:nvPr/>
        </p:nvPicPr>
        <p:blipFill>
          <a:blip r:embed="rId4"/>
          <a:stretch>
            <a:fillRect/>
          </a:stretch>
        </p:blipFill>
        <p:spPr>
          <a:xfrm>
            <a:off x="5925312" y="2487168"/>
            <a:ext cx="329184" cy="329184"/>
          </a:xfrm>
          <a:prstGeom prst="rect">
            <a:avLst/>
          </a:prstGeom>
        </p:spPr>
      </p:pic>
      <p:sp>
        <p:nvSpPr>
          <p:cNvPr id="18" name="Shape 12"/>
          <p:cNvSpPr/>
          <p:nvPr/>
        </p:nvSpPr>
        <p:spPr>
          <a:xfrm>
            <a:off x="6309360" y="1965960"/>
            <a:ext cx="2468880" cy="1188720"/>
          </a:xfrm>
          <a:prstGeom prst="roundRect">
            <a:avLst>
              <a:gd name="adj" fmla="val 9231"/>
            </a:avLst>
          </a:prstGeom>
          <a:solidFill>
            <a:srgbClr val="EEF5E6"/>
          </a:solidFill>
          <a:ln w="12700">
            <a:solidFill>
              <a:srgbClr val="EEF5E6"/>
            </a:solidFill>
            <a:prstDash val="solid"/>
          </a:ln>
        </p:spPr>
      </p:sp>
      <p:sp>
        <p:nvSpPr>
          <p:cNvPr id="19" name="Shape 13"/>
          <p:cNvSpPr/>
          <p:nvPr/>
        </p:nvSpPr>
        <p:spPr>
          <a:xfrm>
            <a:off x="6492240" y="2148840"/>
            <a:ext cx="594360" cy="594360"/>
          </a:xfrm>
          <a:prstGeom prst="ellipse">
            <a:avLst/>
          </a:prstGeom>
          <a:solidFill>
            <a:srgbClr val="1F4D2B"/>
          </a:solidFill>
          <a:ln w="12700">
            <a:solidFill>
              <a:srgbClr val="1F4D2B"/>
            </a:solidFill>
            <a:prstDash val="solid"/>
          </a:ln>
        </p:spPr>
      </p:sp>
      <p:pic>
        <p:nvPicPr>
          <p:cNvPr id="20" name="Image 4" descr="preencoded.png">    </p:cNvPr>
          <p:cNvPicPr>
            <a:picLocks noChangeAspect="1"/>
          </p:cNvPicPr>
          <p:nvPr/>
        </p:nvPicPr>
        <p:blipFill>
          <a:blip r:embed="rId5"/>
          <a:stretch>
            <a:fillRect/>
          </a:stretch>
        </p:blipFill>
        <p:spPr>
          <a:xfrm>
            <a:off x="6634886" y="2291486"/>
            <a:ext cx="309067" cy="309067"/>
          </a:xfrm>
          <a:prstGeom prst="rect">
            <a:avLst/>
          </a:prstGeom>
        </p:spPr>
      </p:pic>
      <p:sp>
        <p:nvSpPr>
          <p:cNvPr id="21" name="Text 14"/>
          <p:cNvSpPr txBox="1"/>
          <p:nvPr/>
        </p:nvSpPr>
        <p:spPr>
          <a:xfrm>
            <a:off x="7223760" y="2148840"/>
            <a:ext cx="1508760" cy="36576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Auction</a:t>
            </a:r>
            <a:endParaRPr lang="en-US" sz="1600" dirty="0"/>
          </a:p>
        </p:txBody>
      </p:sp>
      <p:sp>
        <p:nvSpPr>
          <p:cNvPr id="22" name="Text 15"/>
          <p:cNvSpPr txBox="1"/>
          <p:nvPr/>
        </p:nvSpPr>
        <p:spPr>
          <a:xfrm>
            <a:off x="7223760" y="2542032"/>
            <a:ext cx="1508760" cy="64008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Sold to neighbours</a:t>
            </a:r>
            <a:endParaRPr lang="en-US" sz="1250" dirty="0"/>
          </a:p>
        </p:txBody>
      </p:sp>
      <p:pic>
        <p:nvPicPr>
          <p:cNvPr id="23" name="Image 5" descr="preencoded.png">    </p:cNvPr>
          <p:cNvPicPr>
            <a:picLocks noChangeAspect="1"/>
          </p:cNvPicPr>
          <p:nvPr/>
        </p:nvPicPr>
        <p:blipFill>
          <a:blip r:embed="rId6"/>
          <a:stretch>
            <a:fillRect/>
          </a:stretch>
        </p:blipFill>
        <p:spPr>
          <a:xfrm>
            <a:off x="8805672" y="2487168"/>
            <a:ext cx="329184" cy="329184"/>
          </a:xfrm>
          <a:prstGeom prst="rect">
            <a:avLst/>
          </a:prstGeom>
        </p:spPr>
      </p:pic>
      <p:sp>
        <p:nvSpPr>
          <p:cNvPr id="24" name="Shape 16"/>
          <p:cNvSpPr/>
          <p:nvPr/>
        </p:nvSpPr>
        <p:spPr>
          <a:xfrm>
            <a:off x="9189720" y="1965960"/>
            <a:ext cx="2468880" cy="1188720"/>
          </a:xfrm>
          <a:prstGeom prst="roundRect">
            <a:avLst>
              <a:gd name="adj" fmla="val 9231"/>
            </a:avLst>
          </a:prstGeom>
          <a:solidFill>
            <a:srgbClr val="EEF5E6"/>
          </a:solidFill>
          <a:ln w="12700">
            <a:solidFill>
              <a:srgbClr val="EEF5E6"/>
            </a:solidFill>
            <a:prstDash val="solid"/>
          </a:ln>
        </p:spPr>
      </p:sp>
      <p:sp>
        <p:nvSpPr>
          <p:cNvPr id="25" name="Shape 17"/>
          <p:cNvSpPr/>
          <p:nvPr/>
        </p:nvSpPr>
        <p:spPr>
          <a:xfrm>
            <a:off x="9372600" y="2148840"/>
            <a:ext cx="594360" cy="594360"/>
          </a:xfrm>
          <a:prstGeom prst="ellipse">
            <a:avLst/>
          </a:prstGeom>
          <a:solidFill>
            <a:srgbClr val="2F6690"/>
          </a:solidFill>
          <a:ln w="12700">
            <a:solidFill>
              <a:srgbClr val="2F6690"/>
            </a:solidFill>
            <a:prstDash val="solid"/>
          </a:ln>
        </p:spPr>
      </p:sp>
      <p:pic>
        <p:nvPicPr>
          <p:cNvPr id="26" name="Image 6" descr="preencoded.png">    </p:cNvPr>
          <p:cNvPicPr>
            <a:picLocks noChangeAspect="1"/>
          </p:cNvPicPr>
          <p:nvPr/>
        </p:nvPicPr>
        <p:blipFill>
          <a:blip r:embed="rId7"/>
          <a:stretch>
            <a:fillRect/>
          </a:stretch>
        </p:blipFill>
        <p:spPr>
          <a:xfrm>
            <a:off x="9515246" y="2291486"/>
            <a:ext cx="309067" cy="309067"/>
          </a:xfrm>
          <a:prstGeom prst="rect">
            <a:avLst/>
          </a:prstGeom>
        </p:spPr>
      </p:pic>
      <p:sp>
        <p:nvSpPr>
          <p:cNvPr id="27" name="Text 18"/>
          <p:cNvSpPr txBox="1"/>
          <p:nvPr/>
        </p:nvSpPr>
        <p:spPr>
          <a:xfrm>
            <a:off x="10104120" y="2148840"/>
            <a:ext cx="1508760" cy="36576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Export</a:t>
            </a:r>
            <a:endParaRPr lang="en-US" sz="1600" dirty="0"/>
          </a:p>
        </p:txBody>
      </p:sp>
      <p:sp>
        <p:nvSpPr>
          <p:cNvPr id="28" name="Text 19"/>
          <p:cNvSpPr txBox="1"/>
          <p:nvPr/>
        </p:nvSpPr>
        <p:spPr>
          <a:xfrm>
            <a:off x="10104120" y="2542032"/>
            <a:ext cx="1508760" cy="64008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Utility pays 0.05</a:t>
            </a:r>
            <a:endParaRPr lang="en-US" sz="1250" dirty="0"/>
          </a:p>
        </p:txBody>
      </p:sp>
      <p:sp>
        <p:nvSpPr>
          <p:cNvPr id="29" name="Text 20"/>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b="1" dirty="0">
                <a:solidFill>
                  <a:srgbClr val="5B6B63"/>
                </a:solidFill>
                <a:latin typeface="Calibri" pitchFamily="34" charset="0"/>
                <a:ea typeface="Calibri" pitchFamily="34" charset="-122"/>
                <a:cs typeface="Calibri" pitchFamily="34" charset="-120"/>
              </a:rPr>
              <a:t>Producer</a:t>
            </a:r>
            <a:endParaRPr lang="en-US" sz="1400" dirty="0"/>
          </a:p>
        </p:txBody>
      </p:sp>
      <p:sp>
        <p:nvSpPr>
          <p:cNvPr id="30" name="Text 21"/>
          <p:cNvSpPr txBox="1"/>
          <p:nvPr/>
        </p:nvSpPr>
        <p:spPr>
          <a:xfrm>
            <a:off x="548640" y="3931920"/>
            <a:ext cx="10972800" cy="365760"/>
          </a:xfrm>
          <a:prstGeom prst="rect">
            <a:avLst/>
          </a:prstGeom>
          <a:noFill/>
          <a:ln/>
        </p:spPr>
        <p:txBody>
          <a:bodyPr wrap="square" lIns="0" tIns="0" rIns="0" bIns="0" rtlCol="0" anchor="t"/>
          <a:lstStyle/>
          <a:p>
            <a:pPr indent="0" marL="0">
              <a:buNone/>
            </a:pPr>
            <a:r>
              <a:rPr lang="en-US" sz="1400" dirty="0">
                <a:solidFill>
                  <a:srgbClr val="1B2A21"/>
                </a:solidFill>
                <a:latin typeface="Calibri" pitchFamily="34" charset="0"/>
                <a:ea typeface="Calibri" pitchFamily="34" charset="-122"/>
                <a:cs typeface="Calibri" pitchFamily="34" charset="-120"/>
              </a:rPr>
              <a:t>No battery, no storage: output goes straight to the auction, and whatever is not sold is exported.</a:t>
            </a:r>
            <a:endParaRPr lang="en-US" sz="1400" dirty="0"/>
          </a:p>
        </p:txBody>
      </p:sp>
      <p:sp>
        <p:nvSpPr>
          <p:cNvPr id="31" name="Shape 22"/>
          <p:cNvSpPr/>
          <p:nvPr/>
        </p:nvSpPr>
        <p:spPr>
          <a:xfrm>
            <a:off x="548640" y="4572000"/>
            <a:ext cx="5394960" cy="1325880"/>
          </a:xfrm>
          <a:prstGeom prst="roundRect">
            <a:avLst>
              <a:gd name="adj" fmla="val 8276"/>
            </a:avLst>
          </a:prstGeom>
          <a:solidFill>
            <a:srgbClr val="EEF5E6"/>
          </a:solidFill>
          <a:ln w="12700">
            <a:solidFill>
              <a:srgbClr val="EEF5E6"/>
            </a:solidFill>
            <a:prstDash val="solid"/>
          </a:ln>
        </p:spPr>
      </p:sp>
      <p:sp>
        <p:nvSpPr>
          <p:cNvPr id="32" name="Text 23"/>
          <p:cNvSpPr txBox="1"/>
          <p:nvPr/>
        </p:nvSpPr>
        <p:spPr>
          <a:xfrm>
            <a:off x="822960" y="4709160"/>
            <a:ext cx="4846320" cy="365760"/>
          </a:xfrm>
          <a:prstGeom prst="rect">
            <a:avLst/>
          </a:prstGeom>
          <a:noFill/>
          <a:ln/>
        </p:spPr>
        <p:txBody>
          <a:bodyPr wrap="square" lIns="0" tIns="0" rIns="0" bIns="0" rtlCol="0" anchor="t"/>
          <a:lstStyle/>
          <a:p>
            <a:pPr indent="0" marL="0">
              <a:buNone/>
            </a:pPr>
            <a:r>
              <a:rPr lang="en-US" sz="1800" b="1" dirty="0">
                <a:solidFill>
                  <a:srgbClr val="1F4D2B"/>
                </a:solidFill>
                <a:latin typeface="Cambria" pitchFamily="34" charset="0"/>
                <a:ea typeface="Cambria" pitchFamily="34" charset="-122"/>
                <a:cs typeface="Cambria" pitchFamily="34" charset="-120"/>
              </a:rPr>
              <a:t>"Sell" mode</a:t>
            </a:r>
            <a:endParaRPr lang="en-US" sz="1800" dirty="0"/>
          </a:p>
        </p:txBody>
      </p:sp>
      <p:sp>
        <p:nvSpPr>
          <p:cNvPr id="33" name="Text 24"/>
          <p:cNvSpPr txBox="1"/>
          <p:nvPr/>
        </p:nvSpPr>
        <p:spPr>
          <a:xfrm>
            <a:off x="822960" y="5120640"/>
            <a:ext cx="4846320" cy="914400"/>
          </a:xfrm>
          <a:prstGeom prst="rect">
            <a:avLst/>
          </a:prstGeom>
          <a:noFill/>
          <a:ln/>
        </p:spPr>
        <p:txBody>
          <a:bodyPr wrap="square" lIns="0" tIns="0" rIns="0" bIns="0" rtlCol="0" anchor="t"/>
          <a:lstStyle/>
          <a:p>
            <a:pPr indent="0" marL="0">
              <a:buNone/>
            </a:pPr>
            <a:r>
              <a:rPr lang="en-US" sz="1400" dirty="0">
                <a:solidFill>
                  <a:srgbClr val="1B2A21"/>
                </a:solidFill>
                <a:latin typeface="Calibri" pitchFamily="34" charset="0"/>
                <a:ea typeface="Calibri" pitchFamily="34" charset="-122"/>
                <a:cs typeface="Calibri" pitchFamily="34" charset="-120"/>
              </a:rPr>
              <a:t>When the battery is full, extra energy is offered in the auction right now. Cash now.</a:t>
            </a:r>
            <a:endParaRPr lang="en-US" sz="1400" dirty="0"/>
          </a:p>
        </p:txBody>
      </p:sp>
      <p:sp>
        <p:nvSpPr>
          <p:cNvPr id="34" name="Shape 25"/>
          <p:cNvSpPr/>
          <p:nvPr/>
        </p:nvSpPr>
        <p:spPr>
          <a:xfrm>
            <a:off x="6217920" y="4572000"/>
            <a:ext cx="5394960" cy="1325880"/>
          </a:xfrm>
          <a:prstGeom prst="roundRect">
            <a:avLst>
              <a:gd name="adj" fmla="val 8276"/>
            </a:avLst>
          </a:prstGeom>
          <a:solidFill>
            <a:srgbClr val="FDF3D6"/>
          </a:solidFill>
          <a:ln w="12700">
            <a:solidFill>
              <a:srgbClr val="FDF3D6"/>
            </a:solidFill>
            <a:prstDash val="solid"/>
          </a:ln>
        </p:spPr>
      </p:sp>
      <p:sp>
        <p:nvSpPr>
          <p:cNvPr id="35" name="Text 26"/>
          <p:cNvSpPr txBox="1"/>
          <p:nvPr/>
        </p:nvSpPr>
        <p:spPr>
          <a:xfrm>
            <a:off x="6492240" y="4709160"/>
            <a:ext cx="4846320" cy="365760"/>
          </a:xfrm>
          <a:prstGeom prst="rect">
            <a:avLst/>
          </a:prstGeom>
          <a:noFill/>
          <a:ln/>
        </p:spPr>
        <p:txBody>
          <a:bodyPr wrap="square" lIns="0" tIns="0" rIns="0" bIns="0" rtlCol="0" anchor="t"/>
          <a:lstStyle/>
          <a:p>
            <a:pPr indent="0" marL="0">
              <a:buNone/>
            </a:pPr>
            <a:r>
              <a:rPr lang="en-US" sz="1800" b="1" dirty="0">
                <a:solidFill>
                  <a:srgbClr val="1F4D2B"/>
                </a:solidFill>
                <a:latin typeface="Cambria" pitchFamily="34" charset="0"/>
                <a:ea typeface="Cambria" pitchFamily="34" charset="-122"/>
                <a:cs typeface="Cambria" pitchFamily="34" charset="-120"/>
              </a:rPr>
              <a:t>"Store" mode</a:t>
            </a:r>
            <a:endParaRPr lang="en-US" sz="1800" dirty="0"/>
          </a:p>
        </p:txBody>
      </p:sp>
      <p:sp>
        <p:nvSpPr>
          <p:cNvPr id="36" name="Text 27"/>
          <p:cNvSpPr txBox="1"/>
          <p:nvPr/>
        </p:nvSpPr>
        <p:spPr>
          <a:xfrm>
            <a:off x="6492240" y="5120640"/>
            <a:ext cx="4846320" cy="914400"/>
          </a:xfrm>
          <a:prstGeom prst="rect">
            <a:avLst/>
          </a:prstGeom>
          <a:noFill/>
          <a:ln/>
        </p:spPr>
        <p:txBody>
          <a:bodyPr wrap="square" lIns="0" tIns="0" rIns="0" bIns="0" rtlCol="0" anchor="t"/>
          <a:lstStyle/>
          <a:p>
            <a:pPr indent="0" marL="0">
              <a:buNone/>
            </a:pPr>
            <a:r>
              <a:rPr lang="en-US" sz="1400" dirty="0">
                <a:solidFill>
                  <a:srgbClr val="1B2A21"/>
                </a:solidFill>
                <a:latin typeface="Calibri" pitchFamily="34" charset="0"/>
                <a:ea typeface="Calibri" pitchFamily="34" charset="-122"/>
                <a:cs typeface="Calibri" pitchFamily="34" charset="-120"/>
              </a:rPr>
              <a:t>Extra energy goes into rented space in the shared battery. Still yours: use it tonight or sell it later at a better price.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2 · PROSUMERS &amp; BATTERIES</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One kWh can only be in one place</a:t>
            </a:r>
            <a:endParaRPr lang="en-US" sz="3200" dirty="0"/>
          </a:p>
        </p:txBody>
      </p:sp>
      <p:sp>
        <p:nvSpPr>
          <p:cNvPr id="5" name="Shape 3"/>
          <p:cNvSpPr/>
          <p:nvPr/>
        </p:nvSpPr>
        <p:spPr>
          <a:xfrm>
            <a:off x="548640" y="1600200"/>
            <a:ext cx="5394960" cy="3291840"/>
          </a:xfrm>
          <a:prstGeom prst="roundRect">
            <a:avLst>
              <a:gd name="adj" fmla="val 3333"/>
            </a:avLst>
          </a:prstGeom>
          <a:solidFill>
            <a:srgbClr val="FBEAEA"/>
          </a:solidFill>
          <a:ln w="12700">
            <a:solidFill>
              <a:srgbClr val="FBEAEA"/>
            </a:solidFill>
            <a:prstDash val="solid"/>
          </a:ln>
        </p:spPr>
      </p:sp>
      <p:pic>
        <p:nvPicPr>
          <p:cNvPr id="6" name="Image 0" descr="preencoded.png">    </p:cNvPr>
          <p:cNvPicPr>
            <a:picLocks noChangeAspect="1"/>
          </p:cNvPicPr>
          <p:nvPr/>
        </p:nvPicPr>
        <p:blipFill>
          <a:blip r:embed="rId1"/>
          <a:stretch>
            <a:fillRect/>
          </a:stretch>
        </p:blipFill>
        <p:spPr>
          <a:xfrm>
            <a:off x="822960" y="1828800"/>
            <a:ext cx="502920" cy="502920"/>
          </a:xfrm>
          <a:prstGeom prst="rect">
            <a:avLst/>
          </a:prstGeom>
        </p:spPr>
      </p:pic>
      <p:sp>
        <p:nvSpPr>
          <p:cNvPr id="7" name="Text 4"/>
          <p:cNvSpPr txBox="1"/>
          <p:nvPr/>
        </p:nvSpPr>
        <p:spPr>
          <a:xfrm>
            <a:off x="1463040" y="1847088"/>
            <a:ext cx="4297680" cy="457200"/>
          </a:xfrm>
          <a:prstGeom prst="rect">
            <a:avLst/>
          </a:prstGeom>
          <a:noFill/>
          <a:ln/>
        </p:spPr>
        <p:txBody>
          <a:bodyPr wrap="square" lIns="0" tIns="0" rIns="0" bIns="0" rtlCol="0" anchor="t"/>
          <a:lstStyle/>
          <a:p>
            <a:pPr indent="0" marL="0">
              <a:buNone/>
            </a:pPr>
            <a:r>
              <a:rPr lang="en-US" sz="1900" b="1" dirty="0">
                <a:solidFill>
                  <a:srgbClr val="C0392B"/>
                </a:solidFill>
                <a:latin typeface="Cambria" pitchFamily="34" charset="0"/>
                <a:ea typeface="Cambria" pitchFamily="34" charset="-122"/>
                <a:cs typeface="Cambria" pitchFamily="34" charset="-120"/>
              </a:rPr>
              <a:t>Problem in the old plan</a:t>
            </a:r>
            <a:endParaRPr lang="en-US" sz="1900" dirty="0"/>
          </a:p>
        </p:txBody>
      </p:sp>
      <p:sp>
        <p:nvSpPr>
          <p:cNvPr id="8" name="Text 5"/>
          <p:cNvSpPr txBox="1"/>
          <p:nvPr/>
        </p:nvSpPr>
        <p:spPr>
          <a:xfrm>
            <a:off x="868680" y="2514600"/>
            <a:ext cx="48463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5 kWh go into the battery</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The same 5 kWh are sold on the marketplace</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At night the battery still shows 5 kWh…</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…and the home uses them for free</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The same energy was sold AND used</a:t>
            </a:r>
            <a:endParaRPr lang="en-US" sz="1500" dirty="0"/>
          </a:p>
        </p:txBody>
      </p:sp>
      <p:sp>
        <p:nvSpPr>
          <p:cNvPr id="9" name="Shape 6"/>
          <p:cNvSpPr/>
          <p:nvPr/>
        </p:nvSpPr>
        <p:spPr>
          <a:xfrm>
            <a:off x="6217920" y="1600200"/>
            <a:ext cx="5394960" cy="3291840"/>
          </a:xfrm>
          <a:prstGeom prst="roundRect">
            <a:avLst>
              <a:gd name="adj" fmla="val 3333"/>
            </a:avLst>
          </a:prstGeom>
          <a:solidFill>
            <a:srgbClr val="EEF5E6"/>
          </a:solidFill>
          <a:ln w="12700">
            <a:solidFill>
              <a:srgbClr val="EEF5E6"/>
            </a:solidFill>
            <a:prstDash val="solid"/>
          </a:ln>
        </p:spPr>
      </p:sp>
      <p:pic>
        <p:nvPicPr>
          <p:cNvPr id="10" name="Image 1" descr="preencoded.png">    </p:cNvPr>
          <p:cNvPicPr>
            <a:picLocks noChangeAspect="1"/>
          </p:cNvPicPr>
          <p:nvPr/>
        </p:nvPicPr>
        <p:blipFill>
          <a:blip r:embed="rId2"/>
          <a:stretch>
            <a:fillRect/>
          </a:stretch>
        </p:blipFill>
        <p:spPr>
          <a:xfrm>
            <a:off x="6492240" y="1828800"/>
            <a:ext cx="502920" cy="502920"/>
          </a:xfrm>
          <a:prstGeom prst="rect">
            <a:avLst/>
          </a:prstGeom>
        </p:spPr>
      </p:pic>
      <p:sp>
        <p:nvSpPr>
          <p:cNvPr id="11" name="Text 7"/>
          <p:cNvSpPr txBox="1"/>
          <p:nvPr/>
        </p:nvSpPr>
        <p:spPr>
          <a:xfrm>
            <a:off x="7132320" y="1847088"/>
            <a:ext cx="4297680" cy="457200"/>
          </a:xfrm>
          <a:prstGeom prst="rect">
            <a:avLst/>
          </a:prstGeom>
          <a:noFill/>
          <a:ln/>
        </p:spPr>
        <p:txBody>
          <a:bodyPr wrap="square" lIns="0" tIns="0" rIns="0" bIns="0" rtlCol="0" anchor="t"/>
          <a:lstStyle/>
          <a:p>
            <a:pPr indent="0" marL="0">
              <a:buNone/>
            </a:pPr>
            <a:r>
              <a:rPr lang="en-US" sz="1900" b="1" dirty="0">
                <a:solidFill>
                  <a:srgbClr val="3E8E41"/>
                </a:solidFill>
                <a:latin typeface="Cambria" pitchFamily="34" charset="0"/>
                <a:ea typeface="Cambria" pitchFamily="34" charset="-122"/>
                <a:cs typeface="Cambria" pitchFamily="34" charset="-120"/>
              </a:rPr>
              <a:t>Rule in the new design</a:t>
            </a:r>
            <a:endParaRPr lang="en-US" sz="1900" dirty="0"/>
          </a:p>
        </p:txBody>
      </p:sp>
      <p:sp>
        <p:nvSpPr>
          <p:cNvPr id="12" name="Text 8"/>
          <p:cNvSpPr txBox="1"/>
          <p:nvPr/>
        </p:nvSpPr>
        <p:spPr>
          <a:xfrm>
            <a:off x="6537960" y="2514600"/>
            <a:ext cx="48463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The battery holds the energy you can sell</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Selling takes it out of the battery</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Using it yourself also takes it out</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Listed-but-unsold energy stays yours: the offer shrinks if you use it</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Every kWh is in exactly one place</a:t>
            </a:r>
            <a:endParaRPr lang="en-US" sz="1500" dirty="0"/>
          </a:p>
        </p:txBody>
      </p:sp>
      <p:sp>
        <p:nvSpPr>
          <p:cNvPr id="13" name="Shape 9"/>
          <p:cNvSpPr/>
          <p:nvPr/>
        </p:nvSpPr>
        <p:spPr>
          <a:xfrm>
            <a:off x="548640" y="5212080"/>
            <a:ext cx="640080" cy="640080"/>
          </a:xfrm>
          <a:prstGeom prst="ellipse">
            <a:avLst/>
          </a:prstGeom>
          <a:solidFill>
            <a:srgbClr val="F2A900"/>
          </a:solidFill>
          <a:ln w="12700">
            <a:solidFill>
              <a:srgbClr val="F2A900"/>
            </a:solidFill>
            <a:prstDash val="solid"/>
          </a:ln>
        </p:spPr>
      </p:sp>
      <p:pic>
        <p:nvPicPr>
          <p:cNvPr id="14" name="Image 2" descr="preencoded.png">    </p:cNvPr>
          <p:cNvPicPr>
            <a:picLocks noChangeAspect="1"/>
          </p:cNvPicPr>
          <p:nvPr/>
        </p:nvPicPr>
        <p:blipFill>
          <a:blip r:embed="rId3"/>
          <a:stretch>
            <a:fillRect/>
          </a:stretch>
        </p:blipFill>
        <p:spPr>
          <a:xfrm>
            <a:off x="702259" y="5365699"/>
            <a:ext cx="332842" cy="332842"/>
          </a:xfrm>
          <a:prstGeom prst="rect">
            <a:avLst/>
          </a:prstGeom>
        </p:spPr>
      </p:pic>
      <p:sp>
        <p:nvSpPr>
          <p:cNvPr id="15" name="Text 10"/>
          <p:cNvSpPr txBox="1"/>
          <p:nvPr/>
        </p:nvSpPr>
        <p:spPr>
          <a:xfrm>
            <a:off x="1371600" y="5230368"/>
            <a:ext cx="10241280" cy="731520"/>
          </a:xfrm>
          <a:prstGeom prst="rect">
            <a:avLst/>
          </a:prstGeom>
          <a:noFill/>
          <a:ln/>
        </p:spPr>
        <p:txBody>
          <a:bodyPr wrap="square" lIns="0" tIns="0" rIns="0" bIns="0" rtlCol="0" anchor="ctr"/>
          <a:lstStyle/>
          <a:p>
            <a:pPr indent="0" marL="0">
              <a:buNone/>
            </a:pPr>
            <a:r>
              <a:rPr lang="en-US" sz="1500" dirty="0">
                <a:solidFill>
                  <a:srgbClr val="1B2A21"/>
                </a:solidFill>
                <a:latin typeface="Calibri" pitchFamily="34" charset="0"/>
                <a:ea typeface="Calibri" pitchFamily="34" charset="-122"/>
                <a:cs typeface="Calibri" pitchFamily="34" charset="-120"/>
              </a:rPr>
              <a:t>Optional: "sell from my battery when the price is ≥ X, but keep Y% for myself". Off by default — the battery is for your own use first.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3 · GETTING PAID</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Proof when you produce, money when you sell</a:t>
            </a:r>
            <a:endParaRPr lang="en-US" sz="3200" dirty="0"/>
          </a:p>
        </p:txBody>
      </p:sp>
      <p:sp>
        <p:nvSpPr>
          <p:cNvPr id="5" name="Shape 3"/>
          <p:cNvSpPr/>
          <p:nvPr/>
        </p:nvSpPr>
        <p:spPr>
          <a:xfrm>
            <a:off x="548640" y="1600200"/>
            <a:ext cx="5394960" cy="4297680"/>
          </a:xfrm>
          <a:prstGeom prst="roundRect">
            <a:avLst>
              <a:gd name="adj" fmla="val 2553"/>
            </a:avLst>
          </a:prstGeom>
          <a:solidFill>
            <a:srgbClr val="FBEAEA"/>
          </a:solidFill>
          <a:ln w="12700">
            <a:solidFill>
              <a:srgbClr val="FBEAEA"/>
            </a:solidFill>
            <a:prstDash val="solid"/>
          </a:ln>
        </p:spPr>
      </p:sp>
      <p:sp>
        <p:nvSpPr>
          <p:cNvPr id="6" name="Text 4"/>
          <p:cNvSpPr txBox="1"/>
          <p:nvPr/>
        </p:nvSpPr>
        <p:spPr>
          <a:xfrm>
            <a:off x="822960" y="1783080"/>
            <a:ext cx="4937760" cy="411480"/>
          </a:xfrm>
          <a:prstGeom prst="rect">
            <a:avLst/>
          </a:prstGeom>
          <a:noFill/>
          <a:ln/>
        </p:spPr>
        <p:txBody>
          <a:bodyPr wrap="square" lIns="0" tIns="0" rIns="0" bIns="0" rtlCol="0" anchor="t"/>
          <a:lstStyle/>
          <a:p>
            <a:pPr indent="0" marL="0">
              <a:buNone/>
            </a:pPr>
            <a:r>
              <a:rPr lang="en-US" sz="1900" b="1" dirty="0">
                <a:solidFill>
                  <a:srgbClr val="C0392B"/>
                </a:solidFill>
                <a:latin typeface="Cambria" pitchFamily="34" charset="0"/>
                <a:ea typeface="Cambria" pitchFamily="34" charset="-122"/>
                <a:cs typeface="Cambria" pitchFamily="34" charset="-120"/>
              </a:rPr>
              <a:t>Old: TEC minted at production</a:t>
            </a:r>
            <a:endParaRPr lang="en-US" sz="1900" dirty="0"/>
          </a:p>
        </p:txBody>
      </p:sp>
      <p:sp>
        <p:nvSpPr>
          <p:cNvPr id="7" name="Text 5"/>
          <p:cNvSpPr txBox="1"/>
          <p:nvPr/>
        </p:nvSpPr>
        <p:spPr>
          <a:xfrm>
            <a:off x="822960" y="2286000"/>
            <a:ext cx="2194560" cy="822960"/>
          </a:xfrm>
          <a:prstGeom prst="rect">
            <a:avLst/>
          </a:prstGeom>
          <a:noFill/>
          <a:ln/>
        </p:spPr>
        <p:txBody>
          <a:bodyPr wrap="square" lIns="0" tIns="0" rIns="0" bIns="0" rtlCol="0" anchor="t"/>
          <a:lstStyle/>
          <a:p>
            <a:pPr indent="0" marL="0">
              <a:buNone/>
            </a:pPr>
            <a:r>
              <a:rPr lang="en-US" sz="4800" b="1" dirty="0">
                <a:solidFill>
                  <a:srgbClr val="C0392B"/>
                </a:solidFill>
                <a:latin typeface="Cambria" pitchFamily="34" charset="0"/>
                <a:ea typeface="Cambria" pitchFamily="34" charset="-122"/>
                <a:cs typeface="Cambria" pitchFamily="34" charset="-120"/>
              </a:rPr>
              <a:t>6 TEC</a:t>
            </a:r>
            <a:endParaRPr lang="en-US" sz="4800" dirty="0"/>
          </a:p>
        </p:txBody>
      </p:sp>
      <p:sp>
        <p:nvSpPr>
          <p:cNvPr id="8" name="Text 6"/>
          <p:cNvSpPr txBox="1"/>
          <p:nvPr/>
        </p:nvSpPr>
        <p:spPr>
          <a:xfrm>
            <a:off x="2926080" y="2395728"/>
            <a:ext cx="2834640" cy="640080"/>
          </a:xfrm>
          <a:prstGeom prst="rect">
            <a:avLst/>
          </a:prstGeom>
          <a:noFill/>
          <a:ln/>
        </p:spPr>
        <p:txBody>
          <a:bodyPr wrap="square" lIns="0" tIns="0" rIns="0" bIns="0" rtlCol="0" anchor="t"/>
          <a:lstStyle/>
          <a:p>
            <a:pPr indent="0" marL="0">
              <a:buNone/>
            </a:pPr>
            <a:r>
              <a:rPr lang="en-US" sz="1400" dirty="0">
                <a:solidFill>
                  <a:srgbClr val="5B6B63"/>
                </a:solidFill>
                <a:latin typeface="Calibri" pitchFamily="34" charset="0"/>
                <a:ea typeface="Calibri" pitchFamily="34" charset="-122"/>
                <a:cs typeface="Calibri" pitchFamily="34" charset="-120"/>
              </a:rPr>
              <a:t>paid for 5 kWh — while the buyer paid only 1</a:t>
            </a:r>
            <a:endParaRPr lang="en-US" sz="1400" dirty="0"/>
          </a:p>
        </p:txBody>
      </p:sp>
      <p:sp>
        <p:nvSpPr>
          <p:cNvPr id="9" name="Text 7"/>
          <p:cNvSpPr txBox="1"/>
          <p:nvPr/>
        </p:nvSpPr>
        <p:spPr>
          <a:xfrm>
            <a:off x="868680" y="3337560"/>
            <a:ext cx="4846320" cy="25603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Paid twice: at production and at sale</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Minting pays 5–10× the market price</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Paid even for energy you use yourself</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Money prints itself with every sunny hour</a:t>
            </a:r>
            <a:endParaRPr lang="en-US" sz="1500" dirty="0"/>
          </a:p>
        </p:txBody>
      </p:sp>
      <p:sp>
        <p:nvSpPr>
          <p:cNvPr id="10" name="Shape 8"/>
          <p:cNvSpPr/>
          <p:nvPr/>
        </p:nvSpPr>
        <p:spPr>
          <a:xfrm>
            <a:off x="6217920" y="1600200"/>
            <a:ext cx="5394960" cy="4297680"/>
          </a:xfrm>
          <a:prstGeom prst="roundRect">
            <a:avLst>
              <a:gd name="adj" fmla="val 2553"/>
            </a:avLst>
          </a:prstGeom>
          <a:solidFill>
            <a:srgbClr val="EEF5E6"/>
          </a:solidFill>
          <a:ln w="12700">
            <a:solidFill>
              <a:srgbClr val="EEF5E6"/>
            </a:solidFill>
            <a:prstDash val="solid"/>
          </a:ln>
        </p:spPr>
      </p:sp>
      <p:sp>
        <p:nvSpPr>
          <p:cNvPr id="11" name="Text 9"/>
          <p:cNvSpPr txBox="1"/>
          <p:nvPr/>
        </p:nvSpPr>
        <p:spPr>
          <a:xfrm>
            <a:off x="6492240" y="1783080"/>
            <a:ext cx="4937760" cy="411480"/>
          </a:xfrm>
          <a:prstGeom prst="rect">
            <a:avLst/>
          </a:prstGeom>
          <a:noFill/>
          <a:ln/>
        </p:spPr>
        <p:txBody>
          <a:bodyPr wrap="square" lIns="0" tIns="0" rIns="0" bIns="0" rtlCol="0" anchor="t"/>
          <a:lstStyle/>
          <a:p>
            <a:pPr indent="0" marL="0">
              <a:buNone/>
            </a:pPr>
            <a:r>
              <a:rPr lang="en-US" sz="1900" b="1" dirty="0">
                <a:solidFill>
                  <a:srgbClr val="3E8E41"/>
                </a:solidFill>
                <a:latin typeface="Cambria" pitchFamily="34" charset="0"/>
                <a:ea typeface="Cambria" pitchFamily="34" charset="-122"/>
                <a:cs typeface="Cambria" pitchFamily="34" charset="-120"/>
              </a:rPr>
              <a:t>New: two separate things</a:t>
            </a:r>
            <a:endParaRPr lang="en-US" sz="1900" dirty="0"/>
          </a:p>
        </p:txBody>
      </p:sp>
      <p:sp>
        <p:nvSpPr>
          <p:cNvPr id="12" name="Shape 10"/>
          <p:cNvSpPr/>
          <p:nvPr/>
        </p:nvSpPr>
        <p:spPr>
          <a:xfrm>
            <a:off x="6492240" y="2377440"/>
            <a:ext cx="640080" cy="640080"/>
          </a:xfrm>
          <a:prstGeom prst="ellipse">
            <a:avLst/>
          </a:prstGeom>
          <a:solidFill>
            <a:srgbClr val="F2A900"/>
          </a:solidFill>
          <a:ln w="12700">
            <a:solidFill>
              <a:srgbClr val="F2A900"/>
            </a:solidFill>
            <a:prstDash val="solid"/>
          </a:ln>
        </p:spPr>
      </p:sp>
      <p:pic>
        <p:nvPicPr>
          <p:cNvPr id="13" name="Image 0" descr="preencoded.png">    </p:cNvPr>
          <p:cNvPicPr>
            <a:picLocks noChangeAspect="1"/>
          </p:cNvPicPr>
          <p:nvPr/>
        </p:nvPicPr>
        <p:blipFill>
          <a:blip r:embed="rId1"/>
          <a:stretch>
            <a:fillRect/>
          </a:stretch>
        </p:blipFill>
        <p:spPr>
          <a:xfrm>
            <a:off x="6645859" y="2531059"/>
            <a:ext cx="332842" cy="332842"/>
          </a:xfrm>
          <a:prstGeom prst="rect">
            <a:avLst/>
          </a:prstGeom>
        </p:spPr>
      </p:pic>
      <p:sp>
        <p:nvSpPr>
          <p:cNvPr id="14" name="Text 11"/>
          <p:cNvSpPr txBox="1"/>
          <p:nvPr/>
        </p:nvSpPr>
        <p:spPr>
          <a:xfrm>
            <a:off x="7315200" y="2377440"/>
            <a:ext cx="4114800" cy="32004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At production: a green certificate</a:t>
            </a:r>
            <a:endParaRPr lang="en-US" sz="1600" dirty="0"/>
          </a:p>
        </p:txBody>
      </p:sp>
      <p:sp>
        <p:nvSpPr>
          <p:cNvPr id="15" name="Text 12"/>
          <p:cNvSpPr txBox="1"/>
          <p:nvPr/>
        </p:nvSpPr>
        <p:spPr>
          <a:xfrm>
            <a:off x="7315200" y="2715768"/>
            <a:ext cx="4114800" cy="548640"/>
          </a:xfrm>
          <a:prstGeom prst="rect">
            <a:avLst/>
          </a:prstGeom>
          <a:noFill/>
          <a:ln/>
        </p:spPr>
        <p:txBody>
          <a:bodyPr wrap="square" lIns="0" tIns="0" rIns="0" bIns="0" rtlCol="0" anchor="t"/>
          <a:lstStyle/>
          <a:p>
            <a:pPr indent="0" marL="0">
              <a:buNone/>
            </a:pPr>
            <a:r>
              <a:rPr lang="en-US" sz="1400" dirty="0">
                <a:solidFill>
                  <a:srgbClr val="5B6B63"/>
                </a:solidFill>
                <a:latin typeface="Calibri" pitchFamily="34" charset="0"/>
                <a:ea typeface="Calibri" pitchFamily="34" charset="-122"/>
                <a:cs typeface="Calibri" pitchFamily="34" charset="-120"/>
              </a:rPr>
              <a:t>Who, when, how much, solar or wind. Proof — not money.</a:t>
            </a:r>
            <a:endParaRPr lang="en-US" sz="1400" dirty="0"/>
          </a:p>
        </p:txBody>
      </p:sp>
      <p:sp>
        <p:nvSpPr>
          <p:cNvPr id="16" name="Shape 13"/>
          <p:cNvSpPr/>
          <p:nvPr/>
        </p:nvSpPr>
        <p:spPr>
          <a:xfrm>
            <a:off x="6492240" y="3611880"/>
            <a:ext cx="640080" cy="640080"/>
          </a:xfrm>
          <a:prstGeom prst="ellipse">
            <a:avLst/>
          </a:prstGeom>
          <a:solidFill>
            <a:srgbClr val="3E8E41"/>
          </a:solidFill>
          <a:ln w="12700">
            <a:solidFill>
              <a:srgbClr val="3E8E41"/>
            </a:solidFill>
            <a:prstDash val="solid"/>
          </a:ln>
        </p:spPr>
      </p:sp>
      <p:pic>
        <p:nvPicPr>
          <p:cNvPr id="17" name="Image 1" descr="preencoded.png">    </p:cNvPr>
          <p:cNvPicPr>
            <a:picLocks noChangeAspect="1"/>
          </p:cNvPicPr>
          <p:nvPr/>
        </p:nvPicPr>
        <p:blipFill>
          <a:blip r:embed="rId2"/>
          <a:stretch>
            <a:fillRect/>
          </a:stretch>
        </p:blipFill>
        <p:spPr>
          <a:xfrm>
            <a:off x="6645859" y="3765499"/>
            <a:ext cx="332842" cy="332842"/>
          </a:xfrm>
          <a:prstGeom prst="rect">
            <a:avLst/>
          </a:prstGeom>
        </p:spPr>
      </p:pic>
      <p:sp>
        <p:nvSpPr>
          <p:cNvPr id="18" name="Text 14"/>
          <p:cNvSpPr txBox="1"/>
          <p:nvPr/>
        </p:nvSpPr>
        <p:spPr>
          <a:xfrm>
            <a:off x="7315200" y="3611880"/>
            <a:ext cx="4114800" cy="32004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At sale: TEC changes hands</a:t>
            </a:r>
            <a:endParaRPr lang="en-US" sz="1600" dirty="0"/>
          </a:p>
        </p:txBody>
      </p:sp>
      <p:sp>
        <p:nvSpPr>
          <p:cNvPr id="19" name="Text 15"/>
          <p:cNvSpPr txBox="1"/>
          <p:nvPr/>
        </p:nvSpPr>
        <p:spPr>
          <a:xfrm>
            <a:off x="7315200" y="3950208"/>
            <a:ext cx="4114800" cy="548640"/>
          </a:xfrm>
          <a:prstGeom prst="rect">
            <a:avLst/>
          </a:prstGeom>
          <a:noFill/>
          <a:ln/>
        </p:spPr>
        <p:txBody>
          <a:bodyPr wrap="square" lIns="0" tIns="0" rIns="0" bIns="0" rtlCol="0" anchor="t"/>
          <a:lstStyle/>
          <a:p>
            <a:pPr indent="0" marL="0">
              <a:buNone/>
            </a:pPr>
            <a:r>
              <a:rPr lang="en-US" sz="1400" dirty="0">
                <a:solidFill>
                  <a:srgbClr val="5B6B63"/>
                </a:solidFill>
                <a:latin typeface="Calibri" pitchFamily="34" charset="0"/>
                <a:ea typeface="Calibri" pitchFamily="34" charset="-122"/>
                <a:cs typeface="Calibri" pitchFamily="34" charset="-120"/>
              </a:rPr>
              <a:t>Only when energy is actually sold or bought.</a:t>
            </a:r>
            <a:endParaRPr lang="en-US" sz="1400" dirty="0"/>
          </a:p>
        </p:txBody>
      </p:sp>
      <p:sp>
        <p:nvSpPr>
          <p:cNvPr id="20" name="Shape 16"/>
          <p:cNvSpPr/>
          <p:nvPr/>
        </p:nvSpPr>
        <p:spPr>
          <a:xfrm>
            <a:off x="6492240" y="4846320"/>
            <a:ext cx="640080" cy="640080"/>
          </a:xfrm>
          <a:prstGeom prst="ellipse">
            <a:avLst/>
          </a:prstGeom>
          <a:solidFill>
            <a:srgbClr val="2F6690"/>
          </a:solidFill>
          <a:ln w="12700">
            <a:solidFill>
              <a:srgbClr val="2F6690"/>
            </a:solidFill>
            <a:prstDash val="solid"/>
          </a:ln>
        </p:spPr>
      </p:sp>
      <p:pic>
        <p:nvPicPr>
          <p:cNvPr id="21" name="Image 2" descr="preencoded.png">    </p:cNvPr>
          <p:cNvPicPr>
            <a:picLocks noChangeAspect="1"/>
          </p:cNvPicPr>
          <p:nvPr/>
        </p:nvPicPr>
        <p:blipFill>
          <a:blip r:embed="rId3"/>
          <a:stretch>
            <a:fillRect/>
          </a:stretch>
        </p:blipFill>
        <p:spPr>
          <a:xfrm>
            <a:off x="6645859" y="4999939"/>
            <a:ext cx="332842" cy="332842"/>
          </a:xfrm>
          <a:prstGeom prst="rect">
            <a:avLst/>
          </a:prstGeom>
        </p:spPr>
      </p:pic>
      <p:sp>
        <p:nvSpPr>
          <p:cNvPr id="22" name="Text 17"/>
          <p:cNvSpPr txBox="1"/>
          <p:nvPr/>
        </p:nvSpPr>
        <p:spPr>
          <a:xfrm>
            <a:off x="7315200" y="4846320"/>
            <a:ext cx="4114800" cy="32004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Using your own energy</a:t>
            </a:r>
            <a:endParaRPr lang="en-US" sz="1600" dirty="0"/>
          </a:p>
        </p:txBody>
      </p:sp>
      <p:sp>
        <p:nvSpPr>
          <p:cNvPr id="23" name="Text 18"/>
          <p:cNvSpPr txBox="1"/>
          <p:nvPr/>
        </p:nvSpPr>
        <p:spPr>
          <a:xfrm>
            <a:off x="7315200" y="5184648"/>
            <a:ext cx="4114800" cy="548640"/>
          </a:xfrm>
          <a:prstGeom prst="rect">
            <a:avLst/>
          </a:prstGeom>
          <a:noFill/>
          <a:ln/>
        </p:spPr>
        <p:txBody>
          <a:bodyPr wrap="square" lIns="0" tIns="0" rIns="0" bIns="0" rtlCol="0" anchor="t"/>
          <a:lstStyle/>
          <a:p>
            <a:pPr indent="0" marL="0">
              <a:buNone/>
            </a:pPr>
            <a:r>
              <a:rPr lang="en-US" sz="1400" dirty="0">
                <a:solidFill>
                  <a:srgbClr val="5B6B63"/>
                </a:solidFill>
                <a:latin typeface="Calibri" pitchFamily="34" charset="0"/>
                <a:ea typeface="Calibri" pitchFamily="34" charset="-122"/>
                <a:cs typeface="Calibri" pitchFamily="34" charset="-120"/>
              </a:rPr>
              <a:t>Moves no money — your gain is the import you avoided.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3 · GETTING PAID</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Certificates follow the energy</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949440" cy="914400"/>
        </p:xfrm>
        <a:graphic>
          <a:graphicData uri="http://schemas.openxmlformats.org/drawingml/2006/table">
            <a:tbl>
              <a:tblPr/>
              <a:tblGrid>
                <a:gridCol w="3017520"/>
                <a:gridCol w="3931920"/>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Energy event</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1F4D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happens to its certificate</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1F4D2B"/>
                    </a:solidFill>
                  </a:tcPr>
                </a:tc>
              </a:tr>
              <a:tr h="475488">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Produced</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Issued to the producer or prosumer</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Used by the producer itself</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6"/>
                    </a:solidFill>
                  </a:tcPr>
                </a:tc>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Issued and retired at once</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6"/>
                    </a:solidFill>
                  </a:tcPr>
                </a:tc>
              </a:tr>
              <a:tr h="475488">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Sold (auction or marketplace)</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Transferred to the buyer</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Consumed</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6"/>
                    </a:solidFill>
                  </a:tcPr>
                </a:tc>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Retired — "this green energy was used"</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6"/>
                    </a:solidFill>
                  </a:tcPr>
                </a:tc>
              </a:tr>
              <a:tr h="475488">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Lost to storage decay</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Retired as a loss</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Exported to the utility</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6"/>
                    </a:solidFill>
                  </a:tcPr>
                </a:tc>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Handed to the utility</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6"/>
                    </a:solidFill>
                  </a:tcPr>
                </a:tc>
              </a:tr>
              <a:tr h="475488">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Imported from the utility</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None — it is "grey" energy</a:t>
                      </a:r>
                      <a:endParaRPr lang="en-US" sz="140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r>
            </a:tbl>
          </a:graphicData>
        </a:graphic>
      </p:graphicFrame>
      <p:sp>
        <p:nvSpPr>
          <p:cNvPr id="6" name="Shape 3"/>
          <p:cNvSpPr/>
          <p:nvPr/>
        </p:nvSpPr>
        <p:spPr>
          <a:xfrm>
            <a:off x="7863840" y="1600200"/>
            <a:ext cx="3749040" cy="3840480"/>
          </a:xfrm>
          <a:prstGeom prst="roundRect">
            <a:avLst>
              <a:gd name="adj" fmla="val 2927"/>
            </a:avLst>
          </a:prstGeom>
          <a:solidFill>
            <a:srgbClr val="FDF3D6"/>
          </a:solidFill>
          <a:ln w="12700">
            <a:solidFill>
              <a:srgbClr val="FDF3D6"/>
            </a:solidFill>
            <a:prstDash val="solid"/>
          </a:ln>
        </p:spPr>
      </p:sp>
      <p:sp>
        <p:nvSpPr>
          <p:cNvPr id="7" name="Text 4"/>
          <p:cNvSpPr txBox="1"/>
          <p:nvPr/>
        </p:nvSpPr>
        <p:spPr>
          <a:xfrm>
            <a:off x="8138160" y="1783080"/>
            <a:ext cx="3291840" cy="365760"/>
          </a:xfrm>
          <a:prstGeom prst="rect">
            <a:avLst/>
          </a:prstGeom>
          <a:noFill/>
          <a:ln/>
        </p:spPr>
        <p:txBody>
          <a:bodyPr wrap="square" lIns="0" tIns="0" rIns="0" bIns="0" rtlCol="0" anchor="t"/>
          <a:lstStyle/>
          <a:p>
            <a:pPr indent="0" marL="0">
              <a:buNone/>
            </a:pPr>
            <a:r>
              <a:rPr lang="en-US" sz="1500" b="1" dirty="0">
                <a:solidFill>
                  <a:srgbClr val="5B6B63"/>
                </a:solidFill>
                <a:latin typeface="Calibri" pitchFamily="34" charset="0"/>
                <a:ea typeface="Calibri" pitchFamily="34" charset="-122"/>
                <a:cs typeface="Calibri" pitchFamily="34" charset="-120"/>
              </a:rPr>
              <a:t>Green share</a:t>
            </a:r>
            <a:endParaRPr lang="en-US" sz="1500" dirty="0"/>
          </a:p>
        </p:txBody>
      </p:sp>
      <p:sp>
        <p:nvSpPr>
          <p:cNvPr id="8" name="Text 5"/>
          <p:cNvSpPr txBox="1"/>
          <p:nvPr/>
        </p:nvSpPr>
        <p:spPr>
          <a:xfrm>
            <a:off x="8138160" y="2148840"/>
            <a:ext cx="3291840" cy="1097280"/>
          </a:xfrm>
          <a:prstGeom prst="rect">
            <a:avLst/>
          </a:prstGeom>
          <a:noFill/>
          <a:ln/>
        </p:spPr>
        <p:txBody>
          <a:bodyPr wrap="square" lIns="0" tIns="0" rIns="0" bIns="0" rtlCol="0" anchor="t"/>
          <a:lstStyle/>
          <a:p>
            <a:pPr indent="0" marL="0">
              <a:buNone/>
            </a:pPr>
            <a:r>
              <a:rPr lang="en-US" sz="6600" b="1" dirty="0">
                <a:solidFill>
                  <a:srgbClr val="3E8E41"/>
                </a:solidFill>
                <a:latin typeface="Cambria" pitchFamily="34" charset="0"/>
                <a:ea typeface="Cambria" pitchFamily="34" charset="-122"/>
                <a:cs typeface="Cambria" pitchFamily="34" charset="-120"/>
              </a:rPr>
              <a:t>78%</a:t>
            </a:r>
            <a:endParaRPr lang="en-US" sz="6600" dirty="0"/>
          </a:p>
        </p:txBody>
      </p:sp>
      <p:sp>
        <p:nvSpPr>
          <p:cNvPr id="9" name="Text 6"/>
          <p:cNvSpPr txBox="1"/>
          <p:nvPr/>
        </p:nvSpPr>
        <p:spPr>
          <a:xfrm>
            <a:off x="8138160" y="3291840"/>
            <a:ext cx="3200400" cy="1097280"/>
          </a:xfrm>
          <a:prstGeom prst="rect">
            <a:avLst/>
          </a:prstGeom>
          <a:noFill/>
          <a:ln/>
        </p:spPr>
        <p:txBody>
          <a:bodyPr wrap="square" lIns="0" tIns="0" rIns="0" bIns="0" rtlCol="0" anchor="t"/>
          <a:lstStyle/>
          <a:p>
            <a:pPr indent="0" marL="0">
              <a:buNone/>
            </a:pPr>
            <a:r>
              <a:rPr lang="en-US" sz="1400" dirty="0">
                <a:solidFill>
                  <a:srgbClr val="1B2A21"/>
                </a:solidFill>
                <a:latin typeface="Calibri" pitchFamily="34" charset="0"/>
                <a:ea typeface="Calibri" pitchFamily="34" charset="-122"/>
                <a:cs typeface="Calibri" pitchFamily="34" charset="-120"/>
              </a:rPr>
              <a:t>of this household's energy was green: 12 kWh solar, 4 kWh wind, 4.5 kWh grey (example).</a:t>
            </a:r>
            <a:endParaRPr lang="en-US" sz="1400" dirty="0"/>
          </a:p>
        </p:txBody>
      </p:sp>
      <p:sp>
        <p:nvSpPr>
          <p:cNvPr id="10" name="Text 7"/>
          <p:cNvSpPr txBox="1"/>
          <p:nvPr/>
        </p:nvSpPr>
        <p:spPr>
          <a:xfrm>
            <a:off x="8138160" y="4526280"/>
            <a:ext cx="3200400" cy="731520"/>
          </a:xfrm>
          <a:prstGeom prst="rect">
            <a:avLst/>
          </a:prstGeom>
          <a:noFill/>
          <a:ln/>
        </p:spPr>
        <p:txBody>
          <a:bodyPr wrap="square" lIns="0" tIns="0" rIns="0" bIns="0" rtlCol="0" anchor="t"/>
          <a:lstStyle/>
          <a:p>
            <a:pPr indent="0" marL="0">
              <a:buNone/>
            </a:pPr>
            <a:r>
              <a:rPr lang="en-US" sz="1300" i="1" dirty="0">
                <a:solidFill>
                  <a:srgbClr val="5B6B63"/>
                </a:solidFill>
                <a:latin typeface="Calibri" pitchFamily="34" charset="0"/>
                <a:ea typeface="Calibri" pitchFamily="34" charset="-122"/>
                <a:cs typeface="Calibri" pitchFamily="34" charset="-120"/>
              </a:rPr>
              <a:t>Shown per household and for the whole microgrid.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4 · PRICES: THE BAND</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Why trading locally makes sense</a:t>
            </a:r>
            <a:endParaRPr lang="en-US" sz="3200" dirty="0"/>
          </a:p>
        </p:txBody>
      </p:sp>
      <p:sp>
        <p:nvSpPr>
          <p:cNvPr id="5" name="Shape 3"/>
          <p:cNvSpPr/>
          <p:nvPr/>
        </p:nvSpPr>
        <p:spPr>
          <a:xfrm>
            <a:off x="1097280" y="2103120"/>
            <a:ext cx="2926080" cy="3108960"/>
          </a:xfrm>
          <a:prstGeom prst="rect">
            <a:avLst/>
          </a:prstGeom>
          <a:solidFill>
            <a:srgbClr val="EEF5E6"/>
          </a:solidFill>
          <a:ln w="12700">
            <a:solidFill>
              <a:srgbClr val="EEF5E6"/>
            </a:solidFill>
            <a:prstDash val="solid"/>
          </a:ln>
        </p:spPr>
      </p:sp>
      <p:sp>
        <p:nvSpPr>
          <p:cNvPr id="6" name="Shape 4"/>
          <p:cNvSpPr/>
          <p:nvPr/>
        </p:nvSpPr>
        <p:spPr>
          <a:xfrm>
            <a:off x="822960" y="2103120"/>
            <a:ext cx="3474720" cy="0"/>
          </a:xfrm>
          <a:prstGeom prst="line">
            <a:avLst/>
          </a:prstGeom>
          <a:noFill/>
          <a:ln w="38100">
            <a:solidFill>
              <a:srgbClr val="C0392B"/>
            </a:solidFill>
            <a:prstDash val="solid"/>
          </a:ln>
        </p:spPr>
      </p:sp>
      <p:sp>
        <p:nvSpPr>
          <p:cNvPr id="7" name="Shape 5"/>
          <p:cNvSpPr/>
          <p:nvPr/>
        </p:nvSpPr>
        <p:spPr>
          <a:xfrm>
            <a:off x="822960" y="5212080"/>
            <a:ext cx="3474720" cy="0"/>
          </a:xfrm>
          <a:prstGeom prst="line">
            <a:avLst/>
          </a:prstGeom>
          <a:noFill/>
          <a:ln w="38100">
            <a:solidFill>
              <a:srgbClr val="2F6690"/>
            </a:solidFill>
            <a:prstDash val="solid"/>
          </a:ln>
        </p:spPr>
      </p:sp>
      <p:sp>
        <p:nvSpPr>
          <p:cNvPr id="8" name="Text 6"/>
          <p:cNvSpPr txBox="1"/>
          <p:nvPr/>
        </p:nvSpPr>
        <p:spPr>
          <a:xfrm>
            <a:off x="4434840" y="1920240"/>
            <a:ext cx="2194560" cy="365760"/>
          </a:xfrm>
          <a:prstGeom prst="rect">
            <a:avLst/>
          </a:prstGeom>
          <a:noFill/>
          <a:ln/>
        </p:spPr>
        <p:txBody>
          <a:bodyPr wrap="square" lIns="0" tIns="0" rIns="0" bIns="0" rtlCol="0" anchor="t"/>
          <a:lstStyle/>
          <a:p>
            <a:pPr indent="0" marL="0">
              <a:buNone/>
            </a:pPr>
            <a:r>
              <a:rPr lang="en-US" sz="1800" b="1" dirty="0">
                <a:solidFill>
                  <a:srgbClr val="C0392B"/>
                </a:solidFill>
                <a:latin typeface="Calibri" pitchFamily="34" charset="0"/>
                <a:ea typeface="Calibri" pitchFamily="34" charset="-122"/>
                <a:cs typeface="Calibri" pitchFamily="34" charset="-120"/>
              </a:rPr>
              <a:t>Ceiling  0.30</a:t>
            </a:r>
            <a:endParaRPr lang="en-US" sz="1800" dirty="0"/>
          </a:p>
        </p:txBody>
      </p:sp>
      <p:sp>
        <p:nvSpPr>
          <p:cNvPr id="9" name="Text 7"/>
          <p:cNvSpPr txBox="1"/>
          <p:nvPr/>
        </p:nvSpPr>
        <p:spPr>
          <a:xfrm>
            <a:off x="4434840" y="5029200"/>
            <a:ext cx="2194560" cy="365760"/>
          </a:xfrm>
          <a:prstGeom prst="rect">
            <a:avLst/>
          </a:prstGeom>
          <a:noFill/>
          <a:ln/>
        </p:spPr>
        <p:txBody>
          <a:bodyPr wrap="square" lIns="0" tIns="0" rIns="0" bIns="0" rtlCol="0" anchor="t"/>
          <a:lstStyle/>
          <a:p>
            <a:pPr indent="0" marL="0">
              <a:buNone/>
            </a:pPr>
            <a:r>
              <a:rPr lang="en-US" sz="1800" b="1" dirty="0">
                <a:solidFill>
                  <a:srgbClr val="2F6690"/>
                </a:solidFill>
                <a:latin typeface="Calibri" pitchFamily="34" charset="0"/>
                <a:ea typeface="Calibri" pitchFamily="34" charset="-122"/>
                <a:cs typeface="Calibri" pitchFamily="34" charset="-120"/>
              </a:rPr>
              <a:t>Floor  0.05</a:t>
            </a:r>
            <a:endParaRPr lang="en-US" sz="1800" dirty="0"/>
          </a:p>
        </p:txBody>
      </p:sp>
      <p:sp>
        <p:nvSpPr>
          <p:cNvPr id="10" name="Text 8"/>
          <p:cNvSpPr txBox="1"/>
          <p:nvPr/>
        </p:nvSpPr>
        <p:spPr>
          <a:xfrm>
            <a:off x="1280160" y="3246120"/>
            <a:ext cx="2560320" cy="822960"/>
          </a:xfrm>
          <a:prstGeom prst="rect">
            <a:avLst/>
          </a:prstGeom>
          <a:noFill/>
          <a:ln/>
        </p:spPr>
        <p:txBody>
          <a:bodyPr wrap="square" lIns="0" tIns="0" rIns="0" bIns="0" rtlCol="0" anchor="ctr"/>
          <a:lstStyle/>
          <a:p>
            <a:pPr algn="ctr" indent="0" marL="0">
              <a:buNone/>
            </a:pPr>
            <a:r>
              <a:rPr lang="en-US" sz="1500" b="1" dirty="0">
                <a:solidFill>
                  <a:srgbClr val="1F4D2B"/>
                </a:solidFill>
                <a:latin typeface="Calibri" pitchFamily="34" charset="0"/>
                <a:ea typeface="Calibri" pitchFamily="34" charset="-122"/>
                <a:cs typeface="Calibri" pitchFamily="34" charset="-120"/>
              </a:rPr>
              <a:t>Local price moves here with supply and demand</a:t>
            </a:r>
            <a:endParaRPr lang="en-US" sz="1500" dirty="0"/>
          </a:p>
        </p:txBody>
      </p:sp>
      <p:sp>
        <p:nvSpPr>
          <p:cNvPr id="11" name="Text 9"/>
          <p:cNvSpPr txBox="1"/>
          <p:nvPr/>
        </p:nvSpPr>
        <p:spPr>
          <a:xfrm>
            <a:off x="1097280" y="5349240"/>
            <a:ext cx="2926080" cy="274320"/>
          </a:xfrm>
          <a:prstGeom prst="rect">
            <a:avLst/>
          </a:prstGeom>
          <a:noFill/>
          <a:ln/>
        </p:spPr>
        <p:txBody>
          <a:bodyPr wrap="square" lIns="0" tIns="0" rIns="0" bIns="0" rtlCol="0" anchor="t"/>
          <a:lstStyle/>
          <a:p>
            <a:pPr algn="ctr" indent="0" marL="0">
              <a:buNone/>
            </a:pPr>
            <a:r>
              <a:rPr lang="en-US" sz="1200" dirty="0">
                <a:solidFill>
                  <a:srgbClr val="5B6B63"/>
                </a:solidFill>
                <a:latin typeface="Calibri" pitchFamily="34" charset="0"/>
                <a:ea typeface="Calibri" pitchFamily="34" charset="-122"/>
                <a:cs typeface="Calibri" pitchFamily="34" charset="-120"/>
              </a:rPr>
              <a:t>TEC per kWh</a:t>
            </a:r>
            <a:endParaRPr lang="en-US" sz="1200" dirty="0"/>
          </a:p>
        </p:txBody>
      </p:sp>
      <p:sp>
        <p:nvSpPr>
          <p:cNvPr id="12" name="Shape 10"/>
          <p:cNvSpPr/>
          <p:nvPr/>
        </p:nvSpPr>
        <p:spPr>
          <a:xfrm>
            <a:off x="6858000" y="1920240"/>
            <a:ext cx="640080" cy="640080"/>
          </a:xfrm>
          <a:prstGeom prst="ellipse">
            <a:avLst/>
          </a:prstGeom>
          <a:solidFill>
            <a:srgbClr val="2F6690"/>
          </a:solidFill>
          <a:ln w="12700">
            <a:solidFill>
              <a:srgbClr val="2F6690"/>
            </a:solidFill>
            <a:prstDash val="solid"/>
          </a:ln>
        </p:spPr>
      </p:sp>
      <p:pic>
        <p:nvPicPr>
          <p:cNvPr id="13" name="Image 0" descr="preencoded.png">    </p:cNvPr>
          <p:cNvPicPr>
            <a:picLocks noChangeAspect="1"/>
          </p:cNvPicPr>
          <p:nvPr/>
        </p:nvPicPr>
        <p:blipFill>
          <a:blip r:embed="rId1"/>
          <a:stretch>
            <a:fillRect/>
          </a:stretch>
        </p:blipFill>
        <p:spPr>
          <a:xfrm>
            <a:off x="7011619" y="2073859"/>
            <a:ext cx="332842" cy="332842"/>
          </a:xfrm>
          <a:prstGeom prst="rect">
            <a:avLst/>
          </a:prstGeom>
        </p:spPr>
      </p:pic>
      <p:sp>
        <p:nvSpPr>
          <p:cNvPr id="14" name="Text 11"/>
          <p:cNvSpPr txBox="1"/>
          <p:nvPr/>
        </p:nvSpPr>
        <p:spPr>
          <a:xfrm>
            <a:off x="7680960" y="1920240"/>
            <a:ext cx="3931920" cy="32004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Buyers never pay more than the ceiling</a:t>
            </a:r>
            <a:endParaRPr lang="en-US" sz="1600" dirty="0"/>
          </a:p>
        </p:txBody>
      </p:sp>
      <p:sp>
        <p:nvSpPr>
          <p:cNvPr id="15" name="Text 12"/>
          <p:cNvSpPr txBox="1"/>
          <p:nvPr/>
        </p:nvSpPr>
        <p:spPr>
          <a:xfrm>
            <a:off x="7680960" y="2258568"/>
            <a:ext cx="3931920" cy="365760"/>
          </a:xfrm>
          <a:prstGeom prst="rect">
            <a:avLst/>
          </a:prstGeom>
          <a:noFill/>
          <a:ln/>
        </p:spPr>
        <p:txBody>
          <a:bodyPr wrap="square" lIns="0" tIns="0" rIns="0" bIns="0" rtlCol="0" anchor="t"/>
          <a:lstStyle/>
          <a:p>
            <a:pPr indent="0" marL="0">
              <a:buNone/>
            </a:pPr>
            <a:r>
              <a:rPr lang="en-US" sz="1400" dirty="0">
                <a:solidFill>
                  <a:srgbClr val="5B6B63"/>
                </a:solidFill>
                <a:latin typeface="Calibri" pitchFamily="34" charset="0"/>
                <a:ea typeface="Calibri" pitchFamily="34" charset="-122"/>
                <a:cs typeface="Calibri" pitchFamily="34" charset="-120"/>
              </a:rPr>
              <a:t>…because the utility sells at 0.30 anyway.</a:t>
            </a:r>
            <a:endParaRPr lang="en-US" sz="1400" dirty="0"/>
          </a:p>
        </p:txBody>
      </p:sp>
      <p:sp>
        <p:nvSpPr>
          <p:cNvPr id="16" name="Shape 13"/>
          <p:cNvSpPr/>
          <p:nvPr/>
        </p:nvSpPr>
        <p:spPr>
          <a:xfrm>
            <a:off x="6858000" y="3108960"/>
            <a:ext cx="640080" cy="640080"/>
          </a:xfrm>
          <a:prstGeom prst="ellipse">
            <a:avLst/>
          </a:prstGeom>
          <a:solidFill>
            <a:srgbClr val="F2A900"/>
          </a:solidFill>
          <a:ln w="12700">
            <a:solidFill>
              <a:srgbClr val="F2A900"/>
            </a:solidFill>
            <a:prstDash val="solid"/>
          </a:ln>
        </p:spPr>
      </p:sp>
      <p:pic>
        <p:nvPicPr>
          <p:cNvPr id="17" name="Image 1" descr="preencoded.png">    </p:cNvPr>
          <p:cNvPicPr>
            <a:picLocks noChangeAspect="1"/>
          </p:cNvPicPr>
          <p:nvPr/>
        </p:nvPicPr>
        <p:blipFill>
          <a:blip r:embed="rId2"/>
          <a:stretch>
            <a:fillRect/>
          </a:stretch>
        </p:blipFill>
        <p:spPr>
          <a:xfrm>
            <a:off x="7011619" y="3262579"/>
            <a:ext cx="332842" cy="332842"/>
          </a:xfrm>
          <a:prstGeom prst="rect">
            <a:avLst/>
          </a:prstGeom>
        </p:spPr>
      </p:pic>
      <p:sp>
        <p:nvSpPr>
          <p:cNvPr id="18" name="Text 14"/>
          <p:cNvSpPr txBox="1"/>
          <p:nvPr/>
        </p:nvSpPr>
        <p:spPr>
          <a:xfrm>
            <a:off x="7680960" y="3108960"/>
            <a:ext cx="3931920" cy="32004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Sellers never accept less than the floor</a:t>
            </a:r>
            <a:endParaRPr lang="en-US" sz="1600" dirty="0"/>
          </a:p>
        </p:txBody>
      </p:sp>
      <p:sp>
        <p:nvSpPr>
          <p:cNvPr id="19" name="Text 15"/>
          <p:cNvSpPr txBox="1"/>
          <p:nvPr/>
        </p:nvSpPr>
        <p:spPr>
          <a:xfrm>
            <a:off x="7680960" y="3447288"/>
            <a:ext cx="3931920" cy="365760"/>
          </a:xfrm>
          <a:prstGeom prst="rect">
            <a:avLst/>
          </a:prstGeom>
          <a:noFill/>
          <a:ln/>
        </p:spPr>
        <p:txBody>
          <a:bodyPr wrap="square" lIns="0" tIns="0" rIns="0" bIns="0" rtlCol="0" anchor="t"/>
          <a:lstStyle/>
          <a:p>
            <a:pPr indent="0" marL="0">
              <a:buNone/>
            </a:pPr>
            <a:r>
              <a:rPr lang="en-US" sz="1400" dirty="0">
                <a:solidFill>
                  <a:srgbClr val="5B6B63"/>
                </a:solidFill>
                <a:latin typeface="Calibri" pitchFamily="34" charset="0"/>
                <a:ea typeface="Calibri" pitchFamily="34" charset="-122"/>
                <a:cs typeface="Calibri" pitchFamily="34" charset="-120"/>
              </a:rPr>
              <a:t>…because the utility buys at 0.05 anyway.</a:t>
            </a:r>
            <a:endParaRPr lang="en-US" sz="1400" dirty="0"/>
          </a:p>
        </p:txBody>
      </p:sp>
      <p:sp>
        <p:nvSpPr>
          <p:cNvPr id="20" name="Shape 16"/>
          <p:cNvSpPr/>
          <p:nvPr/>
        </p:nvSpPr>
        <p:spPr>
          <a:xfrm>
            <a:off x="6858000" y="4297680"/>
            <a:ext cx="640080" cy="640080"/>
          </a:xfrm>
          <a:prstGeom prst="ellipse">
            <a:avLst/>
          </a:prstGeom>
          <a:solidFill>
            <a:srgbClr val="3E8E41"/>
          </a:solidFill>
          <a:ln w="12700">
            <a:solidFill>
              <a:srgbClr val="3E8E41"/>
            </a:solidFill>
            <a:prstDash val="solid"/>
          </a:ln>
        </p:spPr>
      </p:sp>
      <p:pic>
        <p:nvPicPr>
          <p:cNvPr id="21" name="Image 2" descr="preencoded.png">    </p:cNvPr>
          <p:cNvPicPr>
            <a:picLocks noChangeAspect="1"/>
          </p:cNvPicPr>
          <p:nvPr/>
        </p:nvPicPr>
        <p:blipFill>
          <a:blip r:embed="rId3"/>
          <a:stretch>
            <a:fillRect/>
          </a:stretch>
        </p:blipFill>
        <p:spPr>
          <a:xfrm>
            <a:off x="7011619" y="4451299"/>
            <a:ext cx="332842" cy="332842"/>
          </a:xfrm>
          <a:prstGeom prst="rect">
            <a:avLst/>
          </a:prstGeom>
        </p:spPr>
      </p:pic>
      <p:sp>
        <p:nvSpPr>
          <p:cNvPr id="22" name="Text 17"/>
          <p:cNvSpPr txBox="1"/>
          <p:nvPr/>
        </p:nvSpPr>
        <p:spPr>
          <a:xfrm>
            <a:off x="7680960" y="4297680"/>
            <a:ext cx="3931920" cy="32004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Any local price in between…</a:t>
            </a:r>
            <a:endParaRPr lang="en-US" sz="1600" dirty="0"/>
          </a:p>
        </p:txBody>
      </p:sp>
      <p:sp>
        <p:nvSpPr>
          <p:cNvPr id="23" name="Text 18"/>
          <p:cNvSpPr txBox="1"/>
          <p:nvPr/>
        </p:nvSpPr>
        <p:spPr>
          <a:xfrm>
            <a:off x="7680960" y="4636008"/>
            <a:ext cx="3931920" cy="548640"/>
          </a:xfrm>
          <a:prstGeom prst="rect">
            <a:avLst/>
          </a:prstGeom>
          <a:noFill/>
          <a:ln/>
        </p:spPr>
        <p:txBody>
          <a:bodyPr wrap="square" lIns="0" tIns="0" rIns="0" bIns="0" rtlCol="0" anchor="t"/>
          <a:lstStyle/>
          <a:p>
            <a:pPr indent="0" marL="0">
              <a:buNone/>
            </a:pPr>
            <a:r>
              <a:rPr lang="en-US" sz="1400" dirty="0">
                <a:solidFill>
                  <a:srgbClr val="5B6B63"/>
                </a:solidFill>
                <a:latin typeface="Calibri" pitchFamily="34" charset="0"/>
                <a:ea typeface="Calibri" pitchFamily="34" charset="-122"/>
                <a:cs typeface="Calibri" pitchFamily="34" charset="-120"/>
              </a:rPr>
              <a:t>…is better for BOTH sides than dealing with the utility.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4 · PRICES: THE BAND</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Where 0.05 and 0.30 come from</a:t>
            </a:r>
            <a:endParaRPr lang="en-US" sz="3200" dirty="0"/>
          </a:p>
        </p:txBody>
      </p:sp>
      <p:graphicFrame>
        <p:nvGraphicFramePr>
          <p:cNvPr id="5" name="Chart 0" descr=""/>
          <p:cNvGraphicFramePr/>
          <p:nvPr/>
        </p:nvGraphicFramePr>
        <p:xfrm>
          <a:off x="457200" y="1554480"/>
          <a:ext cx="6035040" cy="27432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58000" y="1600200"/>
            <a:ext cx="4754880" cy="1280160"/>
          </a:xfrm>
          <a:prstGeom prst="roundRect">
            <a:avLst>
              <a:gd name="adj" fmla="val 8571"/>
            </a:avLst>
          </a:prstGeom>
          <a:solidFill>
            <a:srgbClr val="EEF5E6"/>
          </a:solidFill>
          <a:ln w="12700">
            <a:solidFill>
              <a:srgbClr val="EEF5E6"/>
            </a:solidFill>
            <a:prstDash val="solid"/>
          </a:ln>
        </p:spPr>
      </p:sp>
      <p:sp>
        <p:nvSpPr>
          <p:cNvPr id="7" name="Text 4"/>
          <p:cNvSpPr txBox="1"/>
          <p:nvPr/>
        </p:nvSpPr>
        <p:spPr>
          <a:xfrm>
            <a:off x="7132320" y="1737360"/>
            <a:ext cx="4297680" cy="320040"/>
          </a:xfrm>
          <a:prstGeom prst="rect">
            <a:avLst/>
          </a:prstGeom>
          <a:noFill/>
          <a:ln/>
        </p:spPr>
        <p:txBody>
          <a:bodyPr wrap="square" lIns="0" tIns="0" rIns="0" bIns="0" rtlCol="0" anchor="t"/>
          <a:lstStyle/>
          <a:p>
            <a:pPr indent="0" marL="0">
              <a:buNone/>
            </a:pPr>
            <a:r>
              <a:rPr lang="en-US" sz="1600" b="1" dirty="0">
                <a:solidFill>
                  <a:srgbClr val="C0392B"/>
                </a:solidFill>
                <a:latin typeface="Calibri" pitchFamily="34" charset="0"/>
                <a:ea typeface="Calibri" pitchFamily="34" charset="-122"/>
                <a:cs typeface="Calibri" pitchFamily="34" charset="-120"/>
              </a:rPr>
              <a:t>Ceiling (import)</a:t>
            </a:r>
            <a:endParaRPr lang="en-US" sz="1600" dirty="0"/>
          </a:p>
        </p:txBody>
      </p:sp>
      <p:sp>
        <p:nvSpPr>
          <p:cNvPr id="8" name="Text 5"/>
          <p:cNvSpPr txBox="1"/>
          <p:nvPr/>
        </p:nvSpPr>
        <p:spPr>
          <a:xfrm>
            <a:off x="7132320" y="2075688"/>
            <a:ext cx="4297680" cy="2743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wholesale + network + taxes + margin</a:t>
            </a:r>
            <a:endParaRPr lang="en-US" sz="1300" dirty="0"/>
          </a:p>
        </p:txBody>
      </p:sp>
      <p:sp>
        <p:nvSpPr>
          <p:cNvPr id="9" name="Text 6"/>
          <p:cNvSpPr txBox="1"/>
          <p:nvPr/>
        </p:nvSpPr>
        <p:spPr>
          <a:xfrm>
            <a:off x="7132320" y="2377440"/>
            <a:ext cx="4297680" cy="365760"/>
          </a:xfrm>
          <a:prstGeom prst="rect">
            <a:avLst/>
          </a:prstGeom>
          <a:noFill/>
          <a:ln/>
        </p:spPr>
        <p:txBody>
          <a:bodyPr wrap="square" lIns="0" tIns="0" rIns="0" bIns="0" rtlCol="0" anchor="t"/>
          <a:lstStyle/>
          <a:p>
            <a:pPr indent="0" marL="0">
              <a:buNone/>
            </a:pPr>
            <a:r>
              <a:rPr lang="en-US" sz="1500" b="1" dirty="0">
                <a:solidFill>
                  <a:srgbClr val="1B2A21"/>
                </a:solidFill>
                <a:latin typeface="Courier New" pitchFamily="34" charset="0"/>
                <a:ea typeface="Courier New" pitchFamily="34" charset="-122"/>
                <a:cs typeface="Courier New" pitchFamily="34" charset="-120"/>
              </a:rPr>
              <a:t>0.08 + 0.09 + 0.08 + 0.05 = 0.30</a:t>
            </a:r>
            <a:endParaRPr lang="en-US" sz="1500" dirty="0"/>
          </a:p>
        </p:txBody>
      </p:sp>
      <p:sp>
        <p:nvSpPr>
          <p:cNvPr id="10" name="Shape 7"/>
          <p:cNvSpPr/>
          <p:nvPr/>
        </p:nvSpPr>
        <p:spPr>
          <a:xfrm>
            <a:off x="6858000" y="3081528"/>
            <a:ext cx="4754880" cy="1280160"/>
          </a:xfrm>
          <a:prstGeom prst="roundRect">
            <a:avLst>
              <a:gd name="adj" fmla="val 8571"/>
            </a:avLst>
          </a:prstGeom>
          <a:solidFill>
            <a:srgbClr val="EEF5E6"/>
          </a:solidFill>
          <a:ln w="12700">
            <a:solidFill>
              <a:srgbClr val="EEF5E6"/>
            </a:solidFill>
            <a:prstDash val="solid"/>
          </a:ln>
        </p:spPr>
      </p:sp>
      <p:sp>
        <p:nvSpPr>
          <p:cNvPr id="11" name="Text 8"/>
          <p:cNvSpPr txBox="1"/>
          <p:nvPr/>
        </p:nvSpPr>
        <p:spPr>
          <a:xfrm>
            <a:off x="7132320" y="3218688"/>
            <a:ext cx="4297680" cy="320040"/>
          </a:xfrm>
          <a:prstGeom prst="rect">
            <a:avLst/>
          </a:prstGeom>
          <a:noFill/>
          <a:ln/>
        </p:spPr>
        <p:txBody>
          <a:bodyPr wrap="square" lIns="0" tIns="0" rIns="0" bIns="0" rtlCol="0" anchor="t"/>
          <a:lstStyle/>
          <a:p>
            <a:pPr indent="0" marL="0">
              <a:buNone/>
            </a:pPr>
            <a:r>
              <a:rPr lang="en-US" sz="1600" b="1" dirty="0">
                <a:solidFill>
                  <a:srgbClr val="2F6690"/>
                </a:solidFill>
                <a:latin typeface="Calibri" pitchFamily="34" charset="0"/>
                <a:ea typeface="Calibri" pitchFamily="34" charset="-122"/>
                <a:cs typeface="Calibri" pitchFamily="34" charset="-120"/>
              </a:rPr>
              <a:t>Floor (export)</a:t>
            </a:r>
            <a:endParaRPr lang="en-US" sz="1600" dirty="0"/>
          </a:p>
        </p:txBody>
      </p:sp>
      <p:sp>
        <p:nvSpPr>
          <p:cNvPr id="12" name="Text 9"/>
          <p:cNvSpPr txBox="1"/>
          <p:nvPr/>
        </p:nvSpPr>
        <p:spPr>
          <a:xfrm>
            <a:off x="7132320" y="3557016"/>
            <a:ext cx="4297680" cy="2743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wholesale − utility balancing cost</a:t>
            </a:r>
            <a:endParaRPr lang="en-US" sz="1300" dirty="0"/>
          </a:p>
        </p:txBody>
      </p:sp>
      <p:sp>
        <p:nvSpPr>
          <p:cNvPr id="13" name="Text 10"/>
          <p:cNvSpPr txBox="1"/>
          <p:nvPr/>
        </p:nvSpPr>
        <p:spPr>
          <a:xfrm>
            <a:off x="7132320" y="3858768"/>
            <a:ext cx="4297680" cy="365760"/>
          </a:xfrm>
          <a:prstGeom prst="rect">
            <a:avLst/>
          </a:prstGeom>
          <a:noFill/>
          <a:ln/>
        </p:spPr>
        <p:txBody>
          <a:bodyPr wrap="square" lIns="0" tIns="0" rIns="0" bIns="0" rtlCol="0" anchor="t"/>
          <a:lstStyle/>
          <a:p>
            <a:pPr indent="0" marL="0">
              <a:buNone/>
            </a:pPr>
            <a:r>
              <a:rPr lang="en-US" sz="1500" b="1" dirty="0">
                <a:solidFill>
                  <a:srgbClr val="1B2A21"/>
                </a:solidFill>
                <a:latin typeface="Courier New" pitchFamily="34" charset="0"/>
                <a:ea typeface="Courier New" pitchFamily="34" charset="-122"/>
                <a:cs typeface="Courier New" pitchFamily="34" charset="-120"/>
              </a:rPr>
              <a:t>0.08 − 0.03 = 0.05</a:t>
            </a:r>
            <a:endParaRPr lang="en-US" sz="1500" dirty="0"/>
          </a:p>
        </p:txBody>
      </p:sp>
      <p:sp>
        <p:nvSpPr>
          <p:cNvPr id="14" name="Shape 11"/>
          <p:cNvSpPr/>
          <p:nvPr/>
        </p:nvSpPr>
        <p:spPr>
          <a:xfrm>
            <a:off x="6858000" y="4562856"/>
            <a:ext cx="4754880" cy="1280160"/>
          </a:xfrm>
          <a:prstGeom prst="roundRect">
            <a:avLst>
              <a:gd name="adj" fmla="val 8571"/>
            </a:avLst>
          </a:prstGeom>
          <a:solidFill>
            <a:srgbClr val="EEF5E6"/>
          </a:solidFill>
          <a:ln w="12700">
            <a:solidFill>
              <a:srgbClr val="EEF5E6"/>
            </a:solidFill>
            <a:prstDash val="solid"/>
          </a:ln>
        </p:spPr>
      </p:sp>
      <p:sp>
        <p:nvSpPr>
          <p:cNvPr id="15" name="Text 12"/>
          <p:cNvSpPr txBox="1"/>
          <p:nvPr/>
        </p:nvSpPr>
        <p:spPr>
          <a:xfrm>
            <a:off x="7132320" y="4700016"/>
            <a:ext cx="4297680" cy="320040"/>
          </a:xfrm>
          <a:prstGeom prst="rect">
            <a:avLst/>
          </a:prstGeom>
          <a:noFill/>
          <a:ln/>
        </p:spPr>
        <p:txBody>
          <a:bodyPr wrap="square" lIns="0" tIns="0" rIns="0" bIns="0" rtlCol="0" anchor="t"/>
          <a:lstStyle/>
          <a:p>
            <a:pPr indent="0" marL="0">
              <a:buNone/>
            </a:pPr>
            <a:r>
              <a:rPr lang="en-US" sz="1600" b="1" dirty="0">
                <a:solidFill>
                  <a:srgbClr val="3E8E41"/>
                </a:solidFill>
                <a:latin typeface="Calibri" pitchFamily="34" charset="0"/>
                <a:ea typeface="Calibri" pitchFamily="34" charset="-122"/>
                <a:cs typeface="Calibri" pitchFamily="34" charset="-120"/>
              </a:rPr>
              <a:t>Middle of the band</a:t>
            </a:r>
            <a:endParaRPr lang="en-US" sz="1600" dirty="0"/>
          </a:p>
        </p:txBody>
      </p:sp>
      <p:sp>
        <p:nvSpPr>
          <p:cNvPr id="16" name="Text 13"/>
          <p:cNvSpPr txBox="1"/>
          <p:nvPr/>
        </p:nvSpPr>
        <p:spPr>
          <a:xfrm>
            <a:off x="7132320" y="5038344"/>
            <a:ext cx="4297680" cy="2743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(floor + ceiling) / 2</a:t>
            </a:r>
            <a:endParaRPr lang="en-US" sz="1300" dirty="0"/>
          </a:p>
        </p:txBody>
      </p:sp>
      <p:sp>
        <p:nvSpPr>
          <p:cNvPr id="17" name="Text 14"/>
          <p:cNvSpPr txBox="1"/>
          <p:nvPr/>
        </p:nvSpPr>
        <p:spPr>
          <a:xfrm>
            <a:off x="7132320" y="5340096"/>
            <a:ext cx="4297680" cy="365760"/>
          </a:xfrm>
          <a:prstGeom prst="rect">
            <a:avLst/>
          </a:prstGeom>
          <a:noFill/>
          <a:ln/>
        </p:spPr>
        <p:txBody>
          <a:bodyPr wrap="square" lIns="0" tIns="0" rIns="0" bIns="0" rtlCol="0" anchor="t"/>
          <a:lstStyle/>
          <a:p>
            <a:pPr indent="0" marL="0">
              <a:buNone/>
            </a:pPr>
            <a:r>
              <a:rPr lang="en-US" sz="1500" b="1" dirty="0">
                <a:solidFill>
                  <a:srgbClr val="1B2A21"/>
                </a:solidFill>
                <a:latin typeface="Courier New" pitchFamily="34" charset="0"/>
                <a:ea typeface="Courier New" pitchFamily="34" charset="-122"/>
                <a:cs typeface="Courier New" pitchFamily="34" charset="-120"/>
              </a:rPr>
              <a:t>(0.05 + 0.30) / 2 = 0.175</a:t>
            </a:r>
            <a:endParaRPr lang="en-US" sz="1500" dirty="0"/>
          </a:p>
        </p:txBody>
      </p:sp>
      <p:sp>
        <p:nvSpPr>
          <p:cNvPr id="18" name="Text 15"/>
          <p:cNvSpPr txBox="1"/>
          <p:nvPr/>
        </p:nvSpPr>
        <p:spPr>
          <a:xfrm>
            <a:off x="548640" y="4572000"/>
            <a:ext cx="5943600" cy="1371600"/>
          </a:xfrm>
          <a:prstGeom prst="rect">
            <a:avLst/>
          </a:prstGeom>
          <a:noFill/>
          <a:ln/>
        </p:spPr>
        <p:txBody>
          <a:bodyPr wrap="square" lIns="0" tIns="0" rIns="0" bIns="0" rtlCol="0" anchor="t"/>
          <a:lstStyle/>
          <a:p>
            <a:pPr indent="0" marL="0">
              <a:buNone/>
            </a:pPr>
            <a:r>
              <a:rPr lang="en-US" sz="1400" i="1" dirty="0">
                <a:solidFill>
                  <a:srgbClr val="3E8E41"/>
                </a:solidFill>
                <a:latin typeface="Calibri" pitchFamily="34" charset="0"/>
                <a:ea typeface="Calibri" pitchFamily="34" charset="-122"/>
                <a:cs typeface="Calibri" pitchFamily="34" charset="-120"/>
              </a:rPr>
              <a:t>These are the utility's own prices, fixed for the simulation. Real bills are roughly one third energy, one third network, one third taxes. The app refuses to start unless floor &lt; ceiling.</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5 · THE AUCTION</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One fair price every interval</a:t>
            </a:r>
            <a:endParaRPr lang="en-US" sz="3200" dirty="0"/>
          </a:p>
        </p:txBody>
      </p:sp>
      <p:sp>
        <p:nvSpPr>
          <p:cNvPr id="5" name="Shape 3"/>
          <p:cNvSpPr/>
          <p:nvPr/>
        </p:nvSpPr>
        <p:spPr>
          <a:xfrm>
            <a:off x="548640" y="1645920"/>
            <a:ext cx="2606040" cy="2651760"/>
          </a:xfrm>
          <a:prstGeom prst="roundRect">
            <a:avLst>
              <a:gd name="adj" fmla="val 4211"/>
            </a:avLst>
          </a:prstGeom>
          <a:solidFill>
            <a:srgbClr val="EEF5E6"/>
          </a:solidFill>
          <a:ln w="12700">
            <a:solidFill>
              <a:srgbClr val="EEF5E6"/>
            </a:solidFill>
            <a:prstDash val="solid"/>
          </a:ln>
        </p:spPr>
      </p:sp>
      <p:sp>
        <p:nvSpPr>
          <p:cNvPr id="6" name="Shape 4"/>
          <p:cNvSpPr/>
          <p:nvPr/>
        </p:nvSpPr>
        <p:spPr>
          <a:xfrm>
            <a:off x="777240" y="1874520"/>
            <a:ext cx="685800" cy="685800"/>
          </a:xfrm>
          <a:prstGeom prst="ellipse">
            <a:avLst/>
          </a:prstGeom>
          <a:solidFill>
            <a:srgbClr val="1F4D2B"/>
          </a:solidFill>
          <a:ln w="12700">
            <a:solidFill>
              <a:srgbClr val="1F4D2B"/>
            </a:solidFill>
            <a:prstDash val="solid"/>
          </a:ln>
        </p:spPr>
      </p:sp>
      <p:sp>
        <p:nvSpPr>
          <p:cNvPr id="7" name="Text 5"/>
          <p:cNvSpPr txBox="1"/>
          <p:nvPr/>
        </p:nvSpPr>
        <p:spPr>
          <a:xfrm>
            <a:off x="777240" y="1874520"/>
            <a:ext cx="68580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Cambria" pitchFamily="34" charset="0"/>
                <a:ea typeface="Cambria" pitchFamily="34" charset="-122"/>
                <a:cs typeface="Cambria" pitchFamily="34" charset="-120"/>
              </a:rPr>
              <a:t>1</a:t>
            </a:r>
            <a:endParaRPr lang="en-US" sz="1950" dirty="0"/>
          </a:p>
        </p:txBody>
      </p:sp>
      <p:sp>
        <p:nvSpPr>
          <p:cNvPr id="8" name="Text 6"/>
          <p:cNvSpPr txBox="1"/>
          <p:nvPr/>
        </p:nvSpPr>
        <p:spPr>
          <a:xfrm>
            <a:off x="777240" y="2743200"/>
            <a:ext cx="2194560" cy="411480"/>
          </a:xfrm>
          <a:prstGeom prst="rect">
            <a:avLst/>
          </a:prstGeom>
          <a:noFill/>
          <a:ln/>
        </p:spPr>
        <p:txBody>
          <a:bodyPr wrap="square" lIns="0" tIns="0" rIns="0" bIns="0" rtlCol="0" anchor="t"/>
          <a:lstStyle/>
          <a:p>
            <a:pPr indent="0" marL="0">
              <a:buNone/>
            </a:pPr>
            <a:r>
              <a:rPr lang="en-US" sz="2000" b="1" dirty="0">
                <a:solidFill>
                  <a:srgbClr val="1F4D2B"/>
                </a:solidFill>
                <a:latin typeface="Cambria" pitchFamily="34" charset="0"/>
                <a:ea typeface="Cambria" pitchFamily="34" charset="-122"/>
                <a:cs typeface="Cambria" pitchFamily="34" charset="-120"/>
              </a:rPr>
              <a:t>Everyone bids</a:t>
            </a:r>
            <a:endParaRPr lang="en-US" sz="2000" dirty="0"/>
          </a:p>
        </p:txBody>
      </p:sp>
      <p:sp>
        <p:nvSpPr>
          <p:cNvPr id="9" name="Text 7"/>
          <p:cNvSpPr txBox="1"/>
          <p:nvPr/>
        </p:nvSpPr>
        <p:spPr>
          <a:xfrm>
            <a:off x="777240" y="3200400"/>
            <a:ext cx="2194560" cy="1463040"/>
          </a:xfrm>
          <a:prstGeom prst="rect">
            <a:avLst/>
          </a:prstGeom>
          <a:noFill/>
          <a:ln/>
        </p:spPr>
        <p:txBody>
          <a:bodyPr wrap="square" lIns="0" tIns="0" rIns="0" bIns="0" rtlCol="0" anchor="t"/>
          <a:lstStyle/>
          <a:p>
            <a:pPr indent="0" marL="0">
              <a:buNone/>
            </a:pPr>
            <a:r>
              <a:rPr lang="en-US" sz="1400" dirty="0">
                <a:solidFill>
                  <a:srgbClr val="1B2A21"/>
                </a:solidFill>
                <a:latin typeface="Calibri" pitchFamily="34" charset="0"/>
                <a:ea typeface="Calibri" pitchFamily="34" charset="-122"/>
                <a:cs typeface="Calibri" pitchFamily="34" charset="-120"/>
              </a:rPr>
              <a:t>Sellers: "not below price P". Buyers: "not above price P". Bids are automatic.</a:t>
            </a:r>
            <a:endParaRPr lang="en-US" sz="1400" dirty="0"/>
          </a:p>
        </p:txBody>
      </p:sp>
      <p:sp>
        <p:nvSpPr>
          <p:cNvPr id="10" name="Shape 8"/>
          <p:cNvSpPr/>
          <p:nvPr/>
        </p:nvSpPr>
        <p:spPr>
          <a:xfrm>
            <a:off x="3383280" y="1645920"/>
            <a:ext cx="2606040" cy="2651760"/>
          </a:xfrm>
          <a:prstGeom prst="roundRect">
            <a:avLst>
              <a:gd name="adj" fmla="val 4211"/>
            </a:avLst>
          </a:prstGeom>
          <a:solidFill>
            <a:srgbClr val="EEF5E6"/>
          </a:solidFill>
          <a:ln w="12700">
            <a:solidFill>
              <a:srgbClr val="EEF5E6"/>
            </a:solidFill>
            <a:prstDash val="solid"/>
          </a:ln>
        </p:spPr>
      </p:sp>
      <p:sp>
        <p:nvSpPr>
          <p:cNvPr id="11" name="Shape 9"/>
          <p:cNvSpPr/>
          <p:nvPr/>
        </p:nvSpPr>
        <p:spPr>
          <a:xfrm>
            <a:off x="3611880" y="1874520"/>
            <a:ext cx="685800" cy="685800"/>
          </a:xfrm>
          <a:prstGeom prst="ellipse">
            <a:avLst/>
          </a:prstGeom>
          <a:solidFill>
            <a:srgbClr val="1F4D2B"/>
          </a:solidFill>
          <a:ln w="12700">
            <a:solidFill>
              <a:srgbClr val="1F4D2B"/>
            </a:solidFill>
            <a:prstDash val="solid"/>
          </a:ln>
        </p:spPr>
      </p:sp>
      <p:sp>
        <p:nvSpPr>
          <p:cNvPr id="12" name="Text 10"/>
          <p:cNvSpPr txBox="1"/>
          <p:nvPr/>
        </p:nvSpPr>
        <p:spPr>
          <a:xfrm>
            <a:off x="3611880" y="1874520"/>
            <a:ext cx="68580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Cambria" pitchFamily="34" charset="0"/>
                <a:ea typeface="Cambria" pitchFamily="34" charset="-122"/>
                <a:cs typeface="Cambria" pitchFamily="34" charset="-120"/>
              </a:rPr>
              <a:t>2</a:t>
            </a:r>
            <a:endParaRPr lang="en-US" sz="1950" dirty="0"/>
          </a:p>
        </p:txBody>
      </p:sp>
      <p:sp>
        <p:nvSpPr>
          <p:cNvPr id="13" name="Text 11"/>
          <p:cNvSpPr txBox="1"/>
          <p:nvPr/>
        </p:nvSpPr>
        <p:spPr>
          <a:xfrm>
            <a:off x="3611880" y="2743200"/>
            <a:ext cx="2194560" cy="411480"/>
          </a:xfrm>
          <a:prstGeom prst="rect">
            <a:avLst/>
          </a:prstGeom>
          <a:noFill/>
          <a:ln/>
        </p:spPr>
        <p:txBody>
          <a:bodyPr wrap="square" lIns="0" tIns="0" rIns="0" bIns="0" rtlCol="0" anchor="t"/>
          <a:lstStyle/>
          <a:p>
            <a:pPr indent="0" marL="0">
              <a:buNone/>
            </a:pPr>
            <a:r>
              <a:rPr lang="en-US" sz="2000" b="1" dirty="0">
                <a:solidFill>
                  <a:srgbClr val="1F4D2B"/>
                </a:solidFill>
                <a:latin typeface="Cambria" pitchFamily="34" charset="0"/>
                <a:ea typeface="Cambria" pitchFamily="34" charset="-122"/>
                <a:cs typeface="Cambria" pitchFamily="34" charset="-120"/>
              </a:rPr>
              <a:t>Sort</a:t>
            </a:r>
            <a:endParaRPr lang="en-US" sz="2000" dirty="0"/>
          </a:p>
        </p:txBody>
      </p:sp>
      <p:sp>
        <p:nvSpPr>
          <p:cNvPr id="14" name="Text 12"/>
          <p:cNvSpPr txBox="1"/>
          <p:nvPr/>
        </p:nvSpPr>
        <p:spPr>
          <a:xfrm>
            <a:off x="3611880" y="3200400"/>
            <a:ext cx="2194560" cy="1463040"/>
          </a:xfrm>
          <a:prstGeom prst="rect">
            <a:avLst/>
          </a:prstGeom>
          <a:noFill/>
          <a:ln/>
        </p:spPr>
        <p:txBody>
          <a:bodyPr wrap="square" lIns="0" tIns="0" rIns="0" bIns="0" rtlCol="0" anchor="t"/>
          <a:lstStyle/>
          <a:p>
            <a:pPr indent="0" marL="0">
              <a:buNone/>
            </a:pPr>
            <a:r>
              <a:rPr lang="en-US" sz="1400" dirty="0">
                <a:solidFill>
                  <a:srgbClr val="1B2A21"/>
                </a:solidFill>
                <a:latin typeface="Calibri" pitchFamily="34" charset="0"/>
                <a:ea typeface="Calibri" pitchFamily="34" charset="-122"/>
                <a:cs typeface="Calibri" pitchFamily="34" charset="-120"/>
              </a:rPr>
              <a:t>Sellers from cheapest to most expensive; buyers from highest to lowest.</a:t>
            </a:r>
            <a:endParaRPr lang="en-US" sz="1400" dirty="0"/>
          </a:p>
        </p:txBody>
      </p:sp>
      <p:sp>
        <p:nvSpPr>
          <p:cNvPr id="15" name="Shape 13"/>
          <p:cNvSpPr/>
          <p:nvPr/>
        </p:nvSpPr>
        <p:spPr>
          <a:xfrm>
            <a:off x="6217920" y="1645920"/>
            <a:ext cx="2606040" cy="2651760"/>
          </a:xfrm>
          <a:prstGeom prst="roundRect">
            <a:avLst>
              <a:gd name="adj" fmla="val 4211"/>
            </a:avLst>
          </a:prstGeom>
          <a:solidFill>
            <a:srgbClr val="EEF5E6"/>
          </a:solidFill>
          <a:ln w="12700">
            <a:solidFill>
              <a:srgbClr val="EEF5E6"/>
            </a:solidFill>
            <a:prstDash val="solid"/>
          </a:ln>
        </p:spPr>
      </p:sp>
      <p:sp>
        <p:nvSpPr>
          <p:cNvPr id="16" name="Shape 14"/>
          <p:cNvSpPr/>
          <p:nvPr/>
        </p:nvSpPr>
        <p:spPr>
          <a:xfrm>
            <a:off x="6446520" y="1874520"/>
            <a:ext cx="685800" cy="685800"/>
          </a:xfrm>
          <a:prstGeom prst="ellipse">
            <a:avLst/>
          </a:prstGeom>
          <a:solidFill>
            <a:srgbClr val="1F4D2B"/>
          </a:solidFill>
          <a:ln w="12700">
            <a:solidFill>
              <a:srgbClr val="1F4D2B"/>
            </a:solidFill>
            <a:prstDash val="solid"/>
          </a:ln>
        </p:spPr>
      </p:sp>
      <p:sp>
        <p:nvSpPr>
          <p:cNvPr id="17" name="Text 15"/>
          <p:cNvSpPr txBox="1"/>
          <p:nvPr/>
        </p:nvSpPr>
        <p:spPr>
          <a:xfrm>
            <a:off x="6446520" y="1874520"/>
            <a:ext cx="68580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Cambria" pitchFamily="34" charset="0"/>
                <a:ea typeface="Cambria" pitchFamily="34" charset="-122"/>
                <a:cs typeface="Cambria" pitchFamily="34" charset="-120"/>
              </a:rPr>
              <a:t>3</a:t>
            </a:r>
            <a:endParaRPr lang="en-US" sz="1950" dirty="0"/>
          </a:p>
        </p:txBody>
      </p:sp>
      <p:sp>
        <p:nvSpPr>
          <p:cNvPr id="18" name="Text 16"/>
          <p:cNvSpPr txBox="1"/>
          <p:nvPr/>
        </p:nvSpPr>
        <p:spPr>
          <a:xfrm>
            <a:off x="6446520" y="2743200"/>
            <a:ext cx="2194560" cy="411480"/>
          </a:xfrm>
          <a:prstGeom prst="rect">
            <a:avLst/>
          </a:prstGeom>
          <a:noFill/>
          <a:ln/>
        </p:spPr>
        <p:txBody>
          <a:bodyPr wrap="square" lIns="0" tIns="0" rIns="0" bIns="0" rtlCol="0" anchor="t"/>
          <a:lstStyle/>
          <a:p>
            <a:pPr indent="0" marL="0">
              <a:buNone/>
            </a:pPr>
            <a:r>
              <a:rPr lang="en-US" sz="2000" b="1" dirty="0">
                <a:solidFill>
                  <a:srgbClr val="1F4D2B"/>
                </a:solidFill>
                <a:latin typeface="Cambria" pitchFamily="34" charset="0"/>
                <a:ea typeface="Cambria" pitchFamily="34" charset="-122"/>
                <a:cs typeface="Cambria" pitchFamily="34" charset="-120"/>
              </a:rPr>
              <a:t>Match</a:t>
            </a:r>
            <a:endParaRPr lang="en-US" sz="2000" dirty="0"/>
          </a:p>
        </p:txBody>
      </p:sp>
      <p:sp>
        <p:nvSpPr>
          <p:cNvPr id="19" name="Text 17"/>
          <p:cNvSpPr txBox="1"/>
          <p:nvPr/>
        </p:nvSpPr>
        <p:spPr>
          <a:xfrm>
            <a:off x="6446520" y="3200400"/>
            <a:ext cx="2194560" cy="1463040"/>
          </a:xfrm>
          <a:prstGeom prst="rect">
            <a:avLst/>
          </a:prstGeom>
          <a:noFill/>
          <a:ln/>
        </p:spPr>
        <p:txBody>
          <a:bodyPr wrap="square" lIns="0" tIns="0" rIns="0" bIns="0" rtlCol="0" anchor="t"/>
          <a:lstStyle/>
          <a:p>
            <a:pPr indent="0" marL="0">
              <a:buNone/>
            </a:pPr>
            <a:r>
              <a:rPr lang="en-US" sz="1400" dirty="0">
                <a:solidFill>
                  <a:srgbClr val="1B2A21"/>
                </a:solidFill>
                <a:latin typeface="Calibri" pitchFamily="34" charset="0"/>
                <a:ea typeface="Calibri" pitchFamily="34" charset="-122"/>
                <a:cs typeface="Calibri" pitchFamily="34" charset="-120"/>
              </a:rPr>
              <a:t>Pair the top buyer with the cheapest seller, and continue while the buyer pays enough.</a:t>
            </a:r>
            <a:endParaRPr lang="en-US" sz="1400" dirty="0"/>
          </a:p>
        </p:txBody>
      </p:sp>
      <p:sp>
        <p:nvSpPr>
          <p:cNvPr id="20" name="Shape 18"/>
          <p:cNvSpPr/>
          <p:nvPr/>
        </p:nvSpPr>
        <p:spPr>
          <a:xfrm>
            <a:off x="9052560" y="1645920"/>
            <a:ext cx="2606040" cy="2651760"/>
          </a:xfrm>
          <a:prstGeom prst="roundRect">
            <a:avLst>
              <a:gd name="adj" fmla="val 4211"/>
            </a:avLst>
          </a:prstGeom>
          <a:solidFill>
            <a:srgbClr val="FDF3D6"/>
          </a:solidFill>
          <a:ln w="12700">
            <a:solidFill>
              <a:srgbClr val="FDF3D6"/>
            </a:solidFill>
            <a:prstDash val="solid"/>
          </a:ln>
        </p:spPr>
      </p:sp>
      <p:sp>
        <p:nvSpPr>
          <p:cNvPr id="21" name="Shape 19"/>
          <p:cNvSpPr/>
          <p:nvPr/>
        </p:nvSpPr>
        <p:spPr>
          <a:xfrm>
            <a:off x="9281160" y="1874520"/>
            <a:ext cx="685800" cy="685800"/>
          </a:xfrm>
          <a:prstGeom prst="ellipse">
            <a:avLst/>
          </a:prstGeom>
          <a:solidFill>
            <a:srgbClr val="F2A900"/>
          </a:solidFill>
          <a:ln w="12700">
            <a:solidFill>
              <a:srgbClr val="F2A900"/>
            </a:solidFill>
            <a:prstDash val="solid"/>
          </a:ln>
        </p:spPr>
      </p:sp>
      <p:sp>
        <p:nvSpPr>
          <p:cNvPr id="22" name="Text 20"/>
          <p:cNvSpPr txBox="1"/>
          <p:nvPr/>
        </p:nvSpPr>
        <p:spPr>
          <a:xfrm>
            <a:off x="9281160" y="1874520"/>
            <a:ext cx="68580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Cambria" pitchFamily="34" charset="0"/>
                <a:ea typeface="Cambria" pitchFamily="34" charset="-122"/>
                <a:cs typeface="Cambria" pitchFamily="34" charset="-120"/>
              </a:rPr>
              <a:t>4</a:t>
            </a:r>
            <a:endParaRPr lang="en-US" sz="1950" dirty="0"/>
          </a:p>
        </p:txBody>
      </p:sp>
      <p:sp>
        <p:nvSpPr>
          <p:cNvPr id="23" name="Text 21"/>
          <p:cNvSpPr txBox="1"/>
          <p:nvPr/>
        </p:nvSpPr>
        <p:spPr>
          <a:xfrm>
            <a:off x="9281160" y="2743200"/>
            <a:ext cx="2194560" cy="411480"/>
          </a:xfrm>
          <a:prstGeom prst="rect">
            <a:avLst/>
          </a:prstGeom>
          <a:noFill/>
          <a:ln/>
        </p:spPr>
        <p:txBody>
          <a:bodyPr wrap="square" lIns="0" tIns="0" rIns="0" bIns="0" rtlCol="0" anchor="t"/>
          <a:lstStyle/>
          <a:p>
            <a:pPr indent="0" marL="0">
              <a:buNone/>
            </a:pPr>
            <a:r>
              <a:rPr lang="en-US" sz="2000" b="1" dirty="0">
                <a:solidFill>
                  <a:srgbClr val="1F4D2B"/>
                </a:solidFill>
                <a:latin typeface="Cambria" pitchFamily="34" charset="0"/>
                <a:ea typeface="Cambria" pitchFamily="34" charset="-122"/>
                <a:cs typeface="Cambria" pitchFamily="34" charset="-120"/>
              </a:rPr>
              <a:t>One price</a:t>
            </a:r>
            <a:endParaRPr lang="en-US" sz="2000" dirty="0"/>
          </a:p>
        </p:txBody>
      </p:sp>
      <p:sp>
        <p:nvSpPr>
          <p:cNvPr id="24" name="Text 22"/>
          <p:cNvSpPr txBox="1"/>
          <p:nvPr/>
        </p:nvSpPr>
        <p:spPr>
          <a:xfrm>
            <a:off x="9281160" y="3200400"/>
            <a:ext cx="2194560" cy="1463040"/>
          </a:xfrm>
          <a:prstGeom prst="rect">
            <a:avLst/>
          </a:prstGeom>
          <a:noFill/>
          <a:ln/>
        </p:spPr>
        <p:txBody>
          <a:bodyPr wrap="square" lIns="0" tIns="0" rIns="0" bIns="0" rtlCol="0" anchor="t"/>
          <a:lstStyle/>
          <a:p>
            <a:pPr indent="0" marL="0">
              <a:buNone/>
            </a:pPr>
            <a:r>
              <a:rPr lang="en-US" sz="1400" dirty="0">
                <a:solidFill>
                  <a:srgbClr val="1B2A21"/>
                </a:solidFill>
                <a:latin typeface="Calibri" pitchFamily="34" charset="0"/>
                <a:ea typeface="Calibri" pitchFamily="34" charset="-122"/>
                <a:cs typeface="Calibri" pitchFamily="34" charset="-120"/>
              </a:rPr>
              <a:t>Everyone trades at the price halfway between the last matched seller and buyer.</a:t>
            </a:r>
            <a:endParaRPr lang="en-US" sz="1400" dirty="0"/>
          </a:p>
        </p:txBody>
      </p:sp>
      <p:sp>
        <p:nvSpPr>
          <p:cNvPr id="25" name="Shape 23"/>
          <p:cNvSpPr/>
          <p:nvPr/>
        </p:nvSpPr>
        <p:spPr>
          <a:xfrm>
            <a:off x="548640" y="4663440"/>
            <a:ext cx="685800" cy="685800"/>
          </a:xfrm>
          <a:prstGeom prst="ellipse">
            <a:avLst/>
          </a:prstGeom>
          <a:solidFill>
            <a:srgbClr val="3E8E41"/>
          </a:solidFill>
          <a:ln w="12700">
            <a:solidFill>
              <a:srgbClr val="3E8E41"/>
            </a:solidFill>
            <a:prstDash val="solid"/>
          </a:ln>
        </p:spPr>
      </p:sp>
      <p:pic>
        <p:nvPicPr>
          <p:cNvPr id="26" name="Image 0" descr="preencoded.png">    </p:cNvPr>
          <p:cNvPicPr>
            <a:picLocks noChangeAspect="1"/>
          </p:cNvPicPr>
          <p:nvPr/>
        </p:nvPicPr>
        <p:blipFill>
          <a:blip r:embed="rId1"/>
          <a:stretch>
            <a:fillRect/>
          </a:stretch>
        </p:blipFill>
        <p:spPr>
          <a:xfrm>
            <a:off x="713232" y="4828032"/>
            <a:ext cx="356616" cy="356616"/>
          </a:xfrm>
          <a:prstGeom prst="rect">
            <a:avLst/>
          </a:prstGeom>
        </p:spPr>
      </p:pic>
      <p:sp>
        <p:nvSpPr>
          <p:cNvPr id="27" name="Text 24"/>
          <p:cNvSpPr txBox="1"/>
          <p:nvPr/>
        </p:nvSpPr>
        <p:spPr>
          <a:xfrm>
            <a:off x="1417320" y="4636008"/>
            <a:ext cx="10149840" cy="731520"/>
          </a:xfrm>
          <a:prstGeom prst="rect">
            <a:avLst/>
          </a:prstGeom>
          <a:noFill/>
          <a:ln/>
        </p:spPr>
        <p:txBody>
          <a:bodyPr wrap="square" lIns="0" tIns="0" rIns="0" bIns="0" rtlCol="0" anchor="ctr"/>
          <a:lstStyle/>
          <a:p>
            <a:pPr indent="0" marL="0">
              <a:buNone/>
            </a:pPr>
            <a:r>
              <a:rPr lang="en-US" sz="1700" b="1" dirty="0">
                <a:solidFill>
                  <a:srgbClr val="1F4D2B"/>
                </a:solidFill>
                <a:latin typeface="Calibri" pitchFamily="34" charset="0"/>
                <a:ea typeface="Calibri" pitchFamily="34" charset="-122"/>
                <a:cs typeface="Calibri" pitchFamily="34" charset="-120"/>
              </a:rPr>
              <a:t>Your bid is a limit, not the price you pay. A buyer who bids 0.30 but clears at 0.08 pays 0.08.</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5 · THE AUCTION</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Example: same buyers, noon vs evening</a:t>
            </a:r>
            <a:endParaRPr lang="en-US" sz="3200" dirty="0"/>
          </a:p>
        </p:txBody>
      </p:sp>
      <p:sp>
        <p:nvSpPr>
          <p:cNvPr id="5" name="Shape 3"/>
          <p:cNvSpPr/>
          <p:nvPr/>
        </p:nvSpPr>
        <p:spPr>
          <a:xfrm>
            <a:off x="548640" y="1600200"/>
            <a:ext cx="5394960" cy="3840480"/>
          </a:xfrm>
          <a:prstGeom prst="roundRect">
            <a:avLst>
              <a:gd name="adj" fmla="val 2857"/>
            </a:avLst>
          </a:prstGeom>
          <a:solidFill>
            <a:srgbClr val="EEF5E6"/>
          </a:solidFill>
          <a:ln w="12700">
            <a:solidFill>
              <a:srgbClr val="EEF5E6"/>
            </a:solidFill>
            <a:prstDash val="solid"/>
          </a:ln>
        </p:spPr>
      </p:sp>
      <p:sp>
        <p:nvSpPr>
          <p:cNvPr id="6" name="Text 4"/>
          <p:cNvSpPr txBox="1"/>
          <p:nvPr/>
        </p:nvSpPr>
        <p:spPr>
          <a:xfrm>
            <a:off x="822960" y="1755648"/>
            <a:ext cx="4846320" cy="365760"/>
          </a:xfrm>
          <a:prstGeom prst="rect">
            <a:avLst/>
          </a:prstGeom>
          <a:noFill/>
          <a:ln/>
        </p:spPr>
        <p:txBody>
          <a:bodyPr wrap="square" lIns="0" tIns="0" rIns="0" bIns="0" rtlCol="0" anchor="t"/>
          <a:lstStyle/>
          <a:p>
            <a:pPr indent="0" marL="0">
              <a:buNone/>
            </a:pPr>
            <a:r>
              <a:rPr lang="en-US" sz="2000" b="1" dirty="0">
                <a:solidFill>
                  <a:srgbClr val="1F4D2B"/>
                </a:solidFill>
                <a:latin typeface="Cambria" pitchFamily="34" charset="0"/>
                <a:ea typeface="Cambria" pitchFamily="34" charset="-122"/>
                <a:cs typeface="Cambria" pitchFamily="34" charset="-120"/>
              </a:rPr>
              <a:t>Noon — lots of sun</a:t>
            </a:r>
            <a:endParaRPr lang="en-US" sz="2000" dirty="0"/>
          </a:p>
        </p:txBody>
      </p:sp>
      <p:sp>
        <p:nvSpPr>
          <p:cNvPr id="7" name="Text 5"/>
          <p:cNvSpPr txBox="1"/>
          <p:nvPr/>
        </p:nvSpPr>
        <p:spPr>
          <a:xfrm>
            <a:off x="822960" y="2240280"/>
            <a:ext cx="2377440" cy="274320"/>
          </a:xfrm>
          <a:prstGeom prst="rect">
            <a:avLst/>
          </a:prstGeom>
          <a:noFill/>
          <a:ln/>
        </p:spPr>
        <p:txBody>
          <a:bodyPr wrap="square" lIns="0" tIns="0" rIns="0" bIns="0" rtlCol="0" anchor="t"/>
          <a:lstStyle/>
          <a:p>
            <a:pPr indent="0" marL="0">
              <a:buNone/>
            </a:pPr>
            <a:r>
              <a:rPr lang="en-US" sz="1300" b="1" dirty="0">
                <a:solidFill>
                  <a:srgbClr val="5B6B63"/>
                </a:solidFill>
                <a:latin typeface="Calibri" pitchFamily="34" charset="0"/>
                <a:ea typeface="Calibri" pitchFamily="34" charset="-122"/>
                <a:cs typeface="Calibri" pitchFamily="34" charset="-120"/>
              </a:rPr>
              <a:t>Sellers</a:t>
            </a:r>
            <a:endParaRPr lang="en-US" sz="1300" dirty="0"/>
          </a:p>
        </p:txBody>
      </p:sp>
      <p:sp>
        <p:nvSpPr>
          <p:cNvPr id="8" name="Text 6"/>
          <p:cNvSpPr txBox="1"/>
          <p:nvPr/>
        </p:nvSpPr>
        <p:spPr>
          <a:xfrm>
            <a:off x="822960" y="2514600"/>
            <a:ext cx="2468880" cy="1097280"/>
          </a:xfrm>
          <a:prstGeom prst="rect">
            <a:avLst/>
          </a:prstGeom>
          <a:noFill/>
          <a:ln/>
        </p:spPr>
        <p:txBody>
          <a:bodyPr wrap="square" lIns="0" tIns="0" rIns="0" bIns="0" rtlCol="0" anchor="t"/>
          <a:lstStyle/>
          <a:p>
            <a:pPr indent="0" marL="0">
              <a:buNone/>
            </a:pPr>
            <a:r>
              <a:rPr lang="en-US" sz="1350" dirty="0">
                <a:solidFill>
                  <a:srgbClr val="1B2A21"/>
                </a:solidFill>
                <a:latin typeface="Calibri" pitchFamily="34" charset="0"/>
                <a:ea typeface="Calibri" pitchFamily="34" charset="-122"/>
                <a:cs typeface="Calibri" pitchFamily="34" charset="-120"/>
              </a:rPr>
              <a:t>Solar farm: 20 kWh ≥ 0.06</a:t>
            </a:r>
            <a:endParaRPr lang="en-US" sz="1350" dirty="0"/>
          </a:p>
          <a:p>
            <a:pPr indent="0" marL="0">
              <a:buNone/>
            </a:pPr>
            <a:r>
              <a:rPr lang="en-US" sz="1350" dirty="0">
                <a:solidFill>
                  <a:srgbClr val="1B2A21"/>
                </a:solidFill>
                <a:latin typeface="Calibri" pitchFamily="34" charset="0"/>
                <a:ea typeface="Calibri" pitchFamily="34" charset="-122"/>
                <a:cs typeface="Calibri" pitchFamily="34" charset="-120"/>
              </a:rPr>
              <a:t>Prosumer A: 3 kWh ≥ 0.08</a:t>
            </a:r>
            <a:endParaRPr lang="en-US" sz="1350" dirty="0"/>
          </a:p>
          <a:p>
            <a:pPr indent="0" marL="0">
              <a:buNone/>
            </a:pPr>
            <a:r>
              <a:rPr lang="en-US" sz="1350" dirty="0">
                <a:solidFill>
                  <a:srgbClr val="1B2A21"/>
                </a:solidFill>
                <a:latin typeface="Calibri" pitchFamily="34" charset="0"/>
                <a:ea typeface="Calibri" pitchFamily="34" charset="-122"/>
                <a:cs typeface="Calibri" pitchFamily="34" charset="-120"/>
              </a:rPr>
              <a:t>Prosumer B: 2 kWh ≥ 0.12</a:t>
            </a:r>
            <a:endParaRPr lang="en-US" sz="1350" dirty="0"/>
          </a:p>
        </p:txBody>
      </p:sp>
      <p:sp>
        <p:nvSpPr>
          <p:cNvPr id="9" name="Text 7"/>
          <p:cNvSpPr txBox="1"/>
          <p:nvPr/>
        </p:nvSpPr>
        <p:spPr>
          <a:xfrm>
            <a:off x="3337560" y="2240280"/>
            <a:ext cx="2377440" cy="274320"/>
          </a:xfrm>
          <a:prstGeom prst="rect">
            <a:avLst/>
          </a:prstGeom>
          <a:noFill/>
          <a:ln/>
        </p:spPr>
        <p:txBody>
          <a:bodyPr wrap="square" lIns="0" tIns="0" rIns="0" bIns="0" rtlCol="0" anchor="t"/>
          <a:lstStyle/>
          <a:p>
            <a:pPr indent="0" marL="0">
              <a:buNone/>
            </a:pPr>
            <a:r>
              <a:rPr lang="en-US" sz="1300" b="1" dirty="0">
                <a:solidFill>
                  <a:srgbClr val="5B6B63"/>
                </a:solidFill>
                <a:latin typeface="Calibri" pitchFamily="34" charset="0"/>
                <a:ea typeface="Calibri" pitchFamily="34" charset="-122"/>
                <a:cs typeface="Calibri" pitchFamily="34" charset="-120"/>
              </a:rPr>
              <a:t>Buyers</a:t>
            </a:r>
            <a:endParaRPr lang="en-US" sz="1300" dirty="0"/>
          </a:p>
        </p:txBody>
      </p:sp>
      <p:sp>
        <p:nvSpPr>
          <p:cNvPr id="10" name="Text 8"/>
          <p:cNvSpPr txBox="1"/>
          <p:nvPr/>
        </p:nvSpPr>
        <p:spPr>
          <a:xfrm>
            <a:off x="3337560" y="2514600"/>
            <a:ext cx="2468880" cy="1097280"/>
          </a:xfrm>
          <a:prstGeom prst="rect">
            <a:avLst/>
          </a:prstGeom>
          <a:noFill/>
          <a:ln/>
        </p:spPr>
        <p:txBody>
          <a:bodyPr wrap="square" lIns="0" tIns="0" rIns="0" bIns="0" rtlCol="0" anchor="t"/>
          <a:lstStyle/>
          <a:p>
            <a:pPr indent="0" marL="0">
              <a:buNone/>
            </a:pPr>
            <a:r>
              <a:rPr lang="en-US" sz="1350" dirty="0">
                <a:solidFill>
                  <a:srgbClr val="1B2A21"/>
                </a:solidFill>
                <a:latin typeface="Calibri" pitchFamily="34" charset="0"/>
                <a:ea typeface="Calibri" pitchFamily="34" charset="-122"/>
                <a:cs typeface="Calibri" pitchFamily="34" charset="-120"/>
              </a:rPr>
              <a:t>Consumer 1: 4 kWh ≤ 0.30</a:t>
            </a:r>
            <a:endParaRPr lang="en-US" sz="1350" dirty="0"/>
          </a:p>
          <a:p>
            <a:pPr indent="0" marL="0">
              <a:buNone/>
            </a:pPr>
            <a:r>
              <a:rPr lang="en-US" sz="1350" dirty="0">
                <a:solidFill>
                  <a:srgbClr val="1B2A21"/>
                </a:solidFill>
                <a:latin typeface="Calibri" pitchFamily="34" charset="0"/>
                <a:ea typeface="Calibri" pitchFamily="34" charset="-122"/>
                <a:cs typeface="Calibri" pitchFamily="34" charset="-120"/>
              </a:rPr>
              <a:t>Consumer 2: 3 kWh ≤ 0.25</a:t>
            </a:r>
            <a:endParaRPr lang="en-US" sz="1350" dirty="0"/>
          </a:p>
          <a:p>
            <a:pPr indent="0" marL="0">
              <a:buNone/>
            </a:pPr>
            <a:r>
              <a:rPr lang="en-US" sz="1350" dirty="0">
                <a:solidFill>
                  <a:srgbClr val="1B2A21"/>
                </a:solidFill>
                <a:latin typeface="Calibri" pitchFamily="34" charset="0"/>
                <a:ea typeface="Calibri" pitchFamily="34" charset="-122"/>
                <a:cs typeface="Calibri" pitchFamily="34" charset="-120"/>
              </a:rPr>
              <a:t>Consumer 3: 2 kWh ≤ 0.10</a:t>
            </a:r>
            <a:endParaRPr lang="en-US" sz="1350" dirty="0"/>
          </a:p>
        </p:txBody>
      </p:sp>
      <p:sp>
        <p:nvSpPr>
          <p:cNvPr id="11" name="Text 9"/>
          <p:cNvSpPr txBox="1"/>
          <p:nvPr/>
        </p:nvSpPr>
        <p:spPr>
          <a:xfrm>
            <a:off x="822960" y="3749040"/>
            <a:ext cx="1828800" cy="274320"/>
          </a:xfrm>
          <a:prstGeom prst="rect">
            <a:avLst/>
          </a:prstGeom>
          <a:noFill/>
          <a:ln/>
        </p:spPr>
        <p:txBody>
          <a:bodyPr wrap="square" lIns="0" tIns="0" rIns="0" bIns="0" rtlCol="0" anchor="t"/>
          <a:lstStyle/>
          <a:p>
            <a:pPr indent="0" marL="0">
              <a:buNone/>
            </a:pPr>
            <a:r>
              <a:rPr lang="en-US" sz="1300" b="1" dirty="0">
                <a:solidFill>
                  <a:srgbClr val="5B6B63"/>
                </a:solidFill>
                <a:latin typeface="Calibri" pitchFamily="34" charset="0"/>
                <a:ea typeface="Calibri" pitchFamily="34" charset="-122"/>
                <a:cs typeface="Calibri" pitchFamily="34" charset="-120"/>
              </a:rPr>
              <a:t>Price</a:t>
            </a:r>
            <a:endParaRPr lang="en-US" sz="1300" dirty="0"/>
          </a:p>
        </p:txBody>
      </p:sp>
      <p:sp>
        <p:nvSpPr>
          <p:cNvPr id="12" name="Text 10"/>
          <p:cNvSpPr txBox="1"/>
          <p:nvPr/>
        </p:nvSpPr>
        <p:spPr>
          <a:xfrm>
            <a:off x="822960" y="3977640"/>
            <a:ext cx="2377440" cy="914400"/>
          </a:xfrm>
          <a:prstGeom prst="rect">
            <a:avLst/>
          </a:prstGeom>
          <a:noFill/>
          <a:ln/>
        </p:spPr>
        <p:txBody>
          <a:bodyPr wrap="square" lIns="0" tIns="0" rIns="0" bIns="0" rtlCol="0" anchor="t"/>
          <a:lstStyle/>
          <a:p>
            <a:pPr indent="0" marL="0">
              <a:buNone/>
            </a:pPr>
            <a:r>
              <a:rPr lang="en-US" sz="5200" b="1" dirty="0">
                <a:solidFill>
                  <a:srgbClr val="3E8E41"/>
                </a:solidFill>
                <a:latin typeface="Cambria" pitchFamily="34" charset="0"/>
                <a:ea typeface="Cambria" pitchFamily="34" charset="-122"/>
                <a:cs typeface="Cambria" pitchFamily="34" charset="-120"/>
              </a:rPr>
              <a:t>0.08</a:t>
            </a:r>
            <a:endParaRPr lang="en-US" sz="5200" dirty="0"/>
          </a:p>
        </p:txBody>
      </p:sp>
      <p:sp>
        <p:nvSpPr>
          <p:cNvPr id="13" name="Text 11"/>
          <p:cNvSpPr txBox="1"/>
          <p:nvPr/>
        </p:nvSpPr>
        <p:spPr>
          <a:xfrm>
            <a:off x="3200400" y="4023360"/>
            <a:ext cx="2560320" cy="1280160"/>
          </a:xfrm>
          <a:prstGeom prst="rect">
            <a:avLst/>
          </a:prstGeom>
          <a:noFill/>
          <a:ln/>
        </p:spPr>
        <p:txBody>
          <a:bodyPr wrap="square" lIns="0" tIns="0" rIns="0" bIns="0" rtlCol="0" anchor="t"/>
          <a:lstStyle/>
          <a:p>
            <a:pPr indent="0" marL="0">
              <a:buNone/>
            </a:pPr>
            <a:r>
              <a:rPr lang="en-US" sz="1350" dirty="0">
                <a:solidFill>
                  <a:srgbClr val="1B2A21"/>
                </a:solidFill>
                <a:latin typeface="Calibri" pitchFamily="34" charset="0"/>
                <a:ea typeface="Calibri" pitchFamily="34" charset="-122"/>
                <a:cs typeface="Calibri" pitchFamily="34" charset="-120"/>
              </a:rPr>
              <a:t>The solar farm covers all 9 kWh. Last pair 0.06 / 0.10 → 0.08. Unsold energy is exported.</a:t>
            </a:r>
            <a:endParaRPr lang="en-US" sz="1350" dirty="0"/>
          </a:p>
        </p:txBody>
      </p:sp>
      <p:sp>
        <p:nvSpPr>
          <p:cNvPr id="14" name="Shape 12"/>
          <p:cNvSpPr/>
          <p:nvPr/>
        </p:nvSpPr>
        <p:spPr>
          <a:xfrm>
            <a:off x="6217920" y="1600200"/>
            <a:ext cx="5394960" cy="3840480"/>
          </a:xfrm>
          <a:prstGeom prst="roundRect">
            <a:avLst>
              <a:gd name="adj" fmla="val 2857"/>
            </a:avLst>
          </a:prstGeom>
          <a:solidFill>
            <a:srgbClr val="EEF5E6"/>
          </a:solidFill>
          <a:ln w="12700">
            <a:solidFill>
              <a:srgbClr val="EEF5E6"/>
            </a:solidFill>
            <a:prstDash val="solid"/>
          </a:ln>
        </p:spPr>
      </p:sp>
      <p:sp>
        <p:nvSpPr>
          <p:cNvPr id="15" name="Text 13"/>
          <p:cNvSpPr txBox="1"/>
          <p:nvPr/>
        </p:nvSpPr>
        <p:spPr>
          <a:xfrm>
            <a:off x="6492240" y="1755648"/>
            <a:ext cx="4846320" cy="365760"/>
          </a:xfrm>
          <a:prstGeom prst="rect">
            <a:avLst/>
          </a:prstGeom>
          <a:noFill/>
          <a:ln/>
        </p:spPr>
        <p:txBody>
          <a:bodyPr wrap="square" lIns="0" tIns="0" rIns="0" bIns="0" rtlCol="0" anchor="t"/>
          <a:lstStyle/>
          <a:p>
            <a:pPr indent="0" marL="0">
              <a:buNone/>
            </a:pPr>
            <a:r>
              <a:rPr lang="en-US" sz="2000" b="1" dirty="0">
                <a:solidFill>
                  <a:srgbClr val="1F4D2B"/>
                </a:solidFill>
                <a:latin typeface="Cambria" pitchFamily="34" charset="0"/>
                <a:ea typeface="Cambria" pitchFamily="34" charset="-122"/>
                <a:cs typeface="Cambria" pitchFamily="34" charset="-120"/>
              </a:rPr>
              <a:t>Evening — no sun</a:t>
            </a:r>
            <a:endParaRPr lang="en-US" sz="2000" dirty="0"/>
          </a:p>
        </p:txBody>
      </p:sp>
      <p:sp>
        <p:nvSpPr>
          <p:cNvPr id="16" name="Text 14"/>
          <p:cNvSpPr txBox="1"/>
          <p:nvPr/>
        </p:nvSpPr>
        <p:spPr>
          <a:xfrm>
            <a:off x="6492240" y="2240280"/>
            <a:ext cx="2377440" cy="274320"/>
          </a:xfrm>
          <a:prstGeom prst="rect">
            <a:avLst/>
          </a:prstGeom>
          <a:noFill/>
          <a:ln/>
        </p:spPr>
        <p:txBody>
          <a:bodyPr wrap="square" lIns="0" tIns="0" rIns="0" bIns="0" rtlCol="0" anchor="t"/>
          <a:lstStyle/>
          <a:p>
            <a:pPr indent="0" marL="0">
              <a:buNone/>
            </a:pPr>
            <a:r>
              <a:rPr lang="en-US" sz="1300" b="1" dirty="0">
                <a:solidFill>
                  <a:srgbClr val="5B6B63"/>
                </a:solidFill>
                <a:latin typeface="Calibri" pitchFamily="34" charset="0"/>
                <a:ea typeface="Calibri" pitchFamily="34" charset="-122"/>
                <a:cs typeface="Calibri" pitchFamily="34" charset="-120"/>
              </a:rPr>
              <a:t>Sellers</a:t>
            </a:r>
            <a:endParaRPr lang="en-US" sz="1300" dirty="0"/>
          </a:p>
        </p:txBody>
      </p:sp>
      <p:sp>
        <p:nvSpPr>
          <p:cNvPr id="17" name="Text 15"/>
          <p:cNvSpPr txBox="1"/>
          <p:nvPr/>
        </p:nvSpPr>
        <p:spPr>
          <a:xfrm>
            <a:off x="6492240" y="2514600"/>
            <a:ext cx="2468880" cy="1097280"/>
          </a:xfrm>
          <a:prstGeom prst="rect">
            <a:avLst/>
          </a:prstGeom>
          <a:noFill/>
          <a:ln/>
        </p:spPr>
        <p:txBody>
          <a:bodyPr wrap="square" lIns="0" tIns="0" rIns="0" bIns="0" rtlCol="0" anchor="t"/>
          <a:lstStyle/>
          <a:p>
            <a:pPr indent="0" marL="0">
              <a:buNone/>
            </a:pPr>
            <a:r>
              <a:rPr lang="en-US" sz="1350" dirty="0">
                <a:solidFill>
                  <a:srgbClr val="1B2A21"/>
                </a:solidFill>
                <a:latin typeface="Calibri" pitchFamily="34" charset="0"/>
                <a:ea typeface="Calibri" pitchFamily="34" charset="-122"/>
                <a:cs typeface="Calibri" pitchFamily="34" charset="-120"/>
              </a:rPr>
              <a:t>Prosumer B: 2 kWh ≥ 0.12</a:t>
            </a:r>
            <a:endParaRPr lang="en-US" sz="1350" dirty="0"/>
          </a:p>
          <a:p>
            <a:pPr indent="0" marL="0">
              <a:buNone/>
            </a:pPr>
            <a:r>
              <a:rPr lang="en-US" sz="1350" dirty="0">
                <a:solidFill>
                  <a:srgbClr val="1B2A21"/>
                </a:solidFill>
                <a:latin typeface="Calibri" pitchFamily="34" charset="0"/>
                <a:ea typeface="Calibri" pitchFamily="34" charset="-122"/>
                <a:cs typeface="Calibri" pitchFamily="34" charset="-120"/>
              </a:rPr>
              <a:t>(from its battery)</a:t>
            </a:r>
            <a:endParaRPr lang="en-US" sz="1350" dirty="0"/>
          </a:p>
        </p:txBody>
      </p:sp>
      <p:sp>
        <p:nvSpPr>
          <p:cNvPr id="18" name="Text 16"/>
          <p:cNvSpPr txBox="1"/>
          <p:nvPr/>
        </p:nvSpPr>
        <p:spPr>
          <a:xfrm>
            <a:off x="9006840" y="2240280"/>
            <a:ext cx="2377440" cy="274320"/>
          </a:xfrm>
          <a:prstGeom prst="rect">
            <a:avLst/>
          </a:prstGeom>
          <a:noFill/>
          <a:ln/>
        </p:spPr>
        <p:txBody>
          <a:bodyPr wrap="square" lIns="0" tIns="0" rIns="0" bIns="0" rtlCol="0" anchor="t"/>
          <a:lstStyle/>
          <a:p>
            <a:pPr indent="0" marL="0">
              <a:buNone/>
            </a:pPr>
            <a:r>
              <a:rPr lang="en-US" sz="1300" b="1" dirty="0">
                <a:solidFill>
                  <a:srgbClr val="5B6B63"/>
                </a:solidFill>
                <a:latin typeface="Calibri" pitchFamily="34" charset="0"/>
                <a:ea typeface="Calibri" pitchFamily="34" charset="-122"/>
                <a:cs typeface="Calibri" pitchFamily="34" charset="-120"/>
              </a:rPr>
              <a:t>Buyers</a:t>
            </a:r>
            <a:endParaRPr lang="en-US" sz="1300" dirty="0"/>
          </a:p>
        </p:txBody>
      </p:sp>
      <p:sp>
        <p:nvSpPr>
          <p:cNvPr id="19" name="Text 17"/>
          <p:cNvSpPr txBox="1"/>
          <p:nvPr/>
        </p:nvSpPr>
        <p:spPr>
          <a:xfrm>
            <a:off x="9006840" y="2514600"/>
            <a:ext cx="2468880" cy="1097280"/>
          </a:xfrm>
          <a:prstGeom prst="rect">
            <a:avLst/>
          </a:prstGeom>
          <a:noFill/>
          <a:ln/>
        </p:spPr>
        <p:txBody>
          <a:bodyPr wrap="square" lIns="0" tIns="0" rIns="0" bIns="0" rtlCol="0" anchor="t"/>
          <a:lstStyle/>
          <a:p>
            <a:pPr indent="0" marL="0">
              <a:buNone/>
            </a:pPr>
            <a:r>
              <a:rPr lang="en-US" sz="1350" dirty="0">
                <a:solidFill>
                  <a:srgbClr val="1B2A21"/>
                </a:solidFill>
                <a:latin typeface="Calibri" pitchFamily="34" charset="0"/>
                <a:ea typeface="Calibri" pitchFamily="34" charset="-122"/>
                <a:cs typeface="Calibri" pitchFamily="34" charset="-120"/>
              </a:rPr>
              <a:t>Consumer 1: 4 kWh ≤ 0.30</a:t>
            </a:r>
            <a:endParaRPr lang="en-US" sz="1350" dirty="0"/>
          </a:p>
          <a:p>
            <a:pPr indent="0" marL="0">
              <a:buNone/>
            </a:pPr>
            <a:r>
              <a:rPr lang="en-US" sz="1350" dirty="0">
                <a:solidFill>
                  <a:srgbClr val="1B2A21"/>
                </a:solidFill>
                <a:latin typeface="Calibri" pitchFamily="34" charset="0"/>
                <a:ea typeface="Calibri" pitchFamily="34" charset="-122"/>
                <a:cs typeface="Calibri" pitchFamily="34" charset="-120"/>
              </a:rPr>
              <a:t>Consumer 2: 3 kWh ≤ 0.25</a:t>
            </a:r>
            <a:endParaRPr lang="en-US" sz="1350" dirty="0"/>
          </a:p>
          <a:p>
            <a:pPr indent="0" marL="0">
              <a:buNone/>
            </a:pPr>
            <a:r>
              <a:rPr lang="en-US" sz="1350" dirty="0">
                <a:solidFill>
                  <a:srgbClr val="1B2A21"/>
                </a:solidFill>
                <a:latin typeface="Calibri" pitchFamily="34" charset="0"/>
                <a:ea typeface="Calibri" pitchFamily="34" charset="-122"/>
                <a:cs typeface="Calibri" pitchFamily="34" charset="-120"/>
              </a:rPr>
              <a:t>Consumer 3: 2 kWh ≤ 0.10</a:t>
            </a:r>
            <a:endParaRPr lang="en-US" sz="1350" dirty="0"/>
          </a:p>
        </p:txBody>
      </p:sp>
      <p:sp>
        <p:nvSpPr>
          <p:cNvPr id="20" name="Text 18"/>
          <p:cNvSpPr txBox="1"/>
          <p:nvPr/>
        </p:nvSpPr>
        <p:spPr>
          <a:xfrm>
            <a:off x="6492240" y="3749040"/>
            <a:ext cx="1828800" cy="274320"/>
          </a:xfrm>
          <a:prstGeom prst="rect">
            <a:avLst/>
          </a:prstGeom>
          <a:noFill/>
          <a:ln/>
        </p:spPr>
        <p:txBody>
          <a:bodyPr wrap="square" lIns="0" tIns="0" rIns="0" bIns="0" rtlCol="0" anchor="t"/>
          <a:lstStyle/>
          <a:p>
            <a:pPr indent="0" marL="0">
              <a:buNone/>
            </a:pPr>
            <a:r>
              <a:rPr lang="en-US" sz="1300" b="1" dirty="0">
                <a:solidFill>
                  <a:srgbClr val="5B6B63"/>
                </a:solidFill>
                <a:latin typeface="Calibri" pitchFamily="34" charset="0"/>
                <a:ea typeface="Calibri" pitchFamily="34" charset="-122"/>
                <a:cs typeface="Calibri" pitchFamily="34" charset="-120"/>
              </a:rPr>
              <a:t>Price</a:t>
            </a:r>
            <a:endParaRPr lang="en-US" sz="1300" dirty="0"/>
          </a:p>
        </p:txBody>
      </p:sp>
      <p:sp>
        <p:nvSpPr>
          <p:cNvPr id="21" name="Text 19"/>
          <p:cNvSpPr txBox="1"/>
          <p:nvPr/>
        </p:nvSpPr>
        <p:spPr>
          <a:xfrm>
            <a:off x="6492240" y="3977640"/>
            <a:ext cx="2377440" cy="914400"/>
          </a:xfrm>
          <a:prstGeom prst="rect">
            <a:avLst/>
          </a:prstGeom>
          <a:noFill/>
          <a:ln/>
        </p:spPr>
        <p:txBody>
          <a:bodyPr wrap="square" lIns="0" tIns="0" rIns="0" bIns="0" rtlCol="0" anchor="t"/>
          <a:lstStyle/>
          <a:p>
            <a:pPr indent="0" marL="0">
              <a:buNone/>
            </a:pPr>
            <a:r>
              <a:rPr lang="en-US" sz="5200" b="1" dirty="0">
                <a:solidFill>
                  <a:srgbClr val="C0392B"/>
                </a:solidFill>
                <a:latin typeface="Cambria" pitchFamily="34" charset="0"/>
                <a:ea typeface="Cambria" pitchFamily="34" charset="-122"/>
                <a:cs typeface="Cambria" pitchFamily="34" charset="-120"/>
              </a:rPr>
              <a:t>0.21</a:t>
            </a:r>
            <a:endParaRPr lang="en-US" sz="5200" dirty="0"/>
          </a:p>
        </p:txBody>
      </p:sp>
      <p:sp>
        <p:nvSpPr>
          <p:cNvPr id="22" name="Text 20"/>
          <p:cNvSpPr txBox="1"/>
          <p:nvPr/>
        </p:nvSpPr>
        <p:spPr>
          <a:xfrm>
            <a:off x="8869680" y="4023360"/>
            <a:ext cx="2560320" cy="1280160"/>
          </a:xfrm>
          <a:prstGeom prst="rect">
            <a:avLst/>
          </a:prstGeom>
          <a:noFill/>
          <a:ln/>
        </p:spPr>
        <p:txBody>
          <a:bodyPr wrap="square" lIns="0" tIns="0" rIns="0" bIns="0" rtlCol="0" anchor="t"/>
          <a:lstStyle/>
          <a:p>
            <a:pPr indent="0" marL="0">
              <a:buNone/>
            </a:pPr>
            <a:r>
              <a:rPr lang="en-US" sz="1350" dirty="0">
                <a:solidFill>
                  <a:srgbClr val="1B2A21"/>
                </a:solidFill>
                <a:latin typeface="Calibri" pitchFamily="34" charset="0"/>
                <a:ea typeface="Calibri" pitchFamily="34" charset="-122"/>
                <a:cs typeface="Calibri" pitchFamily="34" charset="-120"/>
              </a:rPr>
              <a:t>Only 2 kWh for sale. Last pair 0.12 / 0.30 → 0.21. The missing 7 kWh are imported at 0.30.</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5 · THE AUCTION</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Behind the scenes</a:t>
            </a:r>
            <a:endParaRPr lang="en-US" sz="3200" dirty="0"/>
          </a:p>
        </p:txBody>
      </p:sp>
      <p:sp>
        <p:nvSpPr>
          <p:cNvPr id="5" name="Shape 3"/>
          <p:cNvSpPr/>
          <p:nvPr/>
        </p:nvSpPr>
        <p:spPr>
          <a:xfrm>
            <a:off x="548640" y="1600200"/>
            <a:ext cx="3520440" cy="3931920"/>
          </a:xfrm>
          <a:prstGeom prst="roundRect">
            <a:avLst>
              <a:gd name="adj" fmla="val 3117"/>
            </a:avLst>
          </a:prstGeom>
          <a:solidFill>
            <a:srgbClr val="EEF5E6"/>
          </a:solidFill>
          <a:ln w="12700">
            <a:solidFill>
              <a:srgbClr val="EEF5E6"/>
            </a:solidFill>
            <a:prstDash val="solid"/>
          </a:ln>
        </p:spPr>
      </p:sp>
      <p:sp>
        <p:nvSpPr>
          <p:cNvPr id="6" name="Shape 4"/>
          <p:cNvSpPr/>
          <p:nvPr/>
        </p:nvSpPr>
        <p:spPr>
          <a:xfrm>
            <a:off x="822960" y="1828800"/>
            <a:ext cx="731520" cy="731520"/>
          </a:xfrm>
          <a:prstGeom prst="ellipse">
            <a:avLst/>
          </a:prstGeom>
          <a:solidFill>
            <a:srgbClr val="3E8E41"/>
          </a:solidFill>
          <a:ln w="12700">
            <a:solidFill>
              <a:srgbClr val="3E8E41"/>
            </a:solidFill>
            <a:prstDash val="solid"/>
          </a:ln>
        </p:spPr>
      </p:sp>
      <p:pic>
        <p:nvPicPr>
          <p:cNvPr id="7" name="Image 0" descr="preencoded.png">    </p:cNvPr>
          <p:cNvPicPr>
            <a:picLocks noChangeAspect="1"/>
          </p:cNvPicPr>
          <p:nvPr/>
        </p:nvPicPr>
        <p:blipFill>
          <a:blip r:embed="rId1"/>
          <a:stretch>
            <a:fillRect/>
          </a:stretch>
        </p:blipFill>
        <p:spPr>
          <a:xfrm>
            <a:off x="998525" y="2004365"/>
            <a:ext cx="380390" cy="380390"/>
          </a:xfrm>
          <a:prstGeom prst="rect">
            <a:avLst/>
          </a:prstGeom>
        </p:spPr>
      </p:pic>
      <p:sp>
        <p:nvSpPr>
          <p:cNvPr id="8" name="Text 5"/>
          <p:cNvSpPr txBox="1"/>
          <p:nvPr/>
        </p:nvSpPr>
        <p:spPr>
          <a:xfrm>
            <a:off x="822960" y="2743200"/>
            <a:ext cx="3017520" cy="411480"/>
          </a:xfrm>
          <a:prstGeom prst="rect">
            <a:avLst/>
          </a:prstGeom>
          <a:noFill/>
          <a:ln/>
        </p:spPr>
        <p:txBody>
          <a:bodyPr wrap="square" lIns="0" tIns="0" rIns="0" bIns="0" rtlCol="0" anchor="t"/>
          <a:lstStyle/>
          <a:p>
            <a:pPr indent="0" marL="0">
              <a:buNone/>
            </a:pPr>
            <a:r>
              <a:rPr lang="en-US" sz="2000" b="1" dirty="0">
                <a:solidFill>
                  <a:srgbClr val="1F4D2B"/>
                </a:solidFill>
                <a:latin typeface="Cambria" pitchFamily="34" charset="0"/>
                <a:ea typeface="Cambria" pitchFamily="34" charset="-122"/>
                <a:cs typeface="Cambria" pitchFamily="34" charset="-120"/>
              </a:rPr>
              <a:t>Automatic agents</a:t>
            </a:r>
            <a:endParaRPr lang="en-US" sz="2000" dirty="0"/>
          </a:p>
        </p:txBody>
      </p:sp>
      <p:sp>
        <p:nvSpPr>
          <p:cNvPr id="9" name="Text 6"/>
          <p:cNvSpPr txBox="1"/>
          <p:nvPr/>
        </p:nvSpPr>
        <p:spPr>
          <a:xfrm>
            <a:off x="868680" y="3291840"/>
            <a:ext cx="3017520" cy="210312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B2A21"/>
                </a:solidFill>
                <a:latin typeface="Calibri" pitchFamily="34" charset="0"/>
                <a:ea typeface="Calibri" pitchFamily="34" charset="-122"/>
                <a:cs typeface="Calibri" pitchFamily="34" charset="-120"/>
              </a:rPr>
              <a:t>Quantity comes from the meter</a:t>
            </a:r>
            <a:endParaRPr lang="en-US" sz="1450" dirty="0"/>
          </a:p>
          <a:p>
            <a:pPr marL="342900" indent="-342900">
              <a:spcAft>
                <a:spcPts val="600"/>
              </a:spcAft>
              <a:buSzPct val="100000"/>
              <a:buChar char="•"/>
            </a:pPr>
            <a:r>
              <a:rPr lang="en-US" sz="1450" dirty="0">
                <a:solidFill>
                  <a:srgbClr val="1B2A21"/>
                </a:solidFill>
                <a:latin typeface="Calibri" pitchFamily="34" charset="0"/>
                <a:ea typeface="Calibri" pitchFamily="34" charset="-122"/>
                <a:cs typeface="Calibri" pitchFamily="34" charset="-120"/>
              </a:rPr>
              <a:t>Price limits are set once, like a thermostat</a:t>
            </a:r>
            <a:endParaRPr lang="en-US" sz="1450" dirty="0"/>
          </a:p>
          <a:p>
            <a:pPr marL="342900" indent="-342900">
              <a:spcAft>
                <a:spcPts val="600"/>
              </a:spcAft>
              <a:buSzPct val="100000"/>
              <a:buChar char="•"/>
            </a:pPr>
            <a:r>
              <a:rPr lang="en-US" sz="1450" dirty="0">
                <a:solidFill>
                  <a:srgbClr val="1B2A21"/>
                </a:solidFill>
                <a:latin typeface="Calibri" pitchFamily="34" charset="0"/>
                <a:ea typeface="Calibri" pitchFamily="34" charset="-122"/>
                <a:cs typeface="Calibri" pitchFamily="34" charset="-120"/>
              </a:rPr>
              <a:t>Defaults: sell from the floor, buy up to the ceiling</a:t>
            </a:r>
            <a:endParaRPr lang="en-US" sz="1450" dirty="0"/>
          </a:p>
          <a:p>
            <a:pPr marL="342900" indent="-342900">
              <a:spcAft>
                <a:spcPts val="600"/>
              </a:spcAft>
              <a:buSzPct val="100000"/>
              <a:buChar char="•"/>
            </a:pPr>
            <a:r>
              <a:rPr lang="en-US" sz="1450" dirty="0">
                <a:solidFill>
                  <a:srgbClr val="1B2A21"/>
                </a:solidFill>
                <a:latin typeface="Calibri" pitchFamily="34" charset="0"/>
                <a:ea typeface="Calibri" pitchFamily="34" charset="-122"/>
                <a:cs typeface="Calibri" pitchFamily="34" charset="-120"/>
              </a:rPr>
              <a:t>Seed homes get different limits so the price moves</a:t>
            </a:r>
            <a:endParaRPr lang="en-US" sz="1450" dirty="0"/>
          </a:p>
        </p:txBody>
      </p:sp>
      <p:sp>
        <p:nvSpPr>
          <p:cNvPr id="10" name="Shape 7"/>
          <p:cNvSpPr/>
          <p:nvPr/>
        </p:nvSpPr>
        <p:spPr>
          <a:xfrm>
            <a:off x="4343400" y="1600200"/>
            <a:ext cx="3520440" cy="3931920"/>
          </a:xfrm>
          <a:prstGeom prst="roundRect">
            <a:avLst>
              <a:gd name="adj" fmla="val 3117"/>
            </a:avLst>
          </a:prstGeom>
          <a:solidFill>
            <a:srgbClr val="EEF5E6"/>
          </a:solidFill>
          <a:ln w="12700">
            <a:solidFill>
              <a:srgbClr val="EEF5E6"/>
            </a:solidFill>
            <a:prstDash val="solid"/>
          </a:ln>
        </p:spPr>
      </p:sp>
      <p:sp>
        <p:nvSpPr>
          <p:cNvPr id="11" name="Shape 8"/>
          <p:cNvSpPr/>
          <p:nvPr/>
        </p:nvSpPr>
        <p:spPr>
          <a:xfrm>
            <a:off x="4617720" y="1828800"/>
            <a:ext cx="731520" cy="731520"/>
          </a:xfrm>
          <a:prstGeom prst="ellipse">
            <a:avLst/>
          </a:prstGeom>
          <a:solidFill>
            <a:srgbClr val="1F4D2B"/>
          </a:solidFill>
          <a:ln w="12700">
            <a:solidFill>
              <a:srgbClr val="1F4D2B"/>
            </a:solidFill>
            <a:prstDash val="solid"/>
          </a:ln>
        </p:spPr>
      </p:sp>
      <p:pic>
        <p:nvPicPr>
          <p:cNvPr id="12" name="Image 1" descr="preencoded.png">    </p:cNvPr>
          <p:cNvPicPr>
            <a:picLocks noChangeAspect="1"/>
          </p:cNvPicPr>
          <p:nvPr/>
        </p:nvPicPr>
        <p:blipFill>
          <a:blip r:embed="rId2"/>
          <a:stretch>
            <a:fillRect/>
          </a:stretch>
        </p:blipFill>
        <p:spPr>
          <a:xfrm>
            <a:off x="4793285" y="2004365"/>
            <a:ext cx="380390" cy="380390"/>
          </a:xfrm>
          <a:prstGeom prst="rect">
            <a:avLst/>
          </a:prstGeom>
        </p:spPr>
      </p:pic>
      <p:sp>
        <p:nvSpPr>
          <p:cNvPr id="13" name="Text 9"/>
          <p:cNvSpPr txBox="1"/>
          <p:nvPr/>
        </p:nvSpPr>
        <p:spPr>
          <a:xfrm>
            <a:off x="4617720" y="2743200"/>
            <a:ext cx="3017520" cy="411480"/>
          </a:xfrm>
          <a:prstGeom prst="rect">
            <a:avLst/>
          </a:prstGeom>
          <a:noFill/>
          <a:ln/>
        </p:spPr>
        <p:txBody>
          <a:bodyPr wrap="square" lIns="0" tIns="0" rIns="0" bIns="0" rtlCol="0" anchor="t"/>
          <a:lstStyle/>
          <a:p>
            <a:pPr indent="0" marL="0">
              <a:buNone/>
            </a:pPr>
            <a:r>
              <a:rPr lang="en-US" sz="2000" b="1" dirty="0">
                <a:solidFill>
                  <a:srgbClr val="1F4D2B"/>
                </a:solidFill>
                <a:latin typeface="Cambria" pitchFamily="34" charset="0"/>
                <a:ea typeface="Cambria" pitchFamily="34" charset="-122"/>
                <a:cs typeface="Cambria" pitchFamily="34" charset="-120"/>
              </a:rPr>
              <a:t>A clearing house</a:t>
            </a:r>
            <a:endParaRPr lang="en-US" sz="2000" dirty="0"/>
          </a:p>
        </p:txBody>
      </p:sp>
      <p:sp>
        <p:nvSpPr>
          <p:cNvPr id="14" name="Text 10"/>
          <p:cNvSpPr txBox="1"/>
          <p:nvPr/>
        </p:nvSpPr>
        <p:spPr>
          <a:xfrm>
            <a:off x="4663440" y="3291840"/>
            <a:ext cx="3017520" cy="210312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B2A21"/>
                </a:solidFill>
                <a:latin typeface="Calibri" pitchFamily="34" charset="0"/>
                <a:ea typeface="Calibri" pitchFamily="34" charset="-122"/>
                <a:cs typeface="Calibri" pitchFamily="34" charset="-120"/>
              </a:rPr>
              <a:t>Buyers pay the clearing account</a:t>
            </a:r>
            <a:endParaRPr lang="en-US" sz="1450" dirty="0"/>
          </a:p>
          <a:p>
            <a:pPr marL="342900" indent="-342900">
              <a:spcAft>
                <a:spcPts val="600"/>
              </a:spcAft>
              <a:buSzPct val="100000"/>
              <a:buChar char="•"/>
            </a:pPr>
            <a:r>
              <a:rPr lang="en-US" sz="1450" dirty="0">
                <a:solidFill>
                  <a:srgbClr val="1B2A21"/>
                </a:solidFill>
                <a:latin typeface="Calibri" pitchFamily="34" charset="0"/>
                <a:ea typeface="Calibri" pitchFamily="34" charset="-122"/>
                <a:cs typeface="Calibri" pitchFamily="34" charset="-120"/>
              </a:rPr>
              <a:t>The clearing account pays sellers</a:t>
            </a:r>
            <a:endParaRPr lang="en-US" sz="1450" dirty="0"/>
          </a:p>
          <a:p>
            <a:pPr marL="342900" indent="-342900">
              <a:spcAft>
                <a:spcPts val="600"/>
              </a:spcAft>
              <a:buSzPct val="100000"/>
              <a:buChar char="•"/>
            </a:pPr>
            <a:r>
              <a:rPr lang="en-US" sz="1450" dirty="0">
                <a:solidFill>
                  <a:srgbClr val="1B2A21"/>
                </a:solidFill>
                <a:latin typeface="Calibri" pitchFamily="34" charset="0"/>
                <a:ea typeface="Calibri" pitchFamily="34" charset="-122"/>
                <a:cs typeface="Calibri" pitchFamily="34" charset="-120"/>
              </a:rPr>
              <a:t>Buyers' TEC is reserved before bidding</a:t>
            </a:r>
            <a:endParaRPr lang="en-US" sz="1450" dirty="0"/>
          </a:p>
          <a:p>
            <a:pPr marL="342900" indent="-342900">
              <a:spcAft>
                <a:spcPts val="600"/>
              </a:spcAft>
              <a:buSzPct val="100000"/>
              <a:buChar char="•"/>
            </a:pPr>
            <a:r>
              <a:rPr lang="en-US" sz="1450" dirty="0">
                <a:solidFill>
                  <a:srgbClr val="1B2A21"/>
                </a:solidFill>
                <a:latin typeface="Calibri" pitchFamily="34" charset="0"/>
                <a:ea typeface="Calibri" pitchFamily="34" charset="-122"/>
                <a:cs typeface="Calibri" pitchFamily="34" charset="-120"/>
              </a:rPr>
              <a:t>Certificates are shared in proportion</a:t>
            </a:r>
            <a:endParaRPr lang="en-US" sz="1450" dirty="0"/>
          </a:p>
        </p:txBody>
      </p:sp>
      <p:sp>
        <p:nvSpPr>
          <p:cNvPr id="15" name="Shape 11"/>
          <p:cNvSpPr/>
          <p:nvPr/>
        </p:nvSpPr>
        <p:spPr>
          <a:xfrm>
            <a:off x="8138160" y="1600200"/>
            <a:ext cx="3520440" cy="3931920"/>
          </a:xfrm>
          <a:prstGeom prst="roundRect">
            <a:avLst>
              <a:gd name="adj" fmla="val 3117"/>
            </a:avLst>
          </a:prstGeom>
          <a:solidFill>
            <a:srgbClr val="EEF5E6"/>
          </a:solidFill>
          <a:ln w="12700">
            <a:solidFill>
              <a:srgbClr val="EEF5E6"/>
            </a:solidFill>
            <a:prstDash val="solid"/>
          </a:ln>
        </p:spPr>
      </p:sp>
      <p:sp>
        <p:nvSpPr>
          <p:cNvPr id="16" name="Shape 12"/>
          <p:cNvSpPr/>
          <p:nvPr/>
        </p:nvSpPr>
        <p:spPr>
          <a:xfrm>
            <a:off x="8412480" y="1828800"/>
            <a:ext cx="731520" cy="731520"/>
          </a:xfrm>
          <a:prstGeom prst="ellipse">
            <a:avLst/>
          </a:prstGeom>
          <a:solidFill>
            <a:srgbClr val="2F6690"/>
          </a:solidFill>
          <a:ln w="12700">
            <a:solidFill>
              <a:srgbClr val="2F6690"/>
            </a:solidFill>
            <a:prstDash val="solid"/>
          </a:ln>
        </p:spPr>
      </p:sp>
      <p:pic>
        <p:nvPicPr>
          <p:cNvPr id="17" name="Image 2" descr="preencoded.png">    </p:cNvPr>
          <p:cNvPicPr>
            <a:picLocks noChangeAspect="1"/>
          </p:cNvPicPr>
          <p:nvPr/>
        </p:nvPicPr>
        <p:blipFill>
          <a:blip r:embed="rId3"/>
          <a:stretch>
            <a:fillRect/>
          </a:stretch>
        </p:blipFill>
        <p:spPr>
          <a:xfrm>
            <a:off x="8588045" y="2004365"/>
            <a:ext cx="380390" cy="380390"/>
          </a:xfrm>
          <a:prstGeom prst="rect">
            <a:avLst/>
          </a:prstGeom>
        </p:spPr>
      </p:pic>
      <p:sp>
        <p:nvSpPr>
          <p:cNvPr id="18" name="Text 13"/>
          <p:cNvSpPr txBox="1"/>
          <p:nvPr/>
        </p:nvSpPr>
        <p:spPr>
          <a:xfrm>
            <a:off x="8412480" y="2743200"/>
            <a:ext cx="3017520" cy="411480"/>
          </a:xfrm>
          <a:prstGeom prst="rect">
            <a:avLst/>
          </a:prstGeom>
          <a:noFill/>
          <a:ln/>
        </p:spPr>
        <p:txBody>
          <a:bodyPr wrap="square" lIns="0" tIns="0" rIns="0" bIns="0" rtlCol="0" anchor="t"/>
          <a:lstStyle/>
          <a:p>
            <a:pPr indent="0" marL="0">
              <a:buNone/>
            </a:pPr>
            <a:r>
              <a:rPr lang="en-US" sz="2000" b="1" dirty="0">
                <a:solidFill>
                  <a:srgbClr val="1F4D2B"/>
                </a:solidFill>
                <a:latin typeface="Cambria" pitchFamily="34" charset="0"/>
                <a:ea typeface="Cambria" pitchFamily="34" charset="-122"/>
                <a:cs typeface="Cambria" pitchFamily="34" charset="-120"/>
              </a:rPr>
              <a:t>What is not matched</a:t>
            </a:r>
            <a:endParaRPr lang="en-US" sz="2000" dirty="0"/>
          </a:p>
        </p:txBody>
      </p:sp>
      <p:sp>
        <p:nvSpPr>
          <p:cNvPr id="19" name="Text 14"/>
          <p:cNvSpPr txBox="1"/>
          <p:nvPr/>
        </p:nvSpPr>
        <p:spPr>
          <a:xfrm>
            <a:off x="8458200" y="3291840"/>
            <a:ext cx="3017520" cy="210312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B2A21"/>
                </a:solidFill>
                <a:latin typeface="Calibri" pitchFamily="34" charset="0"/>
                <a:ea typeface="Calibri" pitchFamily="34" charset="-122"/>
                <a:cs typeface="Calibri" pitchFamily="34" charset="-120"/>
              </a:rPr>
              <a:t>Called "imbalance" in real markets</a:t>
            </a:r>
            <a:endParaRPr lang="en-US" sz="1450" dirty="0"/>
          </a:p>
          <a:p>
            <a:pPr marL="342900" indent="-342900">
              <a:spcAft>
                <a:spcPts val="600"/>
              </a:spcAft>
              <a:buSzPct val="100000"/>
              <a:buChar char="•"/>
            </a:pPr>
            <a:r>
              <a:rPr lang="en-US" sz="1450" dirty="0">
                <a:solidFill>
                  <a:srgbClr val="1B2A21"/>
                </a:solidFill>
                <a:latin typeface="Calibri" pitchFamily="34" charset="0"/>
                <a:ea typeface="Calibri" pitchFamily="34" charset="-122"/>
                <a:cs typeface="Calibri" pitchFamily="34" charset="-120"/>
              </a:rPr>
              <a:t>Unsold energy → exported at 0.05</a:t>
            </a:r>
            <a:endParaRPr lang="en-US" sz="1450" dirty="0"/>
          </a:p>
          <a:p>
            <a:pPr marL="342900" indent="-342900">
              <a:spcAft>
                <a:spcPts val="600"/>
              </a:spcAft>
              <a:buSzPct val="100000"/>
              <a:buChar char="•"/>
            </a:pPr>
            <a:r>
              <a:rPr lang="en-US" sz="1450" dirty="0">
                <a:solidFill>
                  <a:srgbClr val="1B2A21"/>
                </a:solidFill>
                <a:latin typeface="Calibri" pitchFamily="34" charset="0"/>
                <a:ea typeface="Calibri" pitchFamily="34" charset="-122"/>
                <a:cs typeface="Calibri" pitchFamily="34" charset="-120"/>
              </a:rPr>
              <a:t>Missing energy → imported at 0.30</a:t>
            </a:r>
            <a:endParaRPr lang="en-US" sz="1450" dirty="0"/>
          </a:p>
          <a:p>
            <a:pPr marL="342900" indent="-342900">
              <a:spcAft>
                <a:spcPts val="600"/>
              </a:spcAft>
              <a:buSzPct val="100000"/>
              <a:buChar char="•"/>
            </a:pPr>
            <a:r>
              <a:rPr lang="en-US" sz="1450" dirty="0">
                <a:solidFill>
                  <a:srgbClr val="1B2A21"/>
                </a:solidFill>
                <a:latin typeface="Calibri" pitchFamily="34" charset="0"/>
                <a:ea typeface="Calibri" pitchFamily="34" charset="-122"/>
                <a:cs typeface="Calibri" pitchFamily="34" charset="-120"/>
              </a:rPr>
              <a:t>Nobody is ever cut off</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6 · COVERING A DEFICIT</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Cheapest sources first</a:t>
            </a:r>
            <a:endParaRPr lang="en-US" sz="3200" dirty="0"/>
          </a:p>
        </p:txBody>
      </p:sp>
      <p:sp>
        <p:nvSpPr>
          <p:cNvPr id="5" name="Shape 3"/>
          <p:cNvSpPr/>
          <p:nvPr/>
        </p:nvSpPr>
        <p:spPr>
          <a:xfrm>
            <a:off x="548640" y="1737360"/>
            <a:ext cx="3840480" cy="822960"/>
          </a:xfrm>
          <a:prstGeom prst="roundRect">
            <a:avLst>
              <a:gd name="adj" fmla="val 11111"/>
            </a:avLst>
          </a:prstGeom>
          <a:solidFill>
            <a:srgbClr val="3E8E41"/>
          </a:solidFill>
          <a:ln w="12700">
            <a:solidFill>
              <a:srgbClr val="3E8E41"/>
            </a:solidFill>
            <a:prstDash val="solid"/>
          </a:ln>
        </p:spPr>
      </p:sp>
      <p:sp>
        <p:nvSpPr>
          <p:cNvPr id="6" name="Text 4"/>
          <p:cNvSpPr txBox="1"/>
          <p:nvPr/>
        </p:nvSpPr>
        <p:spPr>
          <a:xfrm>
            <a:off x="777240" y="1810512"/>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1.  Own battery</a:t>
            </a:r>
            <a:endParaRPr lang="en-US" sz="1700" dirty="0"/>
          </a:p>
        </p:txBody>
      </p:sp>
      <p:sp>
        <p:nvSpPr>
          <p:cNvPr id="7" name="Text 5"/>
          <p:cNvSpPr txBox="1"/>
          <p:nvPr/>
        </p:nvSpPr>
        <p:spPr>
          <a:xfrm>
            <a:off x="777240" y="2176272"/>
            <a:ext cx="3474720" cy="3200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free</a:t>
            </a:r>
            <a:endParaRPr lang="en-US" sz="1350" dirty="0"/>
          </a:p>
        </p:txBody>
      </p:sp>
      <p:sp>
        <p:nvSpPr>
          <p:cNvPr id="8" name="Shape 6"/>
          <p:cNvSpPr/>
          <p:nvPr/>
        </p:nvSpPr>
        <p:spPr>
          <a:xfrm>
            <a:off x="1645920" y="2743200"/>
            <a:ext cx="3840480" cy="822960"/>
          </a:xfrm>
          <a:prstGeom prst="roundRect">
            <a:avLst>
              <a:gd name="adj" fmla="val 11111"/>
            </a:avLst>
          </a:prstGeom>
          <a:solidFill>
            <a:srgbClr val="3E8E41"/>
          </a:solidFill>
          <a:ln w="12700">
            <a:solidFill>
              <a:srgbClr val="3E8E41"/>
            </a:solidFill>
            <a:prstDash val="solid"/>
          </a:ln>
        </p:spPr>
      </p:sp>
      <p:sp>
        <p:nvSpPr>
          <p:cNvPr id="9" name="Text 7"/>
          <p:cNvSpPr txBox="1"/>
          <p:nvPr/>
        </p:nvSpPr>
        <p:spPr>
          <a:xfrm>
            <a:off x="1874520" y="2816352"/>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2.  Own stored energy</a:t>
            </a:r>
            <a:endParaRPr lang="en-US" sz="1700" dirty="0"/>
          </a:p>
        </p:txBody>
      </p:sp>
      <p:sp>
        <p:nvSpPr>
          <p:cNvPr id="10" name="Text 8"/>
          <p:cNvSpPr txBox="1"/>
          <p:nvPr/>
        </p:nvSpPr>
        <p:spPr>
          <a:xfrm>
            <a:off x="1874520" y="3182112"/>
            <a:ext cx="3474720" cy="3200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free (decay already paid)</a:t>
            </a:r>
            <a:endParaRPr lang="en-US" sz="1350" dirty="0"/>
          </a:p>
        </p:txBody>
      </p:sp>
      <p:sp>
        <p:nvSpPr>
          <p:cNvPr id="11" name="Shape 9"/>
          <p:cNvSpPr/>
          <p:nvPr/>
        </p:nvSpPr>
        <p:spPr>
          <a:xfrm>
            <a:off x="2743200" y="3749040"/>
            <a:ext cx="3840480" cy="822960"/>
          </a:xfrm>
          <a:prstGeom prst="roundRect">
            <a:avLst>
              <a:gd name="adj" fmla="val 11111"/>
            </a:avLst>
          </a:prstGeom>
          <a:solidFill>
            <a:srgbClr val="F2A900"/>
          </a:solidFill>
          <a:ln w="12700">
            <a:solidFill>
              <a:srgbClr val="F2A900"/>
            </a:solidFill>
            <a:prstDash val="solid"/>
          </a:ln>
        </p:spPr>
      </p:sp>
      <p:sp>
        <p:nvSpPr>
          <p:cNvPr id="12" name="Text 10"/>
          <p:cNvSpPr txBox="1"/>
          <p:nvPr/>
        </p:nvSpPr>
        <p:spPr>
          <a:xfrm>
            <a:off x="2971800" y="3822192"/>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3.  Auction</a:t>
            </a:r>
            <a:endParaRPr lang="en-US" sz="1700" dirty="0"/>
          </a:p>
        </p:txBody>
      </p:sp>
      <p:sp>
        <p:nvSpPr>
          <p:cNvPr id="13" name="Text 11"/>
          <p:cNvSpPr txBox="1"/>
          <p:nvPr/>
        </p:nvSpPr>
        <p:spPr>
          <a:xfrm>
            <a:off x="2971800" y="4187952"/>
            <a:ext cx="3474720" cy="3200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clearing price, in TEC</a:t>
            </a:r>
            <a:endParaRPr lang="en-US" sz="1350" dirty="0"/>
          </a:p>
        </p:txBody>
      </p:sp>
      <p:sp>
        <p:nvSpPr>
          <p:cNvPr id="14" name="Shape 12"/>
          <p:cNvSpPr/>
          <p:nvPr/>
        </p:nvSpPr>
        <p:spPr>
          <a:xfrm>
            <a:off x="3840480" y="4754880"/>
            <a:ext cx="3840480" cy="822960"/>
          </a:xfrm>
          <a:prstGeom prst="roundRect">
            <a:avLst>
              <a:gd name="adj" fmla="val 11111"/>
            </a:avLst>
          </a:prstGeom>
          <a:solidFill>
            <a:srgbClr val="2F6690"/>
          </a:solidFill>
          <a:ln w="12700">
            <a:solidFill>
              <a:srgbClr val="2F6690"/>
            </a:solidFill>
            <a:prstDash val="solid"/>
          </a:ln>
        </p:spPr>
      </p:sp>
      <p:sp>
        <p:nvSpPr>
          <p:cNvPr id="15" name="Text 13"/>
          <p:cNvSpPr txBox="1"/>
          <p:nvPr/>
        </p:nvSpPr>
        <p:spPr>
          <a:xfrm>
            <a:off x="4069080" y="4828032"/>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4.  Utility import</a:t>
            </a:r>
            <a:endParaRPr lang="en-US" sz="1700" dirty="0"/>
          </a:p>
        </p:txBody>
      </p:sp>
      <p:sp>
        <p:nvSpPr>
          <p:cNvPr id="16" name="Text 14"/>
          <p:cNvSpPr txBox="1"/>
          <p:nvPr/>
        </p:nvSpPr>
        <p:spPr>
          <a:xfrm>
            <a:off x="4069080" y="5193792"/>
            <a:ext cx="3474720" cy="3200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0.30, on the utility bill</a:t>
            </a:r>
            <a:endParaRPr lang="en-US" sz="1350" dirty="0"/>
          </a:p>
        </p:txBody>
      </p:sp>
      <p:sp>
        <p:nvSpPr>
          <p:cNvPr id="17" name="Shape 15"/>
          <p:cNvSpPr/>
          <p:nvPr/>
        </p:nvSpPr>
        <p:spPr>
          <a:xfrm>
            <a:off x="548640" y="5669280"/>
            <a:ext cx="6400800" cy="640080"/>
          </a:xfrm>
          <a:prstGeom prst="roundRect">
            <a:avLst>
              <a:gd name="adj" fmla="val 17143"/>
            </a:avLst>
          </a:prstGeom>
          <a:solidFill>
            <a:srgbClr val="EEF5E6"/>
          </a:solidFill>
          <a:ln w="12700">
            <a:solidFill>
              <a:srgbClr val="EEF5E6"/>
            </a:solidFill>
            <a:prstDash val="solid"/>
          </a:ln>
        </p:spPr>
      </p:sp>
      <p:sp>
        <p:nvSpPr>
          <p:cNvPr id="18" name="Text 16"/>
          <p:cNvSpPr txBox="1"/>
          <p:nvPr/>
        </p:nvSpPr>
        <p:spPr>
          <a:xfrm>
            <a:off x="777240" y="5733288"/>
            <a:ext cx="6035040" cy="502920"/>
          </a:xfrm>
          <a:prstGeom prst="rect">
            <a:avLst/>
          </a:prstGeom>
          <a:noFill/>
          <a:ln/>
        </p:spPr>
        <p:txBody>
          <a:bodyPr wrap="square" lIns="0" tIns="0" rIns="0" bIns="0" rtlCol="0" anchor="ctr"/>
          <a:lstStyle/>
          <a:p>
            <a:pPr indent="0" marL="0">
              <a:buNone/>
            </a:pPr>
            <a:r>
              <a:rPr lang="en-US" sz="1400" dirty="0">
                <a:solidFill>
                  <a:srgbClr val="1F4D2B"/>
                </a:solidFill>
                <a:latin typeface="Calibri" pitchFamily="34" charset="0"/>
                <a:ea typeface="Calibri" pitchFamily="34" charset="-122"/>
                <a:cs typeface="Calibri" pitchFamily="34" charset="-120"/>
              </a:rPr>
              <a:t>Steps 1–2 happen immediately; steps 3–4 at the end of the interval.</a:t>
            </a:r>
            <a:endParaRPr lang="en-US" sz="1400" dirty="0"/>
          </a:p>
        </p:txBody>
      </p:sp>
      <p:sp>
        <p:nvSpPr>
          <p:cNvPr id="19" name="Shape 17"/>
          <p:cNvSpPr/>
          <p:nvPr/>
        </p:nvSpPr>
        <p:spPr>
          <a:xfrm>
            <a:off x="7863840" y="1737360"/>
            <a:ext cx="3749040" cy="3886200"/>
          </a:xfrm>
          <a:prstGeom prst="roundRect">
            <a:avLst>
              <a:gd name="adj" fmla="val 2927"/>
            </a:avLst>
          </a:prstGeom>
          <a:solidFill>
            <a:srgbClr val="FDF3D6"/>
          </a:solidFill>
          <a:ln w="12700">
            <a:solidFill>
              <a:srgbClr val="FDF3D6"/>
            </a:solidFill>
            <a:prstDash val="solid"/>
          </a:ln>
        </p:spPr>
      </p:sp>
      <p:sp>
        <p:nvSpPr>
          <p:cNvPr id="20" name="Text 18"/>
          <p:cNvSpPr txBox="1"/>
          <p:nvPr/>
        </p:nvSpPr>
        <p:spPr>
          <a:xfrm>
            <a:off x="8138160" y="1874520"/>
            <a:ext cx="3291840" cy="365760"/>
          </a:xfrm>
          <a:prstGeom prst="rect">
            <a:avLst/>
          </a:prstGeom>
          <a:noFill/>
          <a:ln/>
        </p:spPr>
        <p:txBody>
          <a:bodyPr wrap="square" lIns="0" tIns="0" rIns="0" bIns="0" rtlCol="0" anchor="t"/>
          <a:lstStyle/>
          <a:p>
            <a:pPr indent="0" marL="0">
              <a:buNone/>
            </a:pPr>
            <a:r>
              <a:rPr lang="en-US" sz="1900" b="1" dirty="0">
                <a:solidFill>
                  <a:srgbClr val="1F4D2B"/>
                </a:solidFill>
                <a:latin typeface="Cambria" pitchFamily="34" charset="0"/>
                <a:ea typeface="Cambria" pitchFamily="34" charset="-122"/>
                <a:cs typeface="Cambria" pitchFamily="34" charset="-120"/>
              </a:rPr>
              <a:t>What if…</a:t>
            </a:r>
            <a:endParaRPr lang="en-US" sz="1900" dirty="0"/>
          </a:p>
        </p:txBody>
      </p:sp>
      <p:sp>
        <p:nvSpPr>
          <p:cNvPr id="21" name="Text 19"/>
          <p:cNvSpPr txBox="1"/>
          <p:nvPr/>
        </p:nvSpPr>
        <p:spPr>
          <a:xfrm>
            <a:off x="8138160" y="2331720"/>
            <a:ext cx="3291840" cy="3200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21"/>
                </a:solidFill>
                <a:latin typeface="Calibri" pitchFamily="34" charset="0"/>
                <a:ea typeface="Calibri" pitchFamily="34" charset="-122"/>
                <a:cs typeface="Calibri" pitchFamily="34" charset="-120"/>
              </a:rPr>
              <a:t>Out of TEC? No bid — everything is imported. Never cut off.</a:t>
            </a:r>
            <a:endParaRPr lang="en-US" sz="1400" dirty="0"/>
          </a:p>
          <a:p>
            <a:pPr marL="342900" indent="-342900">
              <a:spcAft>
                <a:spcPts val="600"/>
              </a:spcAft>
              <a:buSzPct val="100000"/>
              <a:buChar char="•"/>
            </a:pPr>
            <a:r>
              <a:rPr lang="en-US" sz="1400" dirty="0">
                <a:solidFill>
                  <a:srgbClr val="1B2A21"/>
                </a:solidFill>
                <a:latin typeface="Calibri" pitchFamily="34" charset="0"/>
                <a:ea typeface="Calibri" pitchFamily="34" charset="-122"/>
                <a:cs typeface="Calibri" pitchFamily="34" charset="-120"/>
              </a:rPr>
              <a:t>Can only afford part? Bid that part, import the rest.</a:t>
            </a:r>
            <a:endParaRPr lang="en-US" sz="1400" dirty="0"/>
          </a:p>
          <a:p>
            <a:pPr marL="342900" indent="-342900">
              <a:spcAft>
                <a:spcPts val="600"/>
              </a:spcAft>
              <a:buSzPct val="100000"/>
              <a:buChar char="•"/>
            </a:pPr>
            <a:r>
              <a:rPr lang="en-US" sz="1400" dirty="0">
                <a:solidFill>
                  <a:srgbClr val="1B2A21"/>
                </a:solidFill>
                <a:latin typeface="Calibri" pitchFamily="34" charset="0"/>
                <a:ea typeface="Calibri" pitchFamily="34" charset="-122"/>
                <a:cs typeface="Calibri" pitchFamily="34" charset="-120"/>
              </a:rPr>
              <a:t>Opted out of the auction? Straight to import.</a:t>
            </a:r>
            <a:endParaRPr lang="en-US" sz="1400" dirty="0"/>
          </a:p>
          <a:p>
            <a:pPr marL="342900" indent="-342900">
              <a:spcAft>
                <a:spcPts val="600"/>
              </a:spcAft>
              <a:buSzPct val="100000"/>
              <a:buChar char="•"/>
            </a:pPr>
            <a:r>
              <a:rPr lang="en-US" sz="1400" dirty="0">
                <a:solidFill>
                  <a:srgbClr val="1B2A21"/>
                </a:solidFill>
                <a:latin typeface="Calibri" pitchFamily="34" charset="0"/>
                <a:ea typeface="Calibri" pitchFamily="34" charset="-122"/>
                <a:cs typeface="Calibri" pitchFamily="34" charset="-120"/>
              </a:rPr>
              <a:t>Bought on the marketplace? It sits in your stored energy (step 2).</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7 · THE SHARED BATTERY</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One community battery, two compartments</a:t>
            </a:r>
            <a:endParaRPr lang="en-US" sz="3200" dirty="0"/>
          </a:p>
        </p:txBody>
      </p:sp>
      <p:sp>
        <p:nvSpPr>
          <p:cNvPr id="5" name="Shape 3"/>
          <p:cNvSpPr/>
          <p:nvPr/>
        </p:nvSpPr>
        <p:spPr>
          <a:xfrm>
            <a:off x="548640" y="1691640"/>
            <a:ext cx="6583680" cy="1005840"/>
          </a:xfrm>
          <a:prstGeom prst="rect">
            <a:avLst/>
          </a:prstGeom>
          <a:solidFill>
            <a:srgbClr val="F2A900"/>
          </a:solidFill>
          <a:ln w="12700">
            <a:solidFill>
              <a:srgbClr val="F2A900"/>
            </a:solidFill>
            <a:prstDash val="solid"/>
          </a:ln>
        </p:spPr>
      </p:sp>
      <p:sp>
        <p:nvSpPr>
          <p:cNvPr id="6" name="Shape 4"/>
          <p:cNvSpPr/>
          <p:nvPr/>
        </p:nvSpPr>
        <p:spPr>
          <a:xfrm>
            <a:off x="7132320" y="1691640"/>
            <a:ext cx="4480560" cy="1005840"/>
          </a:xfrm>
          <a:prstGeom prst="rect">
            <a:avLst/>
          </a:prstGeom>
          <a:solidFill>
            <a:srgbClr val="2F6690"/>
          </a:solidFill>
          <a:ln w="12700">
            <a:solidFill>
              <a:srgbClr val="2F6690"/>
            </a:solidFill>
            <a:prstDash val="solid"/>
          </a:ln>
        </p:spPr>
      </p:sp>
      <p:sp>
        <p:nvSpPr>
          <p:cNvPr id="7" name="Text 5"/>
          <p:cNvSpPr txBox="1"/>
          <p:nvPr/>
        </p:nvSpPr>
        <p:spPr>
          <a:xfrm>
            <a:off x="777240" y="1783080"/>
            <a:ext cx="621792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Rented · 60 kWh</a:t>
            </a:r>
            <a:endParaRPr lang="en-US" sz="2000" dirty="0"/>
          </a:p>
        </p:txBody>
      </p:sp>
      <p:sp>
        <p:nvSpPr>
          <p:cNvPr id="8" name="Text 6"/>
          <p:cNvSpPr txBox="1"/>
          <p:nvPr/>
        </p:nvSpPr>
        <p:spPr>
          <a:xfrm>
            <a:off x="777240" y="2212848"/>
            <a:ext cx="621792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Owned by households in "store" mode</a:t>
            </a:r>
            <a:endParaRPr lang="en-US" sz="1400" dirty="0"/>
          </a:p>
        </p:txBody>
      </p:sp>
      <p:sp>
        <p:nvSpPr>
          <p:cNvPr id="9" name="Text 7"/>
          <p:cNvSpPr txBox="1"/>
          <p:nvPr/>
        </p:nvSpPr>
        <p:spPr>
          <a:xfrm>
            <a:off x="7360920" y="1783080"/>
            <a:ext cx="411480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Grid pool · 40 kWh</a:t>
            </a:r>
            <a:endParaRPr lang="en-US" sz="2000" dirty="0"/>
          </a:p>
        </p:txBody>
      </p:sp>
      <p:sp>
        <p:nvSpPr>
          <p:cNvPr id="10" name="Text 8"/>
          <p:cNvSpPr txBox="1"/>
          <p:nvPr/>
        </p:nvSpPr>
        <p:spPr>
          <a:xfrm>
            <a:off x="7360920" y="2212848"/>
            <a:ext cx="411480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Owned by the operator</a:t>
            </a:r>
            <a:endParaRPr lang="en-US" sz="1400" dirty="0"/>
          </a:p>
        </p:txBody>
      </p:sp>
      <p:sp>
        <p:nvSpPr>
          <p:cNvPr id="11" name="Text 9"/>
          <p:cNvSpPr txBox="1"/>
          <p:nvPr/>
        </p:nvSpPr>
        <p:spPr>
          <a:xfrm>
            <a:off x="548640" y="2788920"/>
            <a:ext cx="11064240" cy="320040"/>
          </a:xfrm>
          <a:prstGeom prst="rect">
            <a:avLst/>
          </a:prstGeom>
          <a:noFill/>
          <a:ln/>
        </p:spPr>
        <p:txBody>
          <a:bodyPr wrap="square" lIns="0" tIns="0" rIns="0" bIns="0" rtlCol="0" anchor="t"/>
          <a:lstStyle/>
          <a:p>
            <a:pPr indent="0" marL="0">
              <a:buNone/>
            </a:pPr>
            <a:r>
              <a:rPr lang="en-US" sz="1300" i="1" dirty="0">
                <a:solidFill>
                  <a:srgbClr val="5B6B63"/>
                </a:solidFill>
                <a:latin typeface="Calibri" pitchFamily="34" charset="0"/>
                <a:ea typeface="Calibri" pitchFamily="34" charset="-122"/>
                <a:cs typeface="Calibri" pitchFamily="34" charset="-120"/>
              </a:rPr>
              <a:t>100 kWh in total · fixed compartments: neither side can use the other's empty space</a:t>
            </a:r>
            <a:endParaRPr lang="en-US" sz="1300" dirty="0"/>
          </a:p>
        </p:txBody>
      </p:sp>
      <p:sp>
        <p:nvSpPr>
          <p:cNvPr id="12" name="Text 10"/>
          <p:cNvSpPr txBox="1"/>
          <p:nvPr/>
        </p:nvSpPr>
        <p:spPr>
          <a:xfrm>
            <a:off x="548640" y="3383280"/>
            <a:ext cx="3474720" cy="822960"/>
          </a:xfrm>
          <a:prstGeom prst="rect">
            <a:avLst/>
          </a:prstGeom>
          <a:noFill/>
          <a:ln/>
        </p:spPr>
        <p:txBody>
          <a:bodyPr wrap="square" lIns="0" tIns="0" rIns="0" bIns="0" rtlCol="0" anchor="t"/>
          <a:lstStyle/>
          <a:p>
            <a:pPr indent="0" marL="0">
              <a:buNone/>
            </a:pPr>
            <a:r>
              <a:rPr lang="en-US" sz="4400" b="1" dirty="0">
                <a:solidFill>
                  <a:srgbClr val="F2A900"/>
                </a:solidFill>
                <a:latin typeface="Cambria" pitchFamily="34" charset="0"/>
                <a:ea typeface="Cambria" pitchFamily="34" charset="-122"/>
                <a:cs typeface="Cambria" pitchFamily="34" charset="-120"/>
              </a:rPr>
              <a:t>1% / h</a:t>
            </a:r>
            <a:endParaRPr lang="en-US" sz="4400" dirty="0"/>
          </a:p>
        </p:txBody>
      </p:sp>
      <p:sp>
        <p:nvSpPr>
          <p:cNvPr id="13" name="Text 11"/>
          <p:cNvSpPr txBox="1"/>
          <p:nvPr/>
        </p:nvSpPr>
        <p:spPr>
          <a:xfrm>
            <a:off x="548640" y="4206240"/>
            <a:ext cx="3383280" cy="731520"/>
          </a:xfrm>
          <a:prstGeom prst="rect">
            <a:avLst/>
          </a:prstGeom>
          <a:noFill/>
          <a:ln/>
        </p:spPr>
        <p:txBody>
          <a:bodyPr wrap="square" lIns="0" tIns="0" rIns="0" bIns="0" rtlCol="0" anchor="t"/>
          <a:lstStyle/>
          <a:p>
            <a:pPr indent="0" marL="0">
              <a:buNone/>
            </a:pPr>
            <a:r>
              <a:rPr lang="en-US" sz="1400" dirty="0">
                <a:solidFill>
                  <a:srgbClr val="5B6B63"/>
                </a:solidFill>
                <a:latin typeface="Calibri" pitchFamily="34" charset="0"/>
                <a:ea typeface="Calibri" pitchFamily="34" charset="-122"/>
                <a:cs typeface="Calibri" pitchFamily="34" charset="-120"/>
              </a:rPr>
              <a:t>storage fee, taken as energy (≈ 11% overnight), paid into the grid pool</a:t>
            </a:r>
            <a:endParaRPr lang="en-US" sz="1400" dirty="0"/>
          </a:p>
        </p:txBody>
      </p:sp>
      <p:sp>
        <p:nvSpPr>
          <p:cNvPr id="14" name="Text 12"/>
          <p:cNvSpPr txBox="1"/>
          <p:nvPr/>
        </p:nvSpPr>
        <p:spPr>
          <a:xfrm>
            <a:off x="4343400" y="3383280"/>
            <a:ext cx="3474720" cy="822960"/>
          </a:xfrm>
          <a:prstGeom prst="rect">
            <a:avLst/>
          </a:prstGeom>
          <a:noFill/>
          <a:ln/>
        </p:spPr>
        <p:txBody>
          <a:bodyPr wrap="square" lIns="0" tIns="0" rIns="0" bIns="0" rtlCol="0" anchor="t"/>
          <a:lstStyle/>
          <a:p>
            <a:pPr indent="0" marL="0">
              <a:buNone/>
            </a:pPr>
            <a:r>
              <a:rPr lang="en-US" sz="4400" b="1" dirty="0">
                <a:solidFill>
                  <a:srgbClr val="1F4D2B"/>
                </a:solidFill>
                <a:latin typeface="Cambria" pitchFamily="34" charset="0"/>
                <a:ea typeface="Cambria" pitchFamily="34" charset="-122"/>
                <a:cs typeface="Cambria" pitchFamily="34" charset="-120"/>
              </a:rPr>
              <a:t>10 kWh</a:t>
            </a:r>
            <a:endParaRPr lang="en-US" sz="4400" dirty="0"/>
          </a:p>
        </p:txBody>
      </p:sp>
      <p:sp>
        <p:nvSpPr>
          <p:cNvPr id="15" name="Text 13"/>
          <p:cNvSpPr txBox="1"/>
          <p:nvPr/>
        </p:nvSpPr>
        <p:spPr>
          <a:xfrm>
            <a:off x="4343400" y="4206240"/>
            <a:ext cx="3383280" cy="731520"/>
          </a:xfrm>
          <a:prstGeom prst="rect">
            <a:avLst/>
          </a:prstGeom>
          <a:noFill/>
          <a:ln/>
        </p:spPr>
        <p:txBody>
          <a:bodyPr wrap="square" lIns="0" tIns="0" rIns="0" bIns="0" rtlCol="0" anchor="t"/>
          <a:lstStyle/>
          <a:p>
            <a:pPr indent="0" marL="0">
              <a:buNone/>
            </a:pPr>
            <a:r>
              <a:rPr lang="en-US" sz="1400" dirty="0">
                <a:solidFill>
                  <a:srgbClr val="5B6B63"/>
                </a:solidFill>
                <a:latin typeface="Calibri" pitchFamily="34" charset="0"/>
                <a:ea typeface="Calibri" pitchFamily="34" charset="-122"/>
                <a:cs typeface="Calibri" pitchFamily="34" charset="-120"/>
              </a:rPr>
              <a:t>maximum rented space per household</a:t>
            </a:r>
            <a:endParaRPr lang="en-US" sz="1400" dirty="0"/>
          </a:p>
        </p:txBody>
      </p:sp>
      <p:sp>
        <p:nvSpPr>
          <p:cNvPr id="16" name="Text 14"/>
          <p:cNvSpPr txBox="1"/>
          <p:nvPr/>
        </p:nvSpPr>
        <p:spPr>
          <a:xfrm>
            <a:off x="8138160" y="3383280"/>
            <a:ext cx="3474720" cy="822960"/>
          </a:xfrm>
          <a:prstGeom prst="rect">
            <a:avLst/>
          </a:prstGeom>
          <a:noFill/>
          <a:ln/>
        </p:spPr>
        <p:txBody>
          <a:bodyPr wrap="square" lIns="0" tIns="0" rIns="0" bIns="0" rtlCol="0" anchor="t"/>
          <a:lstStyle/>
          <a:p>
            <a:pPr indent="0" marL="0">
              <a:buNone/>
            </a:pPr>
            <a:r>
              <a:rPr lang="en-US" sz="4400" b="1" dirty="0">
                <a:solidFill>
                  <a:srgbClr val="1F4D2B"/>
                </a:solidFill>
                <a:latin typeface="Cambria" pitchFamily="34" charset="0"/>
                <a:ea typeface="Cambria" pitchFamily="34" charset="-122"/>
                <a:cs typeface="Cambria" pitchFamily="34" charset="-120"/>
              </a:rPr>
              <a:t>50%</a:t>
            </a:r>
            <a:endParaRPr lang="en-US" sz="4400" dirty="0"/>
          </a:p>
        </p:txBody>
      </p:sp>
      <p:sp>
        <p:nvSpPr>
          <p:cNvPr id="17" name="Text 15"/>
          <p:cNvSpPr txBox="1"/>
          <p:nvPr/>
        </p:nvSpPr>
        <p:spPr>
          <a:xfrm>
            <a:off x="8138160" y="4206240"/>
            <a:ext cx="3383280" cy="731520"/>
          </a:xfrm>
          <a:prstGeom prst="rect">
            <a:avLst/>
          </a:prstGeom>
          <a:noFill/>
          <a:ln/>
        </p:spPr>
        <p:txBody>
          <a:bodyPr wrap="square" lIns="0" tIns="0" rIns="0" bIns="0" rtlCol="0" anchor="t"/>
          <a:lstStyle/>
          <a:p>
            <a:pPr indent="0" marL="0">
              <a:buNone/>
            </a:pPr>
            <a:r>
              <a:rPr lang="en-US" sz="1400" dirty="0">
                <a:solidFill>
                  <a:srgbClr val="5B6B63"/>
                </a:solidFill>
                <a:latin typeface="Calibri" pitchFamily="34" charset="0"/>
                <a:ea typeface="Calibri" pitchFamily="34" charset="-122"/>
                <a:cs typeface="Calibri" pitchFamily="34" charset="-120"/>
              </a:rPr>
              <a:t>grid pool charge at startup, so the first evening has energy to sell</a:t>
            </a:r>
            <a:endParaRPr lang="en-US" sz="1400" dirty="0"/>
          </a:p>
        </p:txBody>
      </p:sp>
      <p:sp>
        <p:nvSpPr>
          <p:cNvPr id="18" name="Shape 16"/>
          <p:cNvSpPr/>
          <p:nvPr/>
        </p:nvSpPr>
        <p:spPr>
          <a:xfrm>
            <a:off x="548640" y="5120640"/>
            <a:ext cx="11064240" cy="1051560"/>
          </a:xfrm>
          <a:prstGeom prst="roundRect">
            <a:avLst>
              <a:gd name="adj" fmla="val 10435"/>
            </a:avLst>
          </a:prstGeom>
          <a:solidFill>
            <a:srgbClr val="E4EEF6"/>
          </a:solidFill>
          <a:ln w="12700">
            <a:solidFill>
              <a:srgbClr val="E4EEF6"/>
            </a:solidFill>
            <a:prstDash val="solid"/>
          </a:ln>
        </p:spPr>
      </p:sp>
      <p:sp>
        <p:nvSpPr>
          <p:cNvPr id="19" name="Shape 17"/>
          <p:cNvSpPr/>
          <p:nvPr/>
        </p:nvSpPr>
        <p:spPr>
          <a:xfrm>
            <a:off x="777240" y="5303520"/>
            <a:ext cx="685800" cy="685800"/>
          </a:xfrm>
          <a:prstGeom prst="ellipse">
            <a:avLst/>
          </a:prstGeom>
          <a:solidFill>
            <a:srgbClr val="2F6690"/>
          </a:solidFill>
          <a:ln w="12700">
            <a:solidFill>
              <a:srgbClr val="2F6690"/>
            </a:solidFill>
            <a:prstDash val="solid"/>
          </a:ln>
        </p:spPr>
      </p:sp>
      <p:pic>
        <p:nvPicPr>
          <p:cNvPr id="20" name="Image 0" descr="preencoded.png">    </p:cNvPr>
          <p:cNvPicPr>
            <a:picLocks noChangeAspect="1"/>
          </p:cNvPicPr>
          <p:nvPr/>
        </p:nvPicPr>
        <p:blipFill>
          <a:blip r:embed="rId1"/>
          <a:stretch>
            <a:fillRect/>
          </a:stretch>
        </p:blipFill>
        <p:spPr>
          <a:xfrm>
            <a:off x="941832" y="5468112"/>
            <a:ext cx="356616" cy="356616"/>
          </a:xfrm>
          <a:prstGeom prst="rect">
            <a:avLst/>
          </a:prstGeom>
        </p:spPr>
      </p:pic>
      <p:sp>
        <p:nvSpPr>
          <p:cNvPr id="21" name="Text 18"/>
          <p:cNvSpPr txBox="1"/>
          <p:nvPr/>
        </p:nvSpPr>
        <p:spPr>
          <a:xfrm>
            <a:off x="1645920" y="5230368"/>
            <a:ext cx="9784080" cy="868680"/>
          </a:xfrm>
          <a:prstGeom prst="rect">
            <a:avLst/>
          </a:prstGeom>
          <a:noFill/>
          <a:ln/>
        </p:spPr>
        <p:txBody>
          <a:bodyPr wrap="square" lIns="0" tIns="0" rIns="0" bIns="0" rtlCol="0" anchor="ctr"/>
          <a:lstStyle/>
          <a:p>
            <a:pPr indent="0" marL="0">
              <a:buNone/>
            </a:pPr>
            <a:r>
              <a:rPr lang="en-US" sz="1450" dirty="0">
                <a:solidFill>
                  <a:srgbClr val="1B2A21"/>
                </a:solidFill>
                <a:latin typeface="Calibri" pitchFamily="34" charset="0"/>
                <a:ea typeface="Calibri" pitchFamily="34" charset="-122"/>
                <a:cs typeface="Calibri" pitchFamily="34" charset="-120"/>
              </a:rPr>
              <a:t>The grid pool trades in the auction like a real storage operator: it buys when the price is 10% below the 24-hour average and sells when it is 10% above. Its profit pays the network fees the operator sponsors.</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17</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7 · THE SHARED BATTERY</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A day in the microgrid (simulation run)</a:t>
            </a:r>
            <a:endParaRPr lang="en-US" sz="3200" dirty="0"/>
          </a:p>
        </p:txBody>
      </p:sp>
      <p:graphicFrame>
        <p:nvGraphicFramePr>
          <p:cNvPr id="5" name="Chart 0" descr=""/>
          <p:cNvGraphicFramePr/>
          <p:nvPr/>
        </p:nvGraphicFramePr>
        <p:xfrm>
          <a:off x="457200" y="1508760"/>
          <a:ext cx="7589520" cy="46634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321040" y="1691640"/>
            <a:ext cx="640080" cy="640080"/>
          </a:xfrm>
          <a:prstGeom prst="ellipse">
            <a:avLst/>
          </a:prstGeom>
          <a:solidFill>
            <a:srgbClr val="F2A900"/>
          </a:solidFill>
          <a:ln w="12700">
            <a:solidFill>
              <a:srgbClr val="F2A900"/>
            </a:solidFill>
            <a:prstDash val="solid"/>
          </a:ln>
        </p:spPr>
      </p:sp>
      <p:pic>
        <p:nvPicPr>
          <p:cNvPr id="7" name="Image 0" descr="preencoded.png">    </p:cNvPr>
          <p:cNvPicPr>
            <a:picLocks noChangeAspect="1"/>
          </p:cNvPicPr>
          <p:nvPr/>
        </p:nvPicPr>
        <p:blipFill>
          <a:blip r:embed="rId2"/>
          <a:stretch>
            <a:fillRect/>
          </a:stretch>
        </p:blipFill>
        <p:spPr>
          <a:xfrm>
            <a:off x="8474659" y="1845259"/>
            <a:ext cx="332842" cy="332842"/>
          </a:xfrm>
          <a:prstGeom prst="rect">
            <a:avLst/>
          </a:prstGeom>
        </p:spPr>
      </p:pic>
      <p:sp>
        <p:nvSpPr>
          <p:cNvPr id="8" name="Text 4"/>
          <p:cNvSpPr txBox="1"/>
          <p:nvPr/>
        </p:nvSpPr>
        <p:spPr>
          <a:xfrm>
            <a:off x="9144000" y="1691640"/>
            <a:ext cx="2468880" cy="32004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Noon</a:t>
            </a:r>
            <a:endParaRPr lang="en-US" sz="1600" dirty="0"/>
          </a:p>
        </p:txBody>
      </p:sp>
      <p:sp>
        <p:nvSpPr>
          <p:cNvPr id="9" name="Text 5"/>
          <p:cNvSpPr txBox="1"/>
          <p:nvPr/>
        </p:nvSpPr>
        <p:spPr>
          <a:xfrm>
            <a:off x="9144000" y="2039112"/>
            <a:ext cx="2468880" cy="1005840"/>
          </a:xfrm>
          <a:prstGeom prst="rect">
            <a:avLst/>
          </a:prstGeom>
          <a:noFill/>
          <a:ln/>
        </p:spPr>
        <p:txBody>
          <a:bodyPr wrap="square" lIns="0" tIns="0" rIns="0" bIns="0" rtlCol="0" anchor="t"/>
          <a:lstStyle/>
          <a:p>
            <a:pPr indent="0" marL="0">
              <a:buNone/>
            </a:pPr>
            <a:r>
              <a:rPr lang="en-US" sz="1350" dirty="0">
                <a:solidFill>
                  <a:srgbClr val="5B6B63"/>
                </a:solidFill>
                <a:latin typeface="Calibri" pitchFamily="34" charset="0"/>
                <a:ea typeface="Calibri" pitchFamily="34" charset="-122"/>
                <a:cs typeface="Calibri" pitchFamily="34" charset="-120"/>
              </a:rPr>
              <a:t>Lots of sun: price near 0.10, big exports, grid pool fills up.</a:t>
            </a:r>
            <a:endParaRPr lang="en-US" sz="1350" dirty="0"/>
          </a:p>
        </p:txBody>
      </p:sp>
      <p:sp>
        <p:nvSpPr>
          <p:cNvPr id="10" name="Shape 6"/>
          <p:cNvSpPr/>
          <p:nvPr/>
        </p:nvSpPr>
        <p:spPr>
          <a:xfrm>
            <a:off x="8321040" y="3154680"/>
            <a:ext cx="640080" cy="640080"/>
          </a:xfrm>
          <a:prstGeom prst="ellipse">
            <a:avLst/>
          </a:prstGeom>
          <a:solidFill>
            <a:srgbClr val="C0392B"/>
          </a:solidFill>
          <a:ln w="12700">
            <a:solidFill>
              <a:srgbClr val="C0392B"/>
            </a:solidFill>
            <a:prstDash val="solid"/>
          </a:ln>
        </p:spPr>
      </p:sp>
      <p:pic>
        <p:nvPicPr>
          <p:cNvPr id="11" name="Image 1" descr="preencoded.png">    </p:cNvPr>
          <p:cNvPicPr>
            <a:picLocks noChangeAspect="1"/>
          </p:cNvPicPr>
          <p:nvPr/>
        </p:nvPicPr>
        <p:blipFill>
          <a:blip r:embed="rId3"/>
          <a:stretch>
            <a:fillRect/>
          </a:stretch>
        </p:blipFill>
        <p:spPr>
          <a:xfrm>
            <a:off x="8474659" y="3308299"/>
            <a:ext cx="332842" cy="332842"/>
          </a:xfrm>
          <a:prstGeom prst="rect">
            <a:avLst/>
          </a:prstGeom>
        </p:spPr>
      </p:pic>
      <p:sp>
        <p:nvSpPr>
          <p:cNvPr id="12" name="Text 7"/>
          <p:cNvSpPr txBox="1"/>
          <p:nvPr/>
        </p:nvSpPr>
        <p:spPr>
          <a:xfrm>
            <a:off x="9144000" y="3154680"/>
            <a:ext cx="2468880" cy="32004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Evening peak</a:t>
            </a:r>
            <a:endParaRPr lang="en-US" sz="1600" dirty="0"/>
          </a:p>
        </p:txBody>
      </p:sp>
      <p:sp>
        <p:nvSpPr>
          <p:cNvPr id="13" name="Text 8"/>
          <p:cNvSpPr txBox="1"/>
          <p:nvPr/>
        </p:nvSpPr>
        <p:spPr>
          <a:xfrm>
            <a:off x="9144000" y="3502152"/>
            <a:ext cx="2468880" cy="1005840"/>
          </a:xfrm>
          <a:prstGeom prst="rect">
            <a:avLst/>
          </a:prstGeom>
          <a:noFill/>
          <a:ln/>
        </p:spPr>
        <p:txBody>
          <a:bodyPr wrap="square" lIns="0" tIns="0" rIns="0" bIns="0" rtlCol="0" anchor="t"/>
          <a:lstStyle/>
          <a:p>
            <a:pPr indent="0" marL="0">
              <a:buNone/>
            </a:pPr>
            <a:r>
              <a:rPr lang="en-US" sz="1350" dirty="0">
                <a:solidFill>
                  <a:srgbClr val="5B6B63"/>
                </a:solidFill>
                <a:latin typeface="Calibri" pitchFamily="34" charset="0"/>
                <a:ea typeface="Calibri" pitchFamily="34" charset="-122"/>
                <a:cs typeface="Calibri" pitchFamily="34" charset="-120"/>
              </a:rPr>
              <a:t>No sun: grid pool and batteries sell, price climbs to 0.20.</a:t>
            </a:r>
            <a:endParaRPr lang="en-US" sz="1350" dirty="0"/>
          </a:p>
        </p:txBody>
      </p:sp>
      <p:sp>
        <p:nvSpPr>
          <p:cNvPr id="14" name="Shape 9"/>
          <p:cNvSpPr/>
          <p:nvPr/>
        </p:nvSpPr>
        <p:spPr>
          <a:xfrm>
            <a:off x="8321040" y="4617720"/>
            <a:ext cx="640080" cy="640080"/>
          </a:xfrm>
          <a:prstGeom prst="ellipse">
            <a:avLst/>
          </a:prstGeom>
          <a:solidFill>
            <a:srgbClr val="2F6690"/>
          </a:solidFill>
          <a:ln w="12700">
            <a:solidFill>
              <a:srgbClr val="2F6690"/>
            </a:solidFill>
            <a:prstDash val="solid"/>
          </a:ln>
        </p:spPr>
      </p:sp>
      <p:pic>
        <p:nvPicPr>
          <p:cNvPr id="15" name="Image 2" descr="preencoded.png">    </p:cNvPr>
          <p:cNvPicPr>
            <a:picLocks noChangeAspect="1"/>
          </p:cNvPicPr>
          <p:nvPr/>
        </p:nvPicPr>
        <p:blipFill>
          <a:blip r:embed="rId4"/>
          <a:stretch>
            <a:fillRect/>
          </a:stretch>
        </p:blipFill>
        <p:spPr>
          <a:xfrm>
            <a:off x="8474659" y="4771339"/>
            <a:ext cx="332842" cy="332842"/>
          </a:xfrm>
          <a:prstGeom prst="rect">
            <a:avLst/>
          </a:prstGeom>
        </p:spPr>
      </p:pic>
      <p:sp>
        <p:nvSpPr>
          <p:cNvPr id="16" name="Text 10"/>
          <p:cNvSpPr txBox="1"/>
          <p:nvPr/>
        </p:nvSpPr>
        <p:spPr>
          <a:xfrm>
            <a:off x="9144000" y="4617720"/>
            <a:ext cx="2468880" cy="32004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Night</a:t>
            </a:r>
            <a:endParaRPr lang="en-US" sz="1600" dirty="0"/>
          </a:p>
        </p:txBody>
      </p:sp>
      <p:sp>
        <p:nvSpPr>
          <p:cNvPr id="17" name="Text 11"/>
          <p:cNvSpPr txBox="1"/>
          <p:nvPr/>
        </p:nvSpPr>
        <p:spPr>
          <a:xfrm>
            <a:off x="9144000" y="4965192"/>
            <a:ext cx="2468880" cy="1005840"/>
          </a:xfrm>
          <a:prstGeom prst="rect">
            <a:avLst/>
          </a:prstGeom>
          <a:noFill/>
          <a:ln/>
        </p:spPr>
        <p:txBody>
          <a:bodyPr wrap="square" lIns="0" tIns="0" rIns="0" bIns="0" rtlCol="0" anchor="t"/>
          <a:lstStyle/>
          <a:p>
            <a:pPr indent="0" marL="0">
              <a:buNone/>
            </a:pPr>
            <a:r>
              <a:rPr lang="en-US" sz="1350" dirty="0">
                <a:solidFill>
                  <a:srgbClr val="5B6B63"/>
                </a:solidFill>
                <a:latin typeface="Calibri" pitchFamily="34" charset="0"/>
                <a:ea typeface="Calibri" pitchFamily="34" charset="-122"/>
                <a:cs typeface="Calibri" pitchFamily="34" charset="-120"/>
              </a:rPr>
              <a:t>Only wind is left, demand is low: price falls back to 0.09.</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8 · MONEY &amp; THE LEDGER</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1 TEC = 1 unit of real money</a:t>
            </a:r>
            <a:endParaRPr lang="en-US" sz="3200" dirty="0"/>
          </a:p>
        </p:txBody>
      </p:sp>
      <p:sp>
        <p:nvSpPr>
          <p:cNvPr id="5" name="Shape 3"/>
          <p:cNvSpPr/>
          <p:nvPr/>
        </p:nvSpPr>
        <p:spPr>
          <a:xfrm>
            <a:off x="548640" y="1600200"/>
            <a:ext cx="3291840" cy="2194560"/>
          </a:xfrm>
          <a:prstGeom prst="roundRect">
            <a:avLst>
              <a:gd name="adj" fmla="val 5000"/>
            </a:avLst>
          </a:prstGeom>
          <a:solidFill>
            <a:srgbClr val="FDF3D6"/>
          </a:solidFill>
          <a:ln w="12700">
            <a:solidFill>
              <a:srgbClr val="FDF3D6"/>
            </a:solidFill>
            <a:prstDash val="solid"/>
          </a:ln>
        </p:spPr>
      </p:sp>
      <p:sp>
        <p:nvSpPr>
          <p:cNvPr id="6" name="Text 4"/>
          <p:cNvSpPr txBox="1"/>
          <p:nvPr/>
        </p:nvSpPr>
        <p:spPr>
          <a:xfrm>
            <a:off x="822960" y="1783080"/>
            <a:ext cx="2834640" cy="822960"/>
          </a:xfrm>
          <a:prstGeom prst="rect">
            <a:avLst/>
          </a:prstGeom>
          <a:noFill/>
          <a:ln/>
        </p:spPr>
        <p:txBody>
          <a:bodyPr wrap="square" lIns="0" tIns="0" rIns="0" bIns="0" rtlCol="0" anchor="t"/>
          <a:lstStyle/>
          <a:p>
            <a:pPr indent="0" marL="0">
              <a:buNone/>
            </a:pPr>
            <a:r>
              <a:rPr lang="en-US" sz="5000" b="1" dirty="0">
                <a:solidFill>
                  <a:srgbClr val="1F4D2B"/>
                </a:solidFill>
                <a:latin typeface="Cambria" pitchFamily="34" charset="0"/>
                <a:ea typeface="Cambria" pitchFamily="34" charset="-122"/>
                <a:cs typeface="Cambria" pitchFamily="34" charset="-120"/>
              </a:rPr>
              <a:t>1 TEC</a:t>
            </a:r>
            <a:endParaRPr lang="en-US" sz="5000" dirty="0"/>
          </a:p>
        </p:txBody>
      </p:sp>
      <p:sp>
        <p:nvSpPr>
          <p:cNvPr id="7" name="Text 5"/>
          <p:cNvSpPr txBox="1"/>
          <p:nvPr/>
        </p:nvSpPr>
        <p:spPr>
          <a:xfrm>
            <a:off x="822960" y="2651760"/>
            <a:ext cx="2834640" cy="1005840"/>
          </a:xfrm>
          <a:prstGeom prst="rect">
            <a:avLst/>
          </a:prstGeom>
          <a:noFill/>
          <a:ln/>
        </p:spPr>
        <p:txBody>
          <a:bodyPr wrap="square" lIns="0" tIns="0" rIns="0" bIns="0" rtlCol="0" anchor="t"/>
          <a:lstStyle/>
          <a:p>
            <a:pPr indent="0" marL="0">
              <a:buNone/>
            </a:pPr>
            <a:r>
              <a:rPr lang="en-US" sz="1400" dirty="0">
                <a:solidFill>
                  <a:srgbClr val="1B2A21"/>
                </a:solidFill>
                <a:latin typeface="Calibri" pitchFamily="34" charset="0"/>
                <a:ea typeface="Calibri" pitchFamily="34" charset="-122"/>
                <a:cs typeface="Calibri" pitchFamily="34" charset="-120"/>
              </a:rPr>
              <a:t>= 1 € (for example), always. A stable token backed by the operator's reserve.</a:t>
            </a:r>
            <a:endParaRPr lang="en-US" sz="1400" dirty="0"/>
          </a:p>
        </p:txBody>
      </p:sp>
      <p:sp>
        <p:nvSpPr>
          <p:cNvPr id="8" name="Shape 6"/>
          <p:cNvSpPr/>
          <p:nvPr/>
        </p:nvSpPr>
        <p:spPr>
          <a:xfrm>
            <a:off x="4206240" y="1645920"/>
            <a:ext cx="548640" cy="548640"/>
          </a:xfrm>
          <a:prstGeom prst="ellipse">
            <a:avLst/>
          </a:prstGeom>
          <a:solidFill>
            <a:srgbClr val="1F4D2B"/>
          </a:solidFill>
          <a:ln w="12700">
            <a:solidFill>
              <a:srgbClr val="1F4D2B"/>
            </a:solidFill>
            <a:prstDash val="solid"/>
          </a:ln>
        </p:spPr>
      </p:sp>
      <p:pic>
        <p:nvPicPr>
          <p:cNvPr id="9" name="Image 0" descr="preencoded.png">    </p:cNvPr>
          <p:cNvPicPr>
            <a:picLocks noChangeAspect="1"/>
          </p:cNvPicPr>
          <p:nvPr/>
        </p:nvPicPr>
        <p:blipFill>
          <a:blip r:embed="rId1"/>
          <a:stretch>
            <a:fillRect/>
          </a:stretch>
        </p:blipFill>
        <p:spPr>
          <a:xfrm>
            <a:off x="4337914" y="1777594"/>
            <a:ext cx="285293" cy="285293"/>
          </a:xfrm>
          <a:prstGeom prst="rect">
            <a:avLst/>
          </a:prstGeom>
        </p:spPr>
      </p:pic>
      <p:sp>
        <p:nvSpPr>
          <p:cNvPr id="10" name="Text 7"/>
          <p:cNvSpPr txBox="1"/>
          <p:nvPr/>
        </p:nvSpPr>
        <p:spPr>
          <a:xfrm>
            <a:off x="4892040" y="1600200"/>
            <a:ext cx="2011680" cy="32004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Treasury</a:t>
            </a:r>
            <a:endParaRPr lang="en-US" sz="1600" dirty="0"/>
          </a:p>
        </p:txBody>
      </p:sp>
      <p:sp>
        <p:nvSpPr>
          <p:cNvPr id="11" name="Text 8"/>
          <p:cNvSpPr txBox="1"/>
          <p:nvPr/>
        </p:nvSpPr>
        <p:spPr>
          <a:xfrm>
            <a:off x="4892040" y="1901952"/>
            <a:ext cx="6675120" cy="41148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The bank: holds the reserve (10,000 TEC), creates and destroys TEC, pays welcome grants.</a:t>
            </a:r>
            <a:endParaRPr lang="en-US" sz="1300" dirty="0"/>
          </a:p>
        </p:txBody>
      </p:sp>
      <p:sp>
        <p:nvSpPr>
          <p:cNvPr id="12" name="Shape 9"/>
          <p:cNvSpPr/>
          <p:nvPr/>
        </p:nvSpPr>
        <p:spPr>
          <a:xfrm>
            <a:off x="4206240" y="2404872"/>
            <a:ext cx="548640" cy="548640"/>
          </a:xfrm>
          <a:prstGeom prst="ellipse">
            <a:avLst/>
          </a:prstGeom>
          <a:solidFill>
            <a:srgbClr val="3E8E41"/>
          </a:solidFill>
          <a:ln w="12700">
            <a:solidFill>
              <a:srgbClr val="3E8E41"/>
            </a:solidFill>
            <a:prstDash val="solid"/>
          </a:ln>
        </p:spPr>
      </p:sp>
      <p:pic>
        <p:nvPicPr>
          <p:cNvPr id="13" name="Image 1" descr="preencoded.png">    </p:cNvPr>
          <p:cNvPicPr>
            <a:picLocks noChangeAspect="1"/>
          </p:cNvPicPr>
          <p:nvPr/>
        </p:nvPicPr>
        <p:blipFill>
          <a:blip r:embed="rId2"/>
          <a:stretch>
            <a:fillRect/>
          </a:stretch>
        </p:blipFill>
        <p:spPr>
          <a:xfrm>
            <a:off x="4337914" y="2536546"/>
            <a:ext cx="285293" cy="285293"/>
          </a:xfrm>
          <a:prstGeom prst="rect">
            <a:avLst/>
          </a:prstGeom>
        </p:spPr>
      </p:pic>
      <p:sp>
        <p:nvSpPr>
          <p:cNvPr id="14" name="Text 10"/>
          <p:cNvSpPr txBox="1"/>
          <p:nvPr/>
        </p:nvSpPr>
        <p:spPr>
          <a:xfrm>
            <a:off x="4892040" y="2359152"/>
            <a:ext cx="2011680" cy="32004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Clearing</a:t>
            </a:r>
            <a:endParaRPr lang="en-US" sz="1600" dirty="0"/>
          </a:p>
        </p:txBody>
      </p:sp>
      <p:sp>
        <p:nvSpPr>
          <p:cNvPr id="15" name="Text 11"/>
          <p:cNvSpPr txBox="1"/>
          <p:nvPr/>
        </p:nvSpPr>
        <p:spPr>
          <a:xfrm>
            <a:off x="4892040" y="2660904"/>
            <a:ext cx="6675120" cy="41148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The auction's middleman. Back to zero after every auction.</a:t>
            </a:r>
            <a:endParaRPr lang="en-US" sz="1300" dirty="0"/>
          </a:p>
        </p:txBody>
      </p:sp>
      <p:sp>
        <p:nvSpPr>
          <p:cNvPr id="16" name="Shape 12"/>
          <p:cNvSpPr/>
          <p:nvPr/>
        </p:nvSpPr>
        <p:spPr>
          <a:xfrm>
            <a:off x="4206240" y="3163824"/>
            <a:ext cx="548640" cy="548640"/>
          </a:xfrm>
          <a:prstGeom prst="ellipse">
            <a:avLst/>
          </a:prstGeom>
          <a:solidFill>
            <a:srgbClr val="2F6690"/>
          </a:solidFill>
          <a:ln w="12700">
            <a:solidFill>
              <a:srgbClr val="2F6690"/>
            </a:solidFill>
            <a:prstDash val="solid"/>
          </a:ln>
        </p:spPr>
      </p:sp>
      <p:pic>
        <p:nvPicPr>
          <p:cNvPr id="17" name="Image 2" descr="preencoded.png">    </p:cNvPr>
          <p:cNvPicPr>
            <a:picLocks noChangeAspect="1"/>
          </p:cNvPicPr>
          <p:nvPr/>
        </p:nvPicPr>
        <p:blipFill>
          <a:blip r:embed="rId3"/>
          <a:stretch>
            <a:fillRect/>
          </a:stretch>
        </p:blipFill>
        <p:spPr>
          <a:xfrm>
            <a:off x="4337914" y="3295498"/>
            <a:ext cx="285293" cy="285293"/>
          </a:xfrm>
          <a:prstGeom prst="rect">
            <a:avLst/>
          </a:prstGeom>
        </p:spPr>
      </p:pic>
      <p:sp>
        <p:nvSpPr>
          <p:cNvPr id="18" name="Text 13"/>
          <p:cNvSpPr txBox="1"/>
          <p:nvPr/>
        </p:nvSpPr>
        <p:spPr>
          <a:xfrm>
            <a:off x="4892040" y="3118104"/>
            <a:ext cx="2011680" cy="320040"/>
          </a:xfrm>
          <a:prstGeom prst="rect">
            <a:avLst/>
          </a:prstGeom>
          <a:noFill/>
          <a:ln/>
        </p:spPr>
        <p:txBody>
          <a:bodyPr wrap="square" lIns="0" tIns="0" rIns="0" bIns="0" rtlCol="0" anchor="t"/>
          <a:lstStyle/>
          <a:p>
            <a:pPr indent="0" marL="0">
              <a:buNone/>
            </a:pPr>
            <a:r>
              <a:rPr lang="en-US" sz="1600" b="1" dirty="0">
                <a:solidFill>
                  <a:srgbClr val="1F4D2B"/>
                </a:solidFill>
                <a:latin typeface="Calibri" pitchFamily="34" charset="0"/>
                <a:ea typeface="Calibri" pitchFamily="34" charset="-122"/>
                <a:cs typeface="Calibri" pitchFamily="34" charset="-120"/>
              </a:rPr>
              <a:t>Grid storage</a:t>
            </a:r>
            <a:endParaRPr lang="en-US" sz="1600" dirty="0"/>
          </a:p>
        </p:txBody>
      </p:sp>
      <p:sp>
        <p:nvSpPr>
          <p:cNvPr id="19" name="Text 14"/>
          <p:cNvSpPr txBox="1"/>
          <p:nvPr/>
        </p:nvSpPr>
        <p:spPr>
          <a:xfrm>
            <a:off x="4892040" y="3419856"/>
            <a:ext cx="6675120" cy="41148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The grid pool's trading account. Its profit funds the fees.</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069080"/>
          <a:ext cx="11064240" cy="914400"/>
        </p:xfrm>
        <a:graphic>
          <a:graphicData uri="http://schemas.openxmlformats.org/drawingml/2006/table">
            <a:tbl>
              <a:tblPr/>
              <a:tblGrid>
                <a:gridCol w="4206240"/>
                <a:gridCol w="6858000"/>
              </a:tblGrid>
              <a:tr h="36576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Event</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1F4D2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Movement</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1F4D2B"/>
                    </a:solidFill>
                  </a:tcPr>
                </a:tc>
              </a:tr>
              <a:tr h="365760">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Top-up (simulated payment)</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Treasury creates TEC for the household</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r>
              <a:tr h="365760">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Cash-out</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6"/>
                    </a:solidFill>
                  </a:tcPr>
                </a:tc>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Household returns TEC, it is destroyed</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6"/>
                    </a:solidFill>
                  </a:tcPr>
                </a:tc>
              </a:tr>
              <a:tr h="365760">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Welcome grant (10 TEC)</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Treasury → new prosumer or consumer</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r>
              <a:tr h="365760">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Auction</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6"/>
                    </a:solidFill>
                  </a:tcPr>
                </a:tc>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Buyers → clearing → sellers</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6"/>
                    </a:solidFill>
                  </a:tcPr>
                </a:tc>
              </a:tr>
              <a:tr h="365760">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Marketplace</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Buyer → seller directly</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19</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8 · MONEY &amp; THE LEDGER</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What the ledger records</a:t>
            </a:r>
            <a:endParaRPr lang="en-US" sz="3200" dirty="0"/>
          </a:p>
        </p:txBody>
      </p:sp>
      <p:sp>
        <p:nvSpPr>
          <p:cNvPr id="5" name="Shape 3"/>
          <p:cNvSpPr/>
          <p:nvPr/>
        </p:nvSpPr>
        <p:spPr>
          <a:xfrm>
            <a:off x="548640" y="1600200"/>
            <a:ext cx="5394960" cy="2468880"/>
          </a:xfrm>
          <a:prstGeom prst="roundRect">
            <a:avLst>
              <a:gd name="adj" fmla="val 4444"/>
            </a:avLst>
          </a:prstGeom>
          <a:solidFill>
            <a:srgbClr val="EEF5E6"/>
          </a:solidFill>
          <a:ln w="12700">
            <a:solidFill>
              <a:srgbClr val="EEF5E6"/>
            </a:solidFill>
            <a:prstDash val="solid"/>
          </a:ln>
        </p:spPr>
      </p:sp>
      <p:sp>
        <p:nvSpPr>
          <p:cNvPr id="6" name="Shape 4"/>
          <p:cNvSpPr/>
          <p:nvPr/>
        </p:nvSpPr>
        <p:spPr>
          <a:xfrm>
            <a:off x="822960" y="1783080"/>
            <a:ext cx="594360" cy="594360"/>
          </a:xfrm>
          <a:prstGeom prst="ellipse">
            <a:avLst/>
          </a:prstGeom>
          <a:solidFill>
            <a:srgbClr val="1F4D2B"/>
          </a:solidFill>
          <a:ln w="12700">
            <a:solidFill>
              <a:srgbClr val="1F4D2B"/>
            </a:solidFill>
            <a:prstDash val="solid"/>
          </a:ln>
        </p:spPr>
      </p:sp>
      <p:pic>
        <p:nvPicPr>
          <p:cNvPr id="7" name="Image 0" descr="preencoded.png">    </p:cNvPr>
          <p:cNvPicPr>
            <a:picLocks noChangeAspect="1"/>
          </p:cNvPicPr>
          <p:nvPr/>
        </p:nvPicPr>
        <p:blipFill>
          <a:blip r:embed="rId1"/>
          <a:stretch>
            <a:fillRect/>
          </a:stretch>
        </p:blipFill>
        <p:spPr>
          <a:xfrm>
            <a:off x="965606" y="1925726"/>
            <a:ext cx="309067" cy="309067"/>
          </a:xfrm>
          <a:prstGeom prst="rect">
            <a:avLst/>
          </a:prstGeom>
        </p:spPr>
      </p:pic>
      <p:sp>
        <p:nvSpPr>
          <p:cNvPr id="8" name="Text 5"/>
          <p:cNvSpPr txBox="1"/>
          <p:nvPr/>
        </p:nvSpPr>
        <p:spPr>
          <a:xfrm>
            <a:off x="1600200" y="1847088"/>
            <a:ext cx="4114800" cy="411480"/>
          </a:xfrm>
          <a:prstGeom prst="rect">
            <a:avLst/>
          </a:prstGeom>
          <a:noFill/>
          <a:ln/>
        </p:spPr>
        <p:txBody>
          <a:bodyPr wrap="square" lIns="0" tIns="0" rIns="0" bIns="0" rtlCol="0" anchor="t"/>
          <a:lstStyle/>
          <a:p>
            <a:pPr indent="0" marL="0">
              <a:buNone/>
            </a:pPr>
            <a:r>
              <a:rPr lang="en-US" sz="1900" b="1" dirty="0">
                <a:solidFill>
                  <a:srgbClr val="1F4D2B"/>
                </a:solidFill>
                <a:latin typeface="Cambria" pitchFamily="34" charset="0"/>
                <a:ea typeface="Cambria" pitchFamily="34" charset="-122"/>
                <a:cs typeface="Cambria" pitchFamily="34" charset="-120"/>
              </a:rPr>
              <a:t>On the ledger</a:t>
            </a:r>
            <a:endParaRPr lang="en-US" sz="1900" dirty="0"/>
          </a:p>
        </p:txBody>
      </p:sp>
      <p:sp>
        <p:nvSpPr>
          <p:cNvPr id="9" name="Text 6"/>
          <p:cNvSpPr txBox="1"/>
          <p:nvPr/>
        </p:nvSpPr>
        <p:spPr>
          <a:xfrm>
            <a:off x="868680" y="2560320"/>
            <a:ext cx="484632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Every TEC movement</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Certificates: issued, transferred, retired</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One summary per auction: price, volume, participants</a:t>
            </a:r>
            <a:endParaRPr lang="en-US" sz="1500" dirty="0"/>
          </a:p>
        </p:txBody>
      </p:sp>
      <p:sp>
        <p:nvSpPr>
          <p:cNvPr id="10" name="Shape 7"/>
          <p:cNvSpPr/>
          <p:nvPr/>
        </p:nvSpPr>
        <p:spPr>
          <a:xfrm>
            <a:off x="6217920" y="1600200"/>
            <a:ext cx="5394960" cy="2468880"/>
          </a:xfrm>
          <a:prstGeom prst="roundRect">
            <a:avLst>
              <a:gd name="adj" fmla="val 4444"/>
            </a:avLst>
          </a:prstGeom>
          <a:solidFill>
            <a:srgbClr val="E4EEF6"/>
          </a:solidFill>
          <a:ln w="12700">
            <a:solidFill>
              <a:srgbClr val="E4EEF6"/>
            </a:solidFill>
            <a:prstDash val="solid"/>
          </a:ln>
        </p:spPr>
      </p:sp>
      <p:sp>
        <p:nvSpPr>
          <p:cNvPr id="11" name="Shape 8"/>
          <p:cNvSpPr/>
          <p:nvPr/>
        </p:nvSpPr>
        <p:spPr>
          <a:xfrm>
            <a:off x="6492240" y="1783080"/>
            <a:ext cx="594360" cy="594360"/>
          </a:xfrm>
          <a:prstGeom prst="ellipse">
            <a:avLst/>
          </a:prstGeom>
          <a:solidFill>
            <a:srgbClr val="2F6690"/>
          </a:solidFill>
          <a:ln w="12700">
            <a:solidFill>
              <a:srgbClr val="2F6690"/>
            </a:solidFill>
            <a:prstDash val="solid"/>
          </a:ln>
        </p:spPr>
      </p:sp>
      <p:pic>
        <p:nvPicPr>
          <p:cNvPr id="12" name="Image 1" descr="preencoded.png">    </p:cNvPr>
          <p:cNvPicPr>
            <a:picLocks noChangeAspect="1"/>
          </p:cNvPicPr>
          <p:nvPr/>
        </p:nvPicPr>
        <p:blipFill>
          <a:blip r:embed="rId2"/>
          <a:stretch>
            <a:fillRect/>
          </a:stretch>
        </p:blipFill>
        <p:spPr>
          <a:xfrm>
            <a:off x="6634886" y="1925726"/>
            <a:ext cx="309067" cy="309067"/>
          </a:xfrm>
          <a:prstGeom prst="rect">
            <a:avLst/>
          </a:prstGeom>
        </p:spPr>
      </p:pic>
      <p:sp>
        <p:nvSpPr>
          <p:cNvPr id="13" name="Text 9"/>
          <p:cNvSpPr txBox="1"/>
          <p:nvPr/>
        </p:nvSpPr>
        <p:spPr>
          <a:xfrm>
            <a:off x="7269480" y="1847088"/>
            <a:ext cx="4114800" cy="411480"/>
          </a:xfrm>
          <a:prstGeom prst="rect">
            <a:avLst/>
          </a:prstGeom>
          <a:noFill/>
          <a:ln/>
        </p:spPr>
        <p:txBody>
          <a:bodyPr wrap="square" lIns="0" tIns="0" rIns="0" bIns="0" rtlCol="0" anchor="t"/>
          <a:lstStyle/>
          <a:p>
            <a:pPr indent="0" marL="0">
              <a:buNone/>
            </a:pPr>
            <a:r>
              <a:rPr lang="en-US" sz="1900" b="1" dirty="0">
                <a:solidFill>
                  <a:srgbClr val="2F6690"/>
                </a:solidFill>
                <a:latin typeface="Cambria" pitchFamily="34" charset="0"/>
                <a:ea typeface="Cambria" pitchFamily="34" charset="-122"/>
                <a:cs typeface="Cambria" pitchFamily="34" charset="-120"/>
              </a:rPr>
              <a:t>Not on the ledger</a:t>
            </a:r>
            <a:endParaRPr lang="en-US" sz="1900" dirty="0"/>
          </a:p>
        </p:txBody>
      </p:sp>
      <p:sp>
        <p:nvSpPr>
          <p:cNvPr id="14" name="Text 10"/>
          <p:cNvSpPr txBox="1"/>
          <p:nvPr/>
        </p:nvSpPr>
        <p:spPr>
          <a:xfrm>
            <a:off x="6537960" y="2560320"/>
            <a:ext cx="484632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Raw meter readings (only the certificates they create)</a:t>
            </a:r>
            <a:endParaRPr lang="en-US" sz="1500" dirty="0"/>
          </a:p>
          <a:p>
            <a:pPr marL="342900" indent="-342900">
              <a:spcAft>
                <a:spcPts val="600"/>
              </a:spcAft>
              <a:buSzPct val="100000"/>
              <a:buChar char="•"/>
            </a:pPr>
            <a:r>
              <a:rPr lang="en-US" sz="1500" dirty="0">
                <a:solidFill>
                  <a:srgbClr val="1B2A21"/>
                </a:solidFill>
                <a:latin typeface="Calibri" pitchFamily="34" charset="0"/>
                <a:ea typeface="Calibri" pitchFamily="34" charset="-122"/>
                <a:cs typeface="Calibri" pitchFamily="34" charset="-120"/>
              </a:rPr>
              <a:t>The utility statement: imports and exports in real money, like a normal electricity bill</a:t>
            </a:r>
            <a:endParaRPr lang="en-US" sz="1500" dirty="0"/>
          </a:p>
        </p:txBody>
      </p:sp>
      <p:sp>
        <p:nvSpPr>
          <p:cNvPr id="15" name="Text 11"/>
          <p:cNvSpPr txBox="1"/>
          <p:nvPr/>
        </p:nvSpPr>
        <p:spPr>
          <a:xfrm>
            <a:off x="548640" y="4389120"/>
            <a:ext cx="10972800" cy="320040"/>
          </a:xfrm>
          <a:prstGeom prst="rect">
            <a:avLst/>
          </a:prstGeom>
          <a:noFill/>
          <a:ln/>
        </p:spPr>
        <p:txBody>
          <a:bodyPr wrap="square" lIns="0" tIns="0" rIns="0" bIns="0" rtlCol="0" anchor="t"/>
          <a:lstStyle/>
          <a:p>
            <a:pPr indent="0" marL="0">
              <a:buNone/>
            </a:pPr>
            <a:r>
              <a:rPr lang="en-US" sz="1400" b="1" dirty="0">
                <a:solidFill>
                  <a:srgbClr val="5B6B63"/>
                </a:solidFill>
                <a:latin typeface="Calibri" pitchFamily="34" charset="0"/>
                <a:ea typeface="Calibri" pitchFamily="34" charset="-122"/>
                <a:cs typeface="Calibri" pitchFamily="34" charset="-120"/>
              </a:rPr>
              <a:t>A transaction on the simulated Hedera ledger</a:t>
            </a:r>
            <a:endParaRPr lang="en-US" sz="1400" dirty="0"/>
          </a:p>
        </p:txBody>
      </p:sp>
      <p:sp>
        <p:nvSpPr>
          <p:cNvPr id="16" name="Shape 12"/>
          <p:cNvSpPr/>
          <p:nvPr/>
        </p:nvSpPr>
        <p:spPr>
          <a:xfrm>
            <a:off x="548640" y="4754880"/>
            <a:ext cx="11064240" cy="1097280"/>
          </a:xfrm>
          <a:prstGeom prst="roundRect">
            <a:avLst>
              <a:gd name="adj" fmla="val 10000"/>
            </a:avLst>
          </a:prstGeom>
          <a:solidFill>
            <a:srgbClr val="F4F6F5"/>
          </a:solidFill>
          <a:ln w="12700">
            <a:solidFill>
              <a:srgbClr val="F4F6F5"/>
            </a:solidFill>
            <a:prstDash val="solid"/>
          </a:ln>
        </p:spPr>
      </p:sp>
      <p:sp>
        <p:nvSpPr>
          <p:cNvPr id="17" name="Text 13"/>
          <p:cNvSpPr txBox="1"/>
          <p:nvPr/>
        </p:nvSpPr>
        <p:spPr>
          <a:xfrm>
            <a:off x="777240" y="4800600"/>
            <a:ext cx="10698480" cy="1005840"/>
          </a:xfrm>
          <a:prstGeom prst="rect">
            <a:avLst/>
          </a:prstGeom>
          <a:noFill/>
          <a:ln/>
        </p:spPr>
        <p:txBody>
          <a:bodyPr wrap="square" lIns="0" tIns="0" rIns="0" bIns="0" rtlCol="0" anchor="ctr"/>
          <a:lstStyle/>
          <a:p>
            <a:pPr indent="0" marL="0">
              <a:buNone/>
            </a:pPr>
            <a:r>
              <a:rPr lang="en-US" sz="1400" dirty="0">
                <a:solidFill>
                  <a:srgbClr val="1F4D2B"/>
                </a:solidFill>
                <a:latin typeface="Courier New" pitchFamily="34" charset="0"/>
                <a:ea typeface="Courier New" pitchFamily="34" charset="-122"/>
                <a:cs typeface="Courier New" pitchFamily="34" charset="-120"/>
              </a:rPr>
              <a:t>0.0.1000@1727600000.000000123</a:t>
            </a:r>
            <a:endParaRPr lang="en-US" sz="1400" dirty="0"/>
          </a:p>
          <a:p>
            <a:pPr indent="0" marL="0">
              <a:buNone/>
            </a:pPr>
            <a:r>
              <a:rPr lang="en-US" sz="1400" dirty="0">
                <a:solidFill>
                  <a:srgbClr val="1F4D2B"/>
                </a:solidFill>
                <a:latin typeface="Courier New" pitchFamily="34" charset="0"/>
                <a:ea typeface="Courier New" pitchFamily="34" charset="-122"/>
                <a:cs typeface="Courier New" pitchFamily="34" charset="-120"/>
              </a:rPr>
              <a:t>Auction payout · Clearing → Prosumer 2 · 0.84 TEC · fee 0.0001 ℏ paid by operator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20</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9 · THE MARKETPLACE</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Fixed-price deals next to the auction</a:t>
            </a:r>
            <a:endParaRPr lang="en-US" sz="3200" dirty="0"/>
          </a:p>
        </p:txBody>
      </p:sp>
      <p:sp>
        <p:nvSpPr>
          <p:cNvPr id="5" name="Shape 3"/>
          <p:cNvSpPr/>
          <p:nvPr/>
        </p:nvSpPr>
        <p:spPr>
          <a:xfrm>
            <a:off x="548640" y="1645920"/>
            <a:ext cx="2468880" cy="2468880"/>
          </a:xfrm>
          <a:prstGeom prst="roundRect">
            <a:avLst>
              <a:gd name="adj" fmla="val 4444"/>
            </a:avLst>
          </a:prstGeom>
          <a:solidFill>
            <a:srgbClr val="EEF5E6"/>
          </a:solidFill>
          <a:ln w="12700">
            <a:solidFill>
              <a:srgbClr val="EEF5E6"/>
            </a:solidFill>
            <a:prstDash val="solid"/>
          </a:ln>
        </p:spPr>
      </p:sp>
      <p:sp>
        <p:nvSpPr>
          <p:cNvPr id="6" name="Shape 4"/>
          <p:cNvSpPr/>
          <p:nvPr/>
        </p:nvSpPr>
        <p:spPr>
          <a:xfrm>
            <a:off x="777240" y="1874520"/>
            <a:ext cx="640080" cy="640080"/>
          </a:xfrm>
          <a:prstGeom prst="ellipse">
            <a:avLst/>
          </a:prstGeom>
          <a:solidFill>
            <a:srgbClr val="3E8E41"/>
          </a:solidFill>
          <a:ln w="12700">
            <a:solidFill>
              <a:srgbClr val="3E8E41"/>
            </a:solidFill>
            <a:prstDash val="solid"/>
          </a:ln>
        </p:spPr>
      </p:sp>
      <p:pic>
        <p:nvPicPr>
          <p:cNvPr id="7" name="Image 0" descr="preencoded.png">    </p:cNvPr>
          <p:cNvPicPr>
            <a:picLocks noChangeAspect="1"/>
          </p:cNvPicPr>
          <p:nvPr/>
        </p:nvPicPr>
        <p:blipFill>
          <a:blip r:embed="rId1"/>
          <a:stretch>
            <a:fillRect/>
          </a:stretch>
        </p:blipFill>
        <p:spPr>
          <a:xfrm>
            <a:off x="930859" y="2028139"/>
            <a:ext cx="332842" cy="332842"/>
          </a:xfrm>
          <a:prstGeom prst="rect">
            <a:avLst/>
          </a:prstGeom>
        </p:spPr>
      </p:pic>
      <p:sp>
        <p:nvSpPr>
          <p:cNvPr id="8" name="Text 5"/>
          <p:cNvSpPr txBox="1"/>
          <p:nvPr/>
        </p:nvSpPr>
        <p:spPr>
          <a:xfrm>
            <a:off x="777240" y="2651760"/>
            <a:ext cx="2103120" cy="365760"/>
          </a:xfrm>
          <a:prstGeom prst="rect">
            <a:avLst/>
          </a:prstGeom>
          <a:noFill/>
          <a:ln/>
        </p:spPr>
        <p:txBody>
          <a:bodyPr wrap="square" lIns="0" tIns="0" rIns="0" bIns="0" rtlCol="0" anchor="t"/>
          <a:lstStyle/>
          <a:p>
            <a:pPr indent="0" marL="0">
              <a:buNone/>
            </a:pPr>
            <a:r>
              <a:rPr lang="en-US" sz="1900" b="1" dirty="0">
                <a:solidFill>
                  <a:srgbClr val="1F4D2B"/>
                </a:solidFill>
                <a:latin typeface="Cambria" pitchFamily="34" charset="0"/>
                <a:ea typeface="Cambria" pitchFamily="34" charset="-122"/>
                <a:cs typeface="Cambria" pitchFamily="34" charset="-120"/>
              </a:rPr>
              <a:t>List</a:t>
            </a:r>
            <a:endParaRPr lang="en-US" sz="1900" dirty="0"/>
          </a:p>
        </p:txBody>
      </p:sp>
      <p:sp>
        <p:nvSpPr>
          <p:cNvPr id="9" name="Text 6"/>
          <p:cNvSpPr txBox="1"/>
          <p:nvPr/>
        </p:nvSpPr>
        <p:spPr>
          <a:xfrm>
            <a:off x="777240" y="3063240"/>
            <a:ext cx="2103120" cy="1005840"/>
          </a:xfrm>
          <a:prstGeom prst="rect">
            <a:avLst/>
          </a:prstGeom>
          <a:noFill/>
          <a:ln/>
        </p:spPr>
        <p:txBody>
          <a:bodyPr wrap="square" lIns="0" tIns="0" rIns="0" bIns="0" rtlCol="0" anchor="t"/>
          <a:lstStyle/>
          <a:p>
            <a:pPr indent="0" marL="0">
              <a:buNone/>
            </a:pPr>
            <a:r>
              <a:rPr lang="en-US" sz="1350" dirty="0">
                <a:solidFill>
                  <a:srgbClr val="1B2A21"/>
                </a:solidFill>
                <a:latin typeface="Calibri" pitchFamily="34" charset="0"/>
                <a:ea typeface="Calibri" pitchFamily="34" charset="-122"/>
                <a:cs typeface="Calibri" pitchFamily="34" charset="-120"/>
              </a:rPr>
              <a:t>Only what you own now: stored energy + battery above your reserve</a:t>
            </a:r>
            <a:endParaRPr lang="en-US" sz="1350" dirty="0"/>
          </a:p>
        </p:txBody>
      </p:sp>
      <p:pic>
        <p:nvPicPr>
          <p:cNvPr id="10" name="Image 1" descr="preencoded.png">    </p:cNvPr>
          <p:cNvPicPr>
            <a:picLocks noChangeAspect="1"/>
          </p:cNvPicPr>
          <p:nvPr/>
        </p:nvPicPr>
        <p:blipFill>
          <a:blip r:embed="rId2"/>
          <a:stretch>
            <a:fillRect/>
          </a:stretch>
        </p:blipFill>
        <p:spPr>
          <a:xfrm>
            <a:off x="3044952" y="2697480"/>
            <a:ext cx="329184" cy="329184"/>
          </a:xfrm>
          <a:prstGeom prst="rect">
            <a:avLst/>
          </a:prstGeom>
        </p:spPr>
      </p:pic>
      <p:sp>
        <p:nvSpPr>
          <p:cNvPr id="11" name="Shape 7"/>
          <p:cNvSpPr/>
          <p:nvPr/>
        </p:nvSpPr>
        <p:spPr>
          <a:xfrm>
            <a:off x="3429000" y="1645920"/>
            <a:ext cx="2468880" cy="2468880"/>
          </a:xfrm>
          <a:prstGeom prst="roundRect">
            <a:avLst>
              <a:gd name="adj" fmla="val 4444"/>
            </a:avLst>
          </a:prstGeom>
          <a:solidFill>
            <a:srgbClr val="EEF5E6"/>
          </a:solidFill>
          <a:ln w="12700">
            <a:solidFill>
              <a:srgbClr val="EEF5E6"/>
            </a:solidFill>
            <a:prstDash val="solid"/>
          </a:ln>
        </p:spPr>
      </p:sp>
      <p:sp>
        <p:nvSpPr>
          <p:cNvPr id="12" name="Shape 8"/>
          <p:cNvSpPr/>
          <p:nvPr/>
        </p:nvSpPr>
        <p:spPr>
          <a:xfrm>
            <a:off x="3657600" y="1874520"/>
            <a:ext cx="640080" cy="640080"/>
          </a:xfrm>
          <a:prstGeom prst="ellipse">
            <a:avLst/>
          </a:prstGeom>
          <a:solidFill>
            <a:srgbClr val="F2A900"/>
          </a:solidFill>
          <a:ln w="12700">
            <a:solidFill>
              <a:srgbClr val="F2A900"/>
            </a:solidFill>
            <a:prstDash val="solid"/>
          </a:ln>
        </p:spPr>
      </p:sp>
      <p:pic>
        <p:nvPicPr>
          <p:cNvPr id="13" name="Image 2" descr="preencoded.png">    </p:cNvPr>
          <p:cNvPicPr>
            <a:picLocks noChangeAspect="1"/>
          </p:cNvPicPr>
          <p:nvPr/>
        </p:nvPicPr>
        <p:blipFill>
          <a:blip r:embed="rId3"/>
          <a:stretch>
            <a:fillRect/>
          </a:stretch>
        </p:blipFill>
        <p:spPr>
          <a:xfrm>
            <a:off x="3811219" y="2028139"/>
            <a:ext cx="332842" cy="332842"/>
          </a:xfrm>
          <a:prstGeom prst="rect">
            <a:avLst/>
          </a:prstGeom>
        </p:spPr>
      </p:pic>
      <p:sp>
        <p:nvSpPr>
          <p:cNvPr id="14" name="Text 9"/>
          <p:cNvSpPr txBox="1"/>
          <p:nvPr/>
        </p:nvSpPr>
        <p:spPr>
          <a:xfrm>
            <a:off x="3657600" y="2651760"/>
            <a:ext cx="2103120" cy="365760"/>
          </a:xfrm>
          <a:prstGeom prst="rect">
            <a:avLst/>
          </a:prstGeom>
          <a:noFill/>
          <a:ln/>
        </p:spPr>
        <p:txBody>
          <a:bodyPr wrap="square" lIns="0" tIns="0" rIns="0" bIns="0" rtlCol="0" anchor="t"/>
          <a:lstStyle/>
          <a:p>
            <a:pPr indent="0" marL="0">
              <a:buNone/>
            </a:pPr>
            <a:r>
              <a:rPr lang="en-US" sz="1900" b="1" dirty="0">
                <a:solidFill>
                  <a:srgbClr val="1F4D2B"/>
                </a:solidFill>
                <a:latin typeface="Cambria" pitchFamily="34" charset="0"/>
                <a:ea typeface="Cambria" pitchFamily="34" charset="-122"/>
                <a:cs typeface="Cambria" pitchFamily="34" charset="-120"/>
              </a:rPr>
              <a:t>Reserved</a:t>
            </a:r>
            <a:endParaRPr lang="en-US" sz="1900" dirty="0"/>
          </a:p>
        </p:txBody>
      </p:sp>
      <p:sp>
        <p:nvSpPr>
          <p:cNvPr id="15" name="Text 10"/>
          <p:cNvSpPr txBox="1"/>
          <p:nvPr/>
        </p:nvSpPr>
        <p:spPr>
          <a:xfrm>
            <a:off x="3657600" y="3063240"/>
            <a:ext cx="2103120" cy="1005840"/>
          </a:xfrm>
          <a:prstGeom prst="rect">
            <a:avLst/>
          </a:prstGeom>
          <a:noFill/>
          <a:ln/>
        </p:spPr>
        <p:txBody>
          <a:bodyPr wrap="square" lIns="0" tIns="0" rIns="0" bIns="0" rtlCol="0" anchor="t"/>
          <a:lstStyle/>
          <a:p>
            <a:pPr indent="0" marL="0">
              <a:buNone/>
            </a:pPr>
            <a:r>
              <a:rPr lang="en-US" sz="1350" dirty="0">
                <a:solidFill>
                  <a:srgbClr val="1B2A21"/>
                </a:solidFill>
                <a:latin typeface="Calibri" pitchFamily="34" charset="0"/>
                <a:ea typeface="Calibri" pitchFamily="34" charset="-122"/>
                <a:cs typeface="Calibri" pitchFamily="34" charset="-120"/>
              </a:rPr>
              <a:t>Stays in your battery, excluded from the auction</a:t>
            </a:r>
            <a:endParaRPr lang="en-US" sz="1350" dirty="0"/>
          </a:p>
        </p:txBody>
      </p:sp>
      <p:pic>
        <p:nvPicPr>
          <p:cNvPr id="16" name="Image 3" descr="preencoded.png">    </p:cNvPr>
          <p:cNvPicPr>
            <a:picLocks noChangeAspect="1"/>
          </p:cNvPicPr>
          <p:nvPr/>
        </p:nvPicPr>
        <p:blipFill>
          <a:blip r:embed="rId4"/>
          <a:stretch>
            <a:fillRect/>
          </a:stretch>
        </p:blipFill>
        <p:spPr>
          <a:xfrm>
            <a:off x="5925312" y="2697480"/>
            <a:ext cx="329184" cy="329184"/>
          </a:xfrm>
          <a:prstGeom prst="rect">
            <a:avLst/>
          </a:prstGeom>
        </p:spPr>
      </p:pic>
      <p:sp>
        <p:nvSpPr>
          <p:cNvPr id="17" name="Shape 11"/>
          <p:cNvSpPr/>
          <p:nvPr/>
        </p:nvSpPr>
        <p:spPr>
          <a:xfrm>
            <a:off x="6309360" y="1645920"/>
            <a:ext cx="2468880" cy="2468880"/>
          </a:xfrm>
          <a:prstGeom prst="roundRect">
            <a:avLst>
              <a:gd name="adj" fmla="val 4444"/>
            </a:avLst>
          </a:prstGeom>
          <a:solidFill>
            <a:srgbClr val="EEF5E6"/>
          </a:solidFill>
          <a:ln w="12700">
            <a:solidFill>
              <a:srgbClr val="EEF5E6"/>
            </a:solidFill>
            <a:prstDash val="solid"/>
          </a:ln>
        </p:spPr>
      </p:sp>
      <p:sp>
        <p:nvSpPr>
          <p:cNvPr id="18" name="Shape 12"/>
          <p:cNvSpPr/>
          <p:nvPr/>
        </p:nvSpPr>
        <p:spPr>
          <a:xfrm>
            <a:off x="6537960" y="1874520"/>
            <a:ext cx="640080" cy="640080"/>
          </a:xfrm>
          <a:prstGeom prst="ellipse">
            <a:avLst/>
          </a:prstGeom>
          <a:solidFill>
            <a:srgbClr val="1F4D2B"/>
          </a:solidFill>
          <a:ln w="12700">
            <a:solidFill>
              <a:srgbClr val="1F4D2B"/>
            </a:solidFill>
            <a:prstDash val="solid"/>
          </a:ln>
        </p:spPr>
      </p:sp>
      <p:pic>
        <p:nvPicPr>
          <p:cNvPr id="19" name="Image 4" descr="preencoded.png">    </p:cNvPr>
          <p:cNvPicPr>
            <a:picLocks noChangeAspect="1"/>
          </p:cNvPicPr>
          <p:nvPr/>
        </p:nvPicPr>
        <p:blipFill>
          <a:blip r:embed="rId5"/>
          <a:stretch>
            <a:fillRect/>
          </a:stretch>
        </p:blipFill>
        <p:spPr>
          <a:xfrm>
            <a:off x="6691579" y="2028139"/>
            <a:ext cx="332842" cy="332842"/>
          </a:xfrm>
          <a:prstGeom prst="rect">
            <a:avLst/>
          </a:prstGeom>
        </p:spPr>
      </p:pic>
      <p:sp>
        <p:nvSpPr>
          <p:cNvPr id="20" name="Text 13"/>
          <p:cNvSpPr txBox="1"/>
          <p:nvPr/>
        </p:nvSpPr>
        <p:spPr>
          <a:xfrm>
            <a:off x="6537960" y="2651760"/>
            <a:ext cx="2103120" cy="365760"/>
          </a:xfrm>
          <a:prstGeom prst="rect">
            <a:avLst/>
          </a:prstGeom>
          <a:noFill/>
          <a:ln/>
        </p:spPr>
        <p:txBody>
          <a:bodyPr wrap="square" lIns="0" tIns="0" rIns="0" bIns="0" rtlCol="0" anchor="t"/>
          <a:lstStyle/>
          <a:p>
            <a:pPr indent="0" marL="0">
              <a:buNone/>
            </a:pPr>
            <a:r>
              <a:rPr lang="en-US" sz="1900" b="1" dirty="0">
                <a:solidFill>
                  <a:srgbClr val="1F4D2B"/>
                </a:solidFill>
                <a:latin typeface="Cambria" pitchFamily="34" charset="0"/>
                <a:ea typeface="Cambria" pitchFamily="34" charset="-122"/>
                <a:cs typeface="Cambria" pitchFamily="34" charset="-120"/>
              </a:rPr>
              <a:t>Bought</a:t>
            </a:r>
            <a:endParaRPr lang="en-US" sz="1900" dirty="0"/>
          </a:p>
        </p:txBody>
      </p:sp>
      <p:sp>
        <p:nvSpPr>
          <p:cNvPr id="21" name="Text 14"/>
          <p:cNvSpPr txBox="1"/>
          <p:nvPr/>
        </p:nvSpPr>
        <p:spPr>
          <a:xfrm>
            <a:off x="6537960" y="3063240"/>
            <a:ext cx="2103120" cy="1005840"/>
          </a:xfrm>
          <a:prstGeom prst="rect">
            <a:avLst/>
          </a:prstGeom>
          <a:noFill/>
          <a:ln/>
        </p:spPr>
        <p:txBody>
          <a:bodyPr wrap="square" lIns="0" tIns="0" rIns="0" bIns="0" rtlCol="0" anchor="t"/>
          <a:lstStyle/>
          <a:p>
            <a:pPr indent="0" marL="0">
              <a:buNone/>
            </a:pPr>
            <a:r>
              <a:rPr lang="en-US" sz="1350" dirty="0">
                <a:solidFill>
                  <a:srgbClr val="1B2A21"/>
                </a:solidFill>
                <a:latin typeface="Calibri" pitchFamily="34" charset="0"/>
                <a:ea typeface="Calibri" pitchFamily="34" charset="-122"/>
                <a:cs typeface="Calibri" pitchFamily="34" charset="-120"/>
              </a:rPr>
              <a:t>Buyer pays the seller directly; certificates follow</a:t>
            </a:r>
            <a:endParaRPr lang="en-US" sz="1350" dirty="0"/>
          </a:p>
        </p:txBody>
      </p:sp>
      <p:pic>
        <p:nvPicPr>
          <p:cNvPr id="22" name="Image 5" descr="preencoded.png">    </p:cNvPr>
          <p:cNvPicPr>
            <a:picLocks noChangeAspect="1"/>
          </p:cNvPicPr>
          <p:nvPr/>
        </p:nvPicPr>
        <p:blipFill>
          <a:blip r:embed="rId6"/>
          <a:stretch>
            <a:fillRect/>
          </a:stretch>
        </p:blipFill>
        <p:spPr>
          <a:xfrm>
            <a:off x="8805672" y="2697480"/>
            <a:ext cx="329184" cy="329184"/>
          </a:xfrm>
          <a:prstGeom prst="rect">
            <a:avLst/>
          </a:prstGeom>
        </p:spPr>
      </p:pic>
      <p:sp>
        <p:nvSpPr>
          <p:cNvPr id="23" name="Shape 15"/>
          <p:cNvSpPr/>
          <p:nvPr/>
        </p:nvSpPr>
        <p:spPr>
          <a:xfrm>
            <a:off x="9189720" y="1645920"/>
            <a:ext cx="2468880" cy="2468880"/>
          </a:xfrm>
          <a:prstGeom prst="roundRect">
            <a:avLst>
              <a:gd name="adj" fmla="val 4444"/>
            </a:avLst>
          </a:prstGeom>
          <a:solidFill>
            <a:srgbClr val="EEF5E6"/>
          </a:solidFill>
          <a:ln w="12700">
            <a:solidFill>
              <a:srgbClr val="EEF5E6"/>
            </a:solidFill>
            <a:prstDash val="solid"/>
          </a:ln>
        </p:spPr>
      </p:sp>
      <p:sp>
        <p:nvSpPr>
          <p:cNvPr id="24" name="Shape 16"/>
          <p:cNvSpPr/>
          <p:nvPr/>
        </p:nvSpPr>
        <p:spPr>
          <a:xfrm>
            <a:off x="9418320" y="1874520"/>
            <a:ext cx="640080" cy="640080"/>
          </a:xfrm>
          <a:prstGeom prst="ellipse">
            <a:avLst/>
          </a:prstGeom>
          <a:solidFill>
            <a:srgbClr val="2F6690"/>
          </a:solidFill>
          <a:ln w="12700">
            <a:solidFill>
              <a:srgbClr val="2F6690"/>
            </a:solidFill>
            <a:prstDash val="solid"/>
          </a:ln>
        </p:spPr>
      </p:sp>
      <p:pic>
        <p:nvPicPr>
          <p:cNvPr id="25" name="Image 6" descr="preencoded.png">    </p:cNvPr>
          <p:cNvPicPr>
            <a:picLocks noChangeAspect="1"/>
          </p:cNvPicPr>
          <p:nvPr/>
        </p:nvPicPr>
        <p:blipFill>
          <a:blip r:embed="rId7"/>
          <a:stretch>
            <a:fillRect/>
          </a:stretch>
        </p:blipFill>
        <p:spPr>
          <a:xfrm>
            <a:off x="9571939" y="2028139"/>
            <a:ext cx="332842" cy="332842"/>
          </a:xfrm>
          <a:prstGeom prst="rect">
            <a:avLst/>
          </a:prstGeom>
        </p:spPr>
      </p:pic>
      <p:sp>
        <p:nvSpPr>
          <p:cNvPr id="26" name="Text 17"/>
          <p:cNvSpPr txBox="1"/>
          <p:nvPr/>
        </p:nvSpPr>
        <p:spPr>
          <a:xfrm>
            <a:off x="9418320" y="2651760"/>
            <a:ext cx="2103120" cy="365760"/>
          </a:xfrm>
          <a:prstGeom prst="rect">
            <a:avLst/>
          </a:prstGeom>
          <a:noFill/>
          <a:ln/>
        </p:spPr>
        <p:txBody>
          <a:bodyPr wrap="square" lIns="0" tIns="0" rIns="0" bIns="0" rtlCol="0" anchor="t"/>
          <a:lstStyle/>
          <a:p>
            <a:pPr indent="0" marL="0">
              <a:buNone/>
            </a:pPr>
            <a:r>
              <a:rPr lang="en-US" sz="1900" b="1" dirty="0">
                <a:solidFill>
                  <a:srgbClr val="1F4D2B"/>
                </a:solidFill>
                <a:latin typeface="Cambria" pitchFamily="34" charset="0"/>
                <a:ea typeface="Cambria" pitchFamily="34" charset="-122"/>
                <a:cs typeface="Cambria" pitchFamily="34" charset="-120"/>
              </a:rPr>
              <a:t>Delivered</a:t>
            </a:r>
            <a:endParaRPr lang="en-US" sz="1900" dirty="0"/>
          </a:p>
        </p:txBody>
      </p:sp>
      <p:sp>
        <p:nvSpPr>
          <p:cNvPr id="27" name="Text 18"/>
          <p:cNvSpPr txBox="1"/>
          <p:nvPr/>
        </p:nvSpPr>
        <p:spPr>
          <a:xfrm>
            <a:off x="9418320" y="3063240"/>
            <a:ext cx="2103120" cy="1005840"/>
          </a:xfrm>
          <a:prstGeom prst="rect">
            <a:avLst/>
          </a:prstGeom>
          <a:noFill/>
          <a:ln/>
        </p:spPr>
        <p:txBody>
          <a:bodyPr wrap="square" lIns="0" tIns="0" rIns="0" bIns="0" rtlCol="0" anchor="t"/>
          <a:lstStyle/>
          <a:p>
            <a:pPr indent="0" marL="0">
              <a:buNone/>
            </a:pPr>
            <a:r>
              <a:rPr lang="en-US" sz="1350" dirty="0">
                <a:solidFill>
                  <a:srgbClr val="1B2A21"/>
                </a:solidFill>
                <a:latin typeface="Calibri" pitchFamily="34" charset="0"/>
                <a:ea typeface="Calibri" pitchFamily="34" charset="-122"/>
                <a:cs typeface="Calibri" pitchFamily="34" charset="-120"/>
              </a:rPr>
              <a:t>Into the buyer's rented space in the shared battery</a:t>
            </a:r>
            <a:endParaRPr lang="en-US" sz="1350" dirty="0"/>
          </a:p>
        </p:txBody>
      </p:sp>
      <p:pic>
        <p:nvPicPr>
          <p:cNvPr id="28" name="Image 7" descr="preencoded.png">    </p:cNvPr>
          <p:cNvPicPr>
            <a:picLocks noChangeAspect="1"/>
          </p:cNvPicPr>
          <p:nvPr/>
        </p:nvPicPr>
        <p:blipFill>
          <a:blip r:embed="rId8"/>
          <a:stretch>
            <a:fillRect/>
          </a:stretch>
        </p:blipFill>
        <p:spPr>
          <a:xfrm>
            <a:off x="548640" y="4507992"/>
            <a:ext cx="320040" cy="320040"/>
          </a:xfrm>
          <a:prstGeom prst="rect">
            <a:avLst/>
          </a:prstGeom>
        </p:spPr>
      </p:pic>
      <p:sp>
        <p:nvSpPr>
          <p:cNvPr id="29" name="Text 19"/>
          <p:cNvSpPr txBox="1"/>
          <p:nvPr/>
        </p:nvSpPr>
        <p:spPr>
          <a:xfrm>
            <a:off x="1005840" y="4480560"/>
            <a:ext cx="3200400" cy="411480"/>
          </a:xfrm>
          <a:prstGeom prst="rect">
            <a:avLst/>
          </a:prstGeom>
          <a:noFill/>
          <a:ln/>
        </p:spPr>
        <p:txBody>
          <a:bodyPr wrap="square" lIns="0" tIns="0" rIns="0" bIns="0" rtlCol="0" anchor="ctr"/>
          <a:lstStyle/>
          <a:p>
            <a:pPr indent="0" marL="0">
              <a:buNone/>
            </a:pPr>
            <a:r>
              <a:rPr lang="en-US" sz="1450" dirty="0">
                <a:solidFill>
                  <a:srgbClr val="1B2A21"/>
                </a:solidFill>
                <a:latin typeface="Calibri" pitchFamily="34" charset="0"/>
                <a:ea typeface="Calibri" pitchFamily="34" charset="-122"/>
                <a:cs typeface="Calibri" pitchFamily="34" charset="-120"/>
              </a:rPr>
              <a:t>Price must stay between 0.05 and 0.30</a:t>
            </a:r>
            <a:endParaRPr lang="en-US" sz="1450" dirty="0"/>
          </a:p>
        </p:txBody>
      </p:sp>
      <p:pic>
        <p:nvPicPr>
          <p:cNvPr id="30" name="Image 8" descr="preencoded.png">    </p:cNvPr>
          <p:cNvPicPr>
            <a:picLocks noChangeAspect="1"/>
          </p:cNvPicPr>
          <p:nvPr/>
        </p:nvPicPr>
        <p:blipFill>
          <a:blip r:embed="rId9"/>
          <a:stretch>
            <a:fillRect/>
          </a:stretch>
        </p:blipFill>
        <p:spPr>
          <a:xfrm>
            <a:off x="4343400" y="4507992"/>
            <a:ext cx="320040" cy="320040"/>
          </a:xfrm>
          <a:prstGeom prst="rect">
            <a:avLst/>
          </a:prstGeom>
        </p:spPr>
      </p:pic>
      <p:sp>
        <p:nvSpPr>
          <p:cNvPr id="31" name="Text 20"/>
          <p:cNvSpPr txBox="1"/>
          <p:nvPr/>
        </p:nvSpPr>
        <p:spPr>
          <a:xfrm>
            <a:off x="4800600" y="4480560"/>
            <a:ext cx="3200400" cy="411480"/>
          </a:xfrm>
          <a:prstGeom prst="rect">
            <a:avLst/>
          </a:prstGeom>
          <a:noFill/>
          <a:ln/>
        </p:spPr>
        <p:txBody>
          <a:bodyPr wrap="square" lIns="0" tIns="0" rIns="0" bIns="0" rtlCol="0" anchor="ctr"/>
          <a:lstStyle/>
          <a:p>
            <a:pPr indent="0" marL="0">
              <a:buNone/>
            </a:pPr>
            <a:r>
              <a:rPr lang="en-US" sz="1450" dirty="0">
                <a:solidFill>
                  <a:srgbClr val="1B2A21"/>
                </a:solidFill>
                <a:latin typeface="Calibri" pitchFamily="34" charset="0"/>
                <a:ea typeface="Calibri" pitchFamily="34" charset="-122"/>
                <a:cs typeface="Calibri" pitchFamily="34" charset="-120"/>
              </a:rPr>
              <a:t>Offers expire after 24 simulated hours</a:t>
            </a:r>
            <a:endParaRPr lang="en-US" sz="1450" dirty="0"/>
          </a:p>
        </p:txBody>
      </p:sp>
      <p:pic>
        <p:nvPicPr>
          <p:cNvPr id="32" name="Image 9" descr="preencoded.png">    </p:cNvPr>
          <p:cNvPicPr>
            <a:picLocks noChangeAspect="1"/>
          </p:cNvPicPr>
          <p:nvPr/>
        </p:nvPicPr>
        <p:blipFill>
          <a:blip r:embed="rId10"/>
          <a:stretch>
            <a:fillRect/>
          </a:stretch>
        </p:blipFill>
        <p:spPr>
          <a:xfrm>
            <a:off x="8138160" y="4507992"/>
            <a:ext cx="320040" cy="320040"/>
          </a:xfrm>
          <a:prstGeom prst="rect">
            <a:avLst/>
          </a:prstGeom>
        </p:spPr>
      </p:pic>
      <p:sp>
        <p:nvSpPr>
          <p:cNvPr id="33" name="Text 21"/>
          <p:cNvSpPr txBox="1"/>
          <p:nvPr/>
        </p:nvSpPr>
        <p:spPr>
          <a:xfrm>
            <a:off x="8595360" y="4480560"/>
            <a:ext cx="3200400" cy="411480"/>
          </a:xfrm>
          <a:prstGeom prst="rect">
            <a:avLst/>
          </a:prstGeom>
          <a:noFill/>
          <a:ln/>
        </p:spPr>
        <p:txBody>
          <a:bodyPr wrap="square" lIns="0" tIns="0" rIns="0" bIns="0" rtlCol="0" anchor="ctr"/>
          <a:lstStyle/>
          <a:p>
            <a:pPr indent="0" marL="0">
              <a:buNone/>
            </a:pPr>
            <a:r>
              <a:rPr lang="en-US" sz="1450" dirty="0">
                <a:solidFill>
                  <a:srgbClr val="1B2A21"/>
                </a:solidFill>
                <a:latin typeface="Calibri" pitchFamily="34" charset="0"/>
                <a:ea typeface="Calibri" pitchFamily="34" charset="-122"/>
                <a:cs typeface="Calibri" pitchFamily="34" charset="-120"/>
              </a:rPr>
              <a:t>Offers shrink if the seller uses the energy</a:t>
            </a:r>
            <a:endParaRPr lang="en-US" sz="1450" dirty="0"/>
          </a:p>
        </p:txBody>
      </p:sp>
      <p:pic>
        <p:nvPicPr>
          <p:cNvPr id="34" name="Image 10" descr="preencoded.png">    </p:cNvPr>
          <p:cNvPicPr>
            <a:picLocks noChangeAspect="1"/>
          </p:cNvPicPr>
          <p:nvPr/>
        </p:nvPicPr>
        <p:blipFill>
          <a:blip r:embed="rId11"/>
          <a:stretch>
            <a:fillRect/>
          </a:stretch>
        </p:blipFill>
        <p:spPr>
          <a:xfrm>
            <a:off x="548640" y="5239512"/>
            <a:ext cx="320040" cy="320040"/>
          </a:xfrm>
          <a:prstGeom prst="rect">
            <a:avLst/>
          </a:prstGeom>
        </p:spPr>
      </p:pic>
      <p:sp>
        <p:nvSpPr>
          <p:cNvPr id="35" name="Text 22"/>
          <p:cNvSpPr txBox="1"/>
          <p:nvPr/>
        </p:nvSpPr>
        <p:spPr>
          <a:xfrm>
            <a:off x="1005840" y="5212080"/>
            <a:ext cx="3200400" cy="411480"/>
          </a:xfrm>
          <a:prstGeom prst="rect">
            <a:avLst/>
          </a:prstGeom>
          <a:noFill/>
          <a:ln/>
        </p:spPr>
        <p:txBody>
          <a:bodyPr wrap="square" lIns="0" tIns="0" rIns="0" bIns="0" rtlCol="0" anchor="ctr"/>
          <a:lstStyle/>
          <a:p>
            <a:pPr indent="0" marL="0">
              <a:buNone/>
            </a:pPr>
            <a:r>
              <a:rPr lang="en-US" sz="1450" dirty="0">
                <a:solidFill>
                  <a:srgbClr val="1B2A21"/>
                </a:solidFill>
                <a:latin typeface="Calibri" pitchFamily="34" charset="0"/>
                <a:ea typeface="Calibri" pitchFamily="34" charset="-122"/>
                <a:cs typeface="Calibri" pitchFamily="34" charset="-120"/>
              </a:rPr>
              <a:t>Producers sell through the auction only</a:t>
            </a:r>
            <a:endParaRPr lang="en-US" sz="1450" dirty="0"/>
          </a:p>
        </p:txBody>
      </p:sp>
      <p:pic>
        <p:nvPicPr>
          <p:cNvPr id="36" name="Image 11" descr="preencoded.png">    </p:cNvPr>
          <p:cNvPicPr>
            <a:picLocks noChangeAspect="1"/>
          </p:cNvPicPr>
          <p:nvPr/>
        </p:nvPicPr>
        <p:blipFill>
          <a:blip r:embed="rId12"/>
          <a:stretch>
            <a:fillRect/>
          </a:stretch>
        </p:blipFill>
        <p:spPr>
          <a:xfrm>
            <a:off x="4343400" y="5239512"/>
            <a:ext cx="320040" cy="320040"/>
          </a:xfrm>
          <a:prstGeom prst="rect">
            <a:avLst/>
          </a:prstGeom>
        </p:spPr>
      </p:pic>
      <p:sp>
        <p:nvSpPr>
          <p:cNvPr id="37" name="Text 23"/>
          <p:cNvSpPr txBox="1"/>
          <p:nvPr/>
        </p:nvSpPr>
        <p:spPr>
          <a:xfrm>
            <a:off x="4800600" y="5212080"/>
            <a:ext cx="3200400" cy="411480"/>
          </a:xfrm>
          <a:prstGeom prst="rect">
            <a:avLst/>
          </a:prstGeom>
          <a:noFill/>
          <a:ln/>
        </p:spPr>
        <p:txBody>
          <a:bodyPr wrap="square" lIns="0" tIns="0" rIns="0" bIns="0" rtlCol="0" anchor="ctr"/>
          <a:lstStyle/>
          <a:p>
            <a:pPr indent="0" marL="0">
              <a:buNone/>
            </a:pPr>
            <a:r>
              <a:rPr lang="en-US" sz="1450" dirty="0">
                <a:solidFill>
                  <a:srgbClr val="1B2A21"/>
                </a:solidFill>
                <a:latin typeface="Calibri" pitchFamily="34" charset="0"/>
                <a:ea typeface="Calibri" pitchFamily="34" charset="-122"/>
                <a:cs typeface="Calibri" pitchFamily="34" charset="-120"/>
              </a:rPr>
              <a:t>No platform fee</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21</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10 · SAFETY CHECKS &amp; PLAN</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Five conservation checks, after every scenario</a:t>
            </a:r>
            <a:endParaRPr lang="en-US" sz="3200" dirty="0"/>
          </a:p>
        </p:txBody>
      </p:sp>
      <p:sp>
        <p:nvSpPr>
          <p:cNvPr id="5" name="Shape 3"/>
          <p:cNvSpPr/>
          <p:nvPr/>
        </p:nvSpPr>
        <p:spPr>
          <a:xfrm>
            <a:off x="548640" y="1645920"/>
            <a:ext cx="7498080" cy="731520"/>
          </a:xfrm>
          <a:prstGeom prst="roundRect">
            <a:avLst>
              <a:gd name="adj" fmla="val 15000"/>
            </a:avLst>
          </a:prstGeom>
          <a:solidFill>
            <a:srgbClr val="EEF5E6"/>
          </a:solidFill>
          <a:ln w="12700">
            <a:solidFill>
              <a:srgbClr val="EEF5E6"/>
            </a:solidFill>
            <a:prstDash val="solid"/>
          </a:ln>
        </p:spPr>
      </p:sp>
      <p:sp>
        <p:nvSpPr>
          <p:cNvPr id="6" name="Shape 4"/>
          <p:cNvSpPr/>
          <p:nvPr/>
        </p:nvSpPr>
        <p:spPr>
          <a:xfrm>
            <a:off x="731520" y="1737360"/>
            <a:ext cx="548640" cy="548640"/>
          </a:xfrm>
          <a:prstGeom prst="ellipse">
            <a:avLst/>
          </a:prstGeom>
          <a:solidFill>
            <a:srgbClr val="3E8E41"/>
          </a:solidFill>
          <a:ln w="12700">
            <a:solidFill>
              <a:srgbClr val="3E8E41"/>
            </a:solidFill>
            <a:prstDash val="solid"/>
          </a:ln>
        </p:spPr>
      </p:sp>
      <p:pic>
        <p:nvPicPr>
          <p:cNvPr id="7" name="Image 0" descr="preencoded.png">    </p:cNvPr>
          <p:cNvPicPr>
            <a:picLocks noChangeAspect="1"/>
          </p:cNvPicPr>
          <p:nvPr/>
        </p:nvPicPr>
        <p:blipFill>
          <a:blip r:embed="rId1"/>
          <a:stretch>
            <a:fillRect/>
          </a:stretch>
        </p:blipFill>
        <p:spPr>
          <a:xfrm>
            <a:off x="863194" y="1869034"/>
            <a:ext cx="285293" cy="285293"/>
          </a:xfrm>
          <a:prstGeom prst="rect">
            <a:avLst/>
          </a:prstGeom>
        </p:spPr>
      </p:pic>
      <p:sp>
        <p:nvSpPr>
          <p:cNvPr id="8" name="Text 5"/>
          <p:cNvSpPr txBox="1"/>
          <p:nvPr/>
        </p:nvSpPr>
        <p:spPr>
          <a:xfrm>
            <a:off x="1463040" y="1737360"/>
            <a:ext cx="1920240" cy="548640"/>
          </a:xfrm>
          <a:prstGeom prst="rect">
            <a:avLst/>
          </a:prstGeom>
          <a:noFill/>
          <a:ln/>
        </p:spPr>
        <p:txBody>
          <a:bodyPr wrap="square" lIns="0" tIns="0" rIns="0" bIns="0" rtlCol="0" anchor="ctr"/>
          <a:lstStyle/>
          <a:p>
            <a:pPr indent="0" marL="0">
              <a:buNone/>
            </a:pPr>
            <a:r>
              <a:rPr lang="en-US" sz="1700" b="1" dirty="0">
                <a:solidFill>
                  <a:srgbClr val="1F4D2B"/>
                </a:solidFill>
                <a:latin typeface="Calibri" pitchFamily="34" charset="0"/>
                <a:ea typeface="Calibri" pitchFamily="34" charset="-122"/>
                <a:cs typeface="Calibri" pitchFamily="34" charset="-120"/>
              </a:rPr>
              <a:t>Money</a:t>
            </a:r>
            <a:endParaRPr lang="en-US" sz="1700" dirty="0"/>
          </a:p>
        </p:txBody>
      </p:sp>
      <p:sp>
        <p:nvSpPr>
          <p:cNvPr id="9" name="Text 6"/>
          <p:cNvSpPr txBox="1"/>
          <p:nvPr/>
        </p:nvSpPr>
        <p:spPr>
          <a:xfrm>
            <a:off x="3383280" y="1737360"/>
            <a:ext cx="4572000" cy="548640"/>
          </a:xfrm>
          <a:prstGeom prst="rect">
            <a:avLst/>
          </a:prstGeom>
          <a:noFill/>
          <a:ln/>
        </p:spPr>
        <p:txBody>
          <a:bodyPr wrap="square" lIns="0" tIns="0" rIns="0" bIns="0" rtlCol="0" anchor="ctr"/>
          <a:lstStyle/>
          <a:p>
            <a:pPr indent="0" marL="0">
              <a:buNone/>
            </a:pPr>
            <a:r>
              <a:rPr lang="en-US" sz="1450" dirty="0">
                <a:solidFill>
                  <a:srgbClr val="1B2A21"/>
                </a:solidFill>
                <a:latin typeface="Calibri" pitchFamily="34" charset="0"/>
                <a:ea typeface="Calibri" pitchFamily="34" charset="-122"/>
                <a:cs typeface="Calibri" pitchFamily="34" charset="-120"/>
              </a:rPr>
              <a:t>All balances together = all TEC in existence</a:t>
            </a:r>
            <a:endParaRPr lang="en-US" sz="1450" dirty="0"/>
          </a:p>
        </p:txBody>
      </p:sp>
      <p:sp>
        <p:nvSpPr>
          <p:cNvPr id="10" name="Shape 7"/>
          <p:cNvSpPr/>
          <p:nvPr/>
        </p:nvSpPr>
        <p:spPr>
          <a:xfrm>
            <a:off x="548640" y="2514600"/>
            <a:ext cx="7498080" cy="731520"/>
          </a:xfrm>
          <a:prstGeom prst="roundRect">
            <a:avLst>
              <a:gd name="adj" fmla="val 15000"/>
            </a:avLst>
          </a:prstGeom>
          <a:solidFill>
            <a:srgbClr val="EEF5E6"/>
          </a:solidFill>
          <a:ln w="12700">
            <a:solidFill>
              <a:srgbClr val="EEF5E6"/>
            </a:solidFill>
            <a:prstDash val="solid"/>
          </a:ln>
        </p:spPr>
      </p:sp>
      <p:sp>
        <p:nvSpPr>
          <p:cNvPr id="11" name="Shape 8"/>
          <p:cNvSpPr/>
          <p:nvPr/>
        </p:nvSpPr>
        <p:spPr>
          <a:xfrm>
            <a:off x="731520" y="2606040"/>
            <a:ext cx="548640" cy="548640"/>
          </a:xfrm>
          <a:prstGeom prst="ellipse">
            <a:avLst/>
          </a:prstGeom>
          <a:solidFill>
            <a:srgbClr val="3E8E41"/>
          </a:solidFill>
          <a:ln w="12700">
            <a:solidFill>
              <a:srgbClr val="3E8E41"/>
            </a:solidFill>
            <a:prstDash val="solid"/>
          </a:ln>
        </p:spPr>
      </p:sp>
      <p:pic>
        <p:nvPicPr>
          <p:cNvPr id="12" name="Image 1" descr="preencoded.png">    </p:cNvPr>
          <p:cNvPicPr>
            <a:picLocks noChangeAspect="1"/>
          </p:cNvPicPr>
          <p:nvPr/>
        </p:nvPicPr>
        <p:blipFill>
          <a:blip r:embed="rId2"/>
          <a:stretch>
            <a:fillRect/>
          </a:stretch>
        </p:blipFill>
        <p:spPr>
          <a:xfrm>
            <a:off x="863194" y="2737714"/>
            <a:ext cx="285293" cy="285293"/>
          </a:xfrm>
          <a:prstGeom prst="rect">
            <a:avLst/>
          </a:prstGeom>
        </p:spPr>
      </p:pic>
      <p:sp>
        <p:nvSpPr>
          <p:cNvPr id="13" name="Text 9"/>
          <p:cNvSpPr txBox="1"/>
          <p:nvPr/>
        </p:nvSpPr>
        <p:spPr>
          <a:xfrm>
            <a:off x="1463040" y="2606040"/>
            <a:ext cx="1920240" cy="548640"/>
          </a:xfrm>
          <a:prstGeom prst="rect">
            <a:avLst/>
          </a:prstGeom>
          <a:noFill/>
          <a:ln/>
        </p:spPr>
        <p:txBody>
          <a:bodyPr wrap="square" lIns="0" tIns="0" rIns="0" bIns="0" rtlCol="0" anchor="ctr"/>
          <a:lstStyle/>
          <a:p>
            <a:pPr indent="0" marL="0">
              <a:buNone/>
            </a:pPr>
            <a:r>
              <a:rPr lang="en-US" sz="1700" b="1" dirty="0">
                <a:solidFill>
                  <a:srgbClr val="1F4D2B"/>
                </a:solidFill>
                <a:latin typeface="Calibri" pitchFamily="34" charset="0"/>
                <a:ea typeface="Calibri" pitchFamily="34" charset="-122"/>
                <a:cs typeface="Calibri" pitchFamily="34" charset="-120"/>
              </a:rPr>
              <a:t>Clearing</a:t>
            </a:r>
            <a:endParaRPr lang="en-US" sz="1700" dirty="0"/>
          </a:p>
        </p:txBody>
      </p:sp>
      <p:sp>
        <p:nvSpPr>
          <p:cNvPr id="14" name="Text 10"/>
          <p:cNvSpPr txBox="1"/>
          <p:nvPr/>
        </p:nvSpPr>
        <p:spPr>
          <a:xfrm>
            <a:off x="3383280" y="2606040"/>
            <a:ext cx="4572000" cy="548640"/>
          </a:xfrm>
          <a:prstGeom prst="rect">
            <a:avLst/>
          </a:prstGeom>
          <a:noFill/>
          <a:ln/>
        </p:spPr>
        <p:txBody>
          <a:bodyPr wrap="square" lIns="0" tIns="0" rIns="0" bIns="0" rtlCol="0" anchor="ctr"/>
          <a:lstStyle/>
          <a:p>
            <a:pPr indent="0" marL="0">
              <a:buNone/>
            </a:pPr>
            <a:r>
              <a:rPr lang="en-US" sz="1450" dirty="0">
                <a:solidFill>
                  <a:srgbClr val="1B2A21"/>
                </a:solidFill>
                <a:latin typeface="Calibri" pitchFamily="34" charset="0"/>
                <a:ea typeface="Calibri" pitchFamily="34" charset="-122"/>
                <a:cs typeface="Calibri" pitchFamily="34" charset="-120"/>
              </a:rPr>
              <a:t>The clearing account is back to zero after every auction</a:t>
            </a:r>
            <a:endParaRPr lang="en-US" sz="1450" dirty="0"/>
          </a:p>
        </p:txBody>
      </p:sp>
      <p:sp>
        <p:nvSpPr>
          <p:cNvPr id="15" name="Shape 11"/>
          <p:cNvSpPr/>
          <p:nvPr/>
        </p:nvSpPr>
        <p:spPr>
          <a:xfrm>
            <a:off x="548640" y="3383280"/>
            <a:ext cx="7498080" cy="731520"/>
          </a:xfrm>
          <a:prstGeom prst="roundRect">
            <a:avLst>
              <a:gd name="adj" fmla="val 15000"/>
            </a:avLst>
          </a:prstGeom>
          <a:solidFill>
            <a:srgbClr val="EEF5E6"/>
          </a:solidFill>
          <a:ln w="12700">
            <a:solidFill>
              <a:srgbClr val="EEF5E6"/>
            </a:solidFill>
            <a:prstDash val="solid"/>
          </a:ln>
        </p:spPr>
      </p:sp>
      <p:sp>
        <p:nvSpPr>
          <p:cNvPr id="16" name="Shape 12"/>
          <p:cNvSpPr/>
          <p:nvPr/>
        </p:nvSpPr>
        <p:spPr>
          <a:xfrm>
            <a:off x="731520" y="3474720"/>
            <a:ext cx="548640" cy="548640"/>
          </a:xfrm>
          <a:prstGeom prst="ellipse">
            <a:avLst/>
          </a:prstGeom>
          <a:solidFill>
            <a:srgbClr val="3E8E41"/>
          </a:solidFill>
          <a:ln w="12700">
            <a:solidFill>
              <a:srgbClr val="3E8E41"/>
            </a:solidFill>
            <a:prstDash val="solid"/>
          </a:ln>
        </p:spPr>
      </p:sp>
      <p:pic>
        <p:nvPicPr>
          <p:cNvPr id="17" name="Image 2" descr="preencoded.png">    </p:cNvPr>
          <p:cNvPicPr>
            <a:picLocks noChangeAspect="1"/>
          </p:cNvPicPr>
          <p:nvPr/>
        </p:nvPicPr>
        <p:blipFill>
          <a:blip r:embed="rId3"/>
          <a:stretch>
            <a:fillRect/>
          </a:stretch>
        </p:blipFill>
        <p:spPr>
          <a:xfrm>
            <a:off x="863194" y="3606394"/>
            <a:ext cx="285293" cy="285293"/>
          </a:xfrm>
          <a:prstGeom prst="rect">
            <a:avLst/>
          </a:prstGeom>
        </p:spPr>
      </p:pic>
      <p:sp>
        <p:nvSpPr>
          <p:cNvPr id="18" name="Text 13"/>
          <p:cNvSpPr txBox="1"/>
          <p:nvPr/>
        </p:nvSpPr>
        <p:spPr>
          <a:xfrm>
            <a:off x="1463040" y="3474720"/>
            <a:ext cx="1920240" cy="548640"/>
          </a:xfrm>
          <a:prstGeom prst="rect">
            <a:avLst/>
          </a:prstGeom>
          <a:noFill/>
          <a:ln/>
        </p:spPr>
        <p:txBody>
          <a:bodyPr wrap="square" lIns="0" tIns="0" rIns="0" bIns="0" rtlCol="0" anchor="ctr"/>
          <a:lstStyle/>
          <a:p>
            <a:pPr indent="0" marL="0">
              <a:buNone/>
            </a:pPr>
            <a:r>
              <a:rPr lang="en-US" sz="1700" b="1" dirty="0">
                <a:solidFill>
                  <a:srgbClr val="1F4D2B"/>
                </a:solidFill>
                <a:latin typeface="Calibri" pitchFamily="34" charset="0"/>
                <a:ea typeface="Calibri" pitchFamily="34" charset="-122"/>
                <a:cs typeface="Calibri" pitchFamily="34" charset="-120"/>
              </a:rPr>
              <a:t>Energy</a:t>
            </a:r>
            <a:endParaRPr lang="en-US" sz="1700" dirty="0"/>
          </a:p>
        </p:txBody>
      </p:sp>
      <p:sp>
        <p:nvSpPr>
          <p:cNvPr id="19" name="Text 14"/>
          <p:cNvSpPr txBox="1"/>
          <p:nvPr/>
        </p:nvSpPr>
        <p:spPr>
          <a:xfrm>
            <a:off x="3383280" y="3474720"/>
            <a:ext cx="4572000" cy="548640"/>
          </a:xfrm>
          <a:prstGeom prst="rect">
            <a:avLst/>
          </a:prstGeom>
          <a:noFill/>
          <a:ln/>
        </p:spPr>
        <p:txBody>
          <a:bodyPr wrap="square" lIns="0" tIns="0" rIns="0" bIns="0" rtlCol="0" anchor="ctr"/>
          <a:lstStyle/>
          <a:p>
            <a:pPr indent="0" marL="0">
              <a:buNone/>
            </a:pPr>
            <a:r>
              <a:rPr lang="en-US" sz="1450" dirty="0">
                <a:solidFill>
                  <a:srgbClr val="1B2A21"/>
                </a:solidFill>
                <a:latin typeface="Calibri" pitchFamily="34" charset="0"/>
                <a:ea typeface="Calibri" pitchFamily="34" charset="-122"/>
                <a:cs typeface="Calibri" pitchFamily="34" charset="-120"/>
              </a:rPr>
              <a:t>Produced + imported = consumed + exported + stored</a:t>
            </a:r>
            <a:endParaRPr lang="en-US" sz="1450" dirty="0"/>
          </a:p>
        </p:txBody>
      </p:sp>
      <p:sp>
        <p:nvSpPr>
          <p:cNvPr id="20" name="Shape 15"/>
          <p:cNvSpPr/>
          <p:nvPr/>
        </p:nvSpPr>
        <p:spPr>
          <a:xfrm>
            <a:off x="548640" y="4251960"/>
            <a:ext cx="7498080" cy="731520"/>
          </a:xfrm>
          <a:prstGeom prst="roundRect">
            <a:avLst>
              <a:gd name="adj" fmla="val 15000"/>
            </a:avLst>
          </a:prstGeom>
          <a:solidFill>
            <a:srgbClr val="EEF5E6"/>
          </a:solidFill>
          <a:ln w="12700">
            <a:solidFill>
              <a:srgbClr val="EEF5E6"/>
            </a:solidFill>
            <a:prstDash val="solid"/>
          </a:ln>
        </p:spPr>
      </p:sp>
      <p:sp>
        <p:nvSpPr>
          <p:cNvPr id="21" name="Shape 16"/>
          <p:cNvSpPr/>
          <p:nvPr/>
        </p:nvSpPr>
        <p:spPr>
          <a:xfrm>
            <a:off x="731520" y="4343400"/>
            <a:ext cx="548640" cy="548640"/>
          </a:xfrm>
          <a:prstGeom prst="ellipse">
            <a:avLst/>
          </a:prstGeom>
          <a:solidFill>
            <a:srgbClr val="3E8E41"/>
          </a:solidFill>
          <a:ln w="12700">
            <a:solidFill>
              <a:srgbClr val="3E8E41"/>
            </a:solidFill>
            <a:prstDash val="solid"/>
          </a:ln>
        </p:spPr>
      </p:sp>
      <p:pic>
        <p:nvPicPr>
          <p:cNvPr id="22" name="Image 3" descr="preencoded.png">    </p:cNvPr>
          <p:cNvPicPr>
            <a:picLocks noChangeAspect="1"/>
          </p:cNvPicPr>
          <p:nvPr/>
        </p:nvPicPr>
        <p:blipFill>
          <a:blip r:embed="rId4"/>
          <a:stretch>
            <a:fillRect/>
          </a:stretch>
        </p:blipFill>
        <p:spPr>
          <a:xfrm>
            <a:off x="863194" y="4475074"/>
            <a:ext cx="285293" cy="285293"/>
          </a:xfrm>
          <a:prstGeom prst="rect">
            <a:avLst/>
          </a:prstGeom>
        </p:spPr>
      </p:pic>
      <p:sp>
        <p:nvSpPr>
          <p:cNvPr id="23" name="Text 17"/>
          <p:cNvSpPr txBox="1"/>
          <p:nvPr/>
        </p:nvSpPr>
        <p:spPr>
          <a:xfrm>
            <a:off x="1463040" y="4343400"/>
            <a:ext cx="1920240" cy="548640"/>
          </a:xfrm>
          <a:prstGeom prst="rect">
            <a:avLst/>
          </a:prstGeom>
          <a:noFill/>
          <a:ln/>
        </p:spPr>
        <p:txBody>
          <a:bodyPr wrap="square" lIns="0" tIns="0" rIns="0" bIns="0" rtlCol="0" anchor="ctr"/>
          <a:lstStyle/>
          <a:p>
            <a:pPr indent="0" marL="0">
              <a:buNone/>
            </a:pPr>
            <a:r>
              <a:rPr lang="en-US" sz="1700" b="1" dirty="0">
                <a:solidFill>
                  <a:srgbClr val="1F4D2B"/>
                </a:solidFill>
                <a:latin typeface="Calibri" pitchFamily="34" charset="0"/>
                <a:ea typeface="Calibri" pitchFamily="34" charset="-122"/>
                <a:cs typeface="Calibri" pitchFamily="34" charset="-120"/>
              </a:rPr>
              <a:t>Certificates</a:t>
            </a:r>
            <a:endParaRPr lang="en-US" sz="1700" dirty="0"/>
          </a:p>
        </p:txBody>
      </p:sp>
      <p:sp>
        <p:nvSpPr>
          <p:cNvPr id="24" name="Text 18"/>
          <p:cNvSpPr txBox="1"/>
          <p:nvPr/>
        </p:nvSpPr>
        <p:spPr>
          <a:xfrm>
            <a:off x="3383280" y="4343400"/>
            <a:ext cx="4572000" cy="548640"/>
          </a:xfrm>
          <a:prstGeom prst="rect">
            <a:avLst/>
          </a:prstGeom>
          <a:noFill/>
          <a:ln/>
        </p:spPr>
        <p:txBody>
          <a:bodyPr wrap="square" lIns="0" tIns="0" rIns="0" bIns="0" rtlCol="0" anchor="ctr"/>
          <a:lstStyle/>
          <a:p>
            <a:pPr indent="0" marL="0">
              <a:buNone/>
            </a:pPr>
            <a:r>
              <a:rPr lang="en-US" sz="1450" dirty="0">
                <a:solidFill>
                  <a:srgbClr val="1B2A21"/>
                </a:solidFill>
                <a:latin typeface="Calibri" pitchFamily="34" charset="0"/>
                <a:ea typeface="Calibri" pitchFamily="34" charset="-122"/>
                <a:cs typeface="Calibri" pitchFamily="34" charset="-120"/>
              </a:rPr>
              <a:t>Issued = held + retired + handed to the utility</a:t>
            </a:r>
            <a:endParaRPr lang="en-US" sz="1450" dirty="0"/>
          </a:p>
        </p:txBody>
      </p:sp>
      <p:sp>
        <p:nvSpPr>
          <p:cNvPr id="25" name="Shape 19"/>
          <p:cNvSpPr/>
          <p:nvPr/>
        </p:nvSpPr>
        <p:spPr>
          <a:xfrm>
            <a:off x="548640" y="5120640"/>
            <a:ext cx="7498080" cy="731520"/>
          </a:xfrm>
          <a:prstGeom prst="roundRect">
            <a:avLst>
              <a:gd name="adj" fmla="val 15000"/>
            </a:avLst>
          </a:prstGeom>
          <a:solidFill>
            <a:srgbClr val="EEF5E6"/>
          </a:solidFill>
          <a:ln w="12700">
            <a:solidFill>
              <a:srgbClr val="EEF5E6"/>
            </a:solidFill>
            <a:prstDash val="solid"/>
          </a:ln>
        </p:spPr>
      </p:sp>
      <p:sp>
        <p:nvSpPr>
          <p:cNvPr id="26" name="Shape 20"/>
          <p:cNvSpPr/>
          <p:nvPr/>
        </p:nvSpPr>
        <p:spPr>
          <a:xfrm>
            <a:off x="731520" y="5212080"/>
            <a:ext cx="548640" cy="548640"/>
          </a:xfrm>
          <a:prstGeom prst="ellipse">
            <a:avLst/>
          </a:prstGeom>
          <a:solidFill>
            <a:srgbClr val="3E8E41"/>
          </a:solidFill>
          <a:ln w="12700">
            <a:solidFill>
              <a:srgbClr val="3E8E41"/>
            </a:solidFill>
            <a:prstDash val="solid"/>
          </a:ln>
        </p:spPr>
      </p:sp>
      <p:pic>
        <p:nvPicPr>
          <p:cNvPr id="27" name="Image 4" descr="preencoded.png">    </p:cNvPr>
          <p:cNvPicPr>
            <a:picLocks noChangeAspect="1"/>
          </p:cNvPicPr>
          <p:nvPr/>
        </p:nvPicPr>
        <p:blipFill>
          <a:blip r:embed="rId5"/>
          <a:stretch>
            <a:fillRect/>
          </a:stretch>
        </p:blipFill>
        <p:spPr>
          <a:xfrm>
            <a:off x="863194" y="5343754"/>
            <a:ext cx="285293" cy="285293"/>
          </a:xfrm>
          <a:prstGeom prst="rect">
            <a:avLst/>
          </a:prstGeom>
        </p:spPr>
      </p:pic>
      <p:sp>
        <p:nvSpPr>
          <p:cNvPr id="28" name="Text 21"/>
          <p:cNvSpPr txBox="1"/>
          <p:nvPr/>
        </p:nvSpPr>
        <p:spPr>
          <a:xfrm>
            <a:off x="1463040" y="5212080"/>
            <a:ext cx="1920240" cy="548640"/>
          </a:xfrm>
          <a:prstGeom prst="rect">
            <a:avLst/>
          </a:prstGeom>
          <a:noFill/>
          <a:ln/>
        </p:spPr>
        <p:txBody>
          <a:bodyPr wrap="square" lIns="0" tIns="0" rIns="0" bIns="0" rtlCol="0" anchor="ctr"/>
          <a:lstStyle/>
          <a:p>
            <a:pPr indent="0" marL="0">
              <a:buNone/>
            </a:pPr>
            <a:r>
              <a:rPr lang="en-US" sz="1700" b="1" dirty="0">
                <a:solidFill>
                  <a:srgbClr val="1F4D2B"/>
                </a:solidFill>
                <a:latin typeface="Calibri" pitchFamily="34" charset="0"/>
                <a:ea typeface="Calibri" pitchFamily="34" charset="-122"/>
                <a:cs typeface="Calibri" pitchFamily="34" charset="-120"/>
              </a:rPr>
              <a:t>No negatives</a:t>
            </a:r>
            <a:endParaRPr lang="en-US" sz="1700" dirty="0"/>
          </a:p>
        </p:txBody>
      </p:sp>
      <p:sp>
        <p:nvSpPr>
          <p:cNvPr id="29" name="Text 22"/>
          <p:cNvSpPr txBox="1"/>
          <p:nvPr/>
        </p:nvSpPr>
        <p:spPr>
          <a:xfrm>
            <a:off x="3383280" y="5212080"/>
            <a:ext cx="4572000" cy="548640"/>
          </a:xfrm>
          <a:prstGeom prst="rect">
            <a:avLst/>
          </a:prstGeom>
          <a:noFill/>
          <a:ln/>
        </p:spPr>
        <p:txBody>
          <a:bodyPr wrap="square" lIns="0" tIns="0" rIns="0" bIns="0" rtlCol="0" anchor="ctr"/>
          <a:lstStyle/>
          <a:p>
            <a:pPr indent="0" marL="0">
              <a:buNone/>
            </a:pPr>
            <a:r>
              <a:rPr lang="en-US" sz="1450" dirty="0">
                <a:solidFill>
                  <a:srgbClr val="1B2A21"/>
                </a:solidFill>
                <a:latin typeface="Calibri" pitchFamily="34" charset="0"/>
                <a:ea typeface="Calibri" pitchFamily="34" charset="-122"/>
                <a:cs typeface="Calibri" pitchFamily="34" charset="-120"/>
              </a:rPr>
              <a:t>No balance, battery or storage ever goes below zero</a:t>
            </a:r>
            <a:endParaRPr lang="en-US" sz="1450" dirty="0"/>
          </a:p>
        </p:txBody>
      </p:sp>
      <p:sp>
        <p:nvSpPr>
          <p:cNvPr id="30" name="Shape 23"/>
          <p:cNvSpPr/>
          <p:nvPr/>
        </p:nvSpPr>
        <p:spPr>
          <a:xfrm>
            <a:off x="8412480" y="1645920"/>
            <a:ext cx="3200400" cy="4206240"/>
          </a:xfrm>
          <a:prstGeom prst="roundRect">
            <a:avLst>
              <a:gd name="adj" fmla="val 3429"/>
            </a:avLst>
          </a:prstGeom>
          <a:solidFill>
            <a:srgbClr val="FDF3D6"/>
          </a:solidFill>
          <a:ln w="12700">
            <a:solidFill>
              <a:srgbClr val="FDF3D6"/>
            </a:solidFill>
            <a:prstDash val="solid"/>
          </a:ln>
        </p:spPr>
      </p:sp>
      <p:sp>
        <p:nvSpPr>
          <p:cNvPr id="31" name="Text 24"/>
          <p:cNvSpPr txBox="1"/>
          <p:nvPr/>
        </p:nvSpPr>
        <p:spPr>
          <a:xfrm>
            <a:off x="8641080" y="1920240"/>
            <a:ext cx="2834640" cy="822960"/>
          </a:xfrm>
          <a:prstGeom prst="rect">
            <a:avLst/>
          </a:prstGeom>
          <a:noFill/>
          <a:ln/>
        </p:spPr>
        <p:txBody>
          <a:bodyPr wrap="square" lIns="0" tIns="0" rIns="0" bIns="0" rtlCol="0" anchor="t"/>
          <a:lstStyle/>
          <a:p>
            <a:pPr indent="0" marL="0">
              <a:buNone/>
            </a:pPr>
            <a:r>
              <a:rPr lang="en-US" sz="4600" b="1" dirty="0">
                <a:solidFill>
                  <a:srgbClr val="3E8E41"/>
                </a:solidFill>
                <a:latin typeface="Cambria" pitchFamily="34" charset="0"/>
                <a:ea typeface="Cambria" pitchFamily="34" charset="-122"/>
                <a:cs typeface="Cambria" pitchFamily="34" charset="-120"/>
              </a:rPr>
              <a:t>96 / 96</a:t>
            </a:r>
            <a:endParaRPr lang="en-US" sz="4600" dirty="0"/>
          </a:p>
        </p:txBody>
      </p:sp>
      <p:sp>
        <p:nvSpPr>
          <p:cNvPr id="32" name="Text 25"/>
          <p:cNvSpPr txBox="1"/>
          <p:nvPr/>
        </p:nvSpPr>
        <p:spPr>
          <a:xfrm>
            <a:off x="8641080" y="2788920"/>
            <a:ext cx="2743200" cy="1097280"/>
          </a:xfrm>
          <a:prstGeom prst="rect">
            <a:avLst/>
          </a:prstGeom>
          <a:noFill/>
          <a:ln/>
        </p:spPr>
        <p:txBody>
          <a:bodyPr wrap="square" lIns="0" tIns="0" rIns="0" bIns="0" rtlCol="0" anchor="t"/>
          <a:lstStyle/>
          <a:p>
            <a:pPr indent="0" marL="0">
              <a:buNone/>
            </a:pPr>
            <a:r>
              <a:rPr lang="en-US" sz="1400" dirty="0">
                <a:solidFill>
                  <a:srgbClr val="1B2A21"/>
                </a:solidFill>
                <a:latin typeface="Calibri" pitchFamily="34" charset="0"/>
                <a:ea typeface="Calibri" pitchFamily="34" charset="-122"/>
                <a:cs typeface="Calibri" pitchFamily="34" charset="-120"/>
              </a:rPr>
              <a:t>intervals passed all five checks in the two-day simulation run.</a:t>
            </a:r>
            <a:endParaRPr lang="en-US" sz="1400" dirty="0"/>
          </a:p>
        </p:txBody>
      </p:sp>
      <p:sp>
        <p:nvSpPr>
          <p:cNvPr id="33" name="Text 26"/>
          <p:cNvSpPr txBox="1"/>
          <p:nvPr/>
        </p:nvSpPr>
        <p:spPr>
          <a:xfrm>
            <a:off x="8641080" y="4114800"/>
            <a:ext cx="2743200" cy="1097280"/>
          </a:xfrm>
          <a:prstGeom prst="rect">
            <a:avLst/>
          </a:prstGeom>
          <a:noFill/>
          <a:ln/>
        </p:spPr>
        <p:txBody>
          <a:bodyPr wrap="square" lIns="0" tIns="0" rIns="0" bIns="0" rtlCol="0" anchor="t"/>
          <a:lstStyle/>
          <a:p>
            <a:pPr indent="0" marL="0">
              <a:buNone/>
            </a:pPr>
            <a:r>
              <a:rPr lang="en-US" sz="1350" i="1" dirty="0">
                <a:solidFill>
                  <a:srgbClr val="5B6B63"/>
                </a:solidFill>
                <a:latin typeface="Calibri" pitchFamily="34" charset="0"/>
                <a:ea typeface="Calibri" pitchFamily="34" charset="-122"/>
                <a:cs typeface="Calibri" pitchFamily="34" charset="-120"/>
              </a:rPr>
              <a:t>Like a bank reconciling its accounts every day.</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PART 10 · SAFETY CHECKS &amp; PLAN</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Built in phases, each one demonstrable</a:t>
            </a:r>
            <a:endParaRPr lang="en-US" sz="3200" dirty="0"/>
          </a:p>
        </p:txBody>
      </p:sp>
      <p:sp>
        <p:nvSpPr>
          <p:cNvPr id="5" name="Shape 3"/>
          <p:cNvSpPr/>
          <p:nvPr/>
        </p:nvSpPr>
        <p:spPr>
          <a:xfrm>
            <a:off x="1005840" y="1965960"/>
            <a:ext cx="10332720" cy="0"/>
          </a:xfrm>
          <a:prstGeom prst="line">
            <a:avLst/>
          </a:prstGeom>
          <a:noFill/>
          <a:ln w="38100">
            <a:solidFill>
              <a:srgbClr val="97BC62"/>
            </a:solidFill>
            <a:prstDash val="solid"/>
          </a:ln>
        </p:spPr>
      </p:sp>
      <p:sp>
        <p:nvSpPr>
          <p:cNvPr id="6" name="Shape 4"/>
          <p:cNvSpPr/>
          <p:nvPr/>
        </p:nvSpPr>
        <p:spPr>
          <a:xfrm>
            <a:off x="640080" y="1600200"/>
            <a:ext cx="731520" cy="731520"/>
          </a:xfrm>
          <a:prstGeom prst="ellipse">
            <a:avLst/>
          </a:prstGeom>
          <a:solidFill>
            <a:srgbClr val="F2A900"/>
          </a:solidFill>
          <a:ln w="12700">
            <a:solidFill>
              <a:srgbClr val="F2A900"/>
            </a:solidFill>
            <a:prstDash val="solid"/>
          </a:ln>
        </p:spPr>
      </p:sp>
      <p:sp>
        <p:nvSpPr>
          <p:cNvPr id="7" name="Text 5"/>
          <p:cNvSpPr txBox="1"/>
          <p:nvPr/>
        </p:nvSpPr>
        <p:spPr>
          <a:xfrm>
            <a:off x="640080" y="1600200"/>
            <a:ext cx="731520" cy="731520"/>
          </a:xfrm>
          <a:prstGeom prst="rect">
            <a:avLst/>
          </a:prstGeom>
          <a:noFill/>
          <a:ln/>
        </p:spPr>
        <p:txBody>
          <a:bodyPr wrap="square" lIns="0" tIns="0" rIns="0" bIns="0" rtlCol="0" anchor="ctr"/>
          <a:lstStyle/>
          <a:p>
            <a:pPr algn="ctr" indent="0" marL="0">
              <a:buNone/>
            </a:pPr>
            <a:r>
              <a:rPr lang="en-US" sz="2080" b="1" dirty="0">
                <a:solidFill>
                  <a:srgbClr val="FFFFFF"/>
                </a:solidFill>
                <a:latin typeface="Cambria" pitchFamily="34" charset="0"/>
                <a:ea typeface="Cambria" pitchFamily="34" charset="-122"/>
                <a:cs typeface="Cambria" pitchFamily="34" charset="-120"/>
              </a:rPr>
              <a:t>✓</a:t>
            </a:r>
            <a:endParaRPr lang="en-US" sz="2080" dirty="0"/>
          </a:p>
        </p:txBody>
      </p:sp>
      <p:sp>
        <p:nvSpPr>
          <p:cNvPr id="8" name="Text 6"/>
          <p:cNvSpPr txBox="1"/>
          <p:nvPr/>
        </p:nvSpPr>
        <p:spPr>
          <a:xfrm>
            <a:off x="548640" y="2560320"/>
            <a:ext cx="2103120" cy="411480"/>
          </a:xfrm>
          <a:prstGeom prst="rect">
            <a:avLst/>
          </a:prstGeom>
          <a:noFill/>
          <a:ln/>
        </p:spPr>
        <p:txBody>
          <a:bodyPr wrap="square" lIns="0" tIns="0" rIns="0" bIns="0" rtlCol="0" anchor="t"/>
          <a:lstStyle/>
          <a:p>
            <a:pPr indent="0" marL="0">
              <a:buNone/>
            </a:pPr>
            <a:r>
              <a:rPr lang="en-US" sz="1700" b="1" dirty="0">
                <a:solidFill>
                  <a:srgbClr val="1F4D2B"/>
                </a:solidFill>
                <a:latin typeface="Cambria" pitchFamily="34" charset="0"/>
                <a:ea typeface="Cambria" pitchFamily="34" charset="-122"/>
                <a:cs typeface="Cambria" pitchFamily="34" charset="-120"/>
              </a:rPr>
              <a:t>Frontend first</a:t>
            </a:r>
            <a:endParaRPr lang="en-US" sz="1700" dirty="0"/>
          </a:p>
        </p:txBody>
      </p:sp>
      <p:sp>
        <p:nvSpPr>
          <p:cNvPr id="9" name="Text 7"/>
          <p:cNvSpPr txBox="1"/>
          <p:nvPr/>
        </p:nvSpPr>
        <p:spPr>
          <a:xfrm>
            <a:off x="548640" y="3017520"/>
            <a:ext cx="2057400" cy="1463040"/>
          </a:xfrm>
          <a:prstGeom prst="rect">
            <a:avLst/>
          </a:prstGeom>
          <a:noFill/>
          <a:ln/>
        </p:spPr>
        <p:txBody>
          <a:bodyPr wrap="square" lIns="0" tIns="0" rIns="0" bIns="0" rtlCol="0" anchor="t"/>
          <a:lstStyle/>
          <a:p>
            <a:pPr indent="0" marL="0">
              <a:buNone/>
            </a:pPr>
            <a:r>
              <a:rPr lang="en-US" sz="1350" dirty="0">
                <a:solidFill>
                  <a:srgbClr val="5B6B63"/>
                </a:solidFill>
                <a:latin typeface="Calibri" pitchFamily="34" charset="0"/>
                <a:ea typeface="Calibri" pitchFamily="34" charset="-122"/>
                <a:cs typeface="Calibri" pitchFamily="34" charset="-120"/>
              </a:rPr>
              <a:t>Every screen working on an in-browser simulation of the design</a:t>
            </a:r>
            <a:endParaRPr lang="en-US" sz="1350" dirty="0"/>
          </a:p>
        </p:txBody>
      </p:sp>
      <p:sp>
        <p:nvSpPr>
          <p:cNvPr id="10" name="Shape 8"/>
          <p:cNvSpPr/>
          <p:nvPr/>
        </p:nvSpPr>
        <p:spPr>
          <a:xfrm>
            <a:off x="2926080" y="1600200"/>
            <a:ext cx="731520" cy="731520"/>
          </a:xfrm>
          <a:prstGeom prst="ellipse">
            <a:avLst/>
          </a:prstGeom>
          <a:solidFill>
            <a:srgbClr val="1F4D2B"/>
          </a:solidFill>
          <a:ln w="12700">
            <a:solidFill>
              <a:srgbClr val="1F4D2B"/>
            </a:solidFill>
            <a:prstDash val="solid"/>
          </a:ln>
        </p:spPr>
      </p:sp>
      <p:sp>
        <p:nvSpPr>
          <p:cNvPr id="11" name="Text 9"/>
          <p:cNvSpPr txBox="1"/>
          <p:nvPr/>
        </p:nvSpPr>
        <p:spPr>
          <a:xfrm>
            <a:off x="2926080" y="1600200"/>
            <a:ext cx="731520" cy="731520"/>
          </a:xfrm>
          <a:prstGeom prst="rect">
            <a:avLst/>
          </a:prstGeom>
          <a:noFill/>
          <a:ln/>
        </p:spPr>
        <p:txBody>
          <a:bodyPr wrap="square" lIns="0" tIns="0" rIns="0" bIns="0" rtlCol="0" anchor="ctr"/>
          <a:lstStyle/>
          <a:p>
            <a:pPr algn="ctr" indent="0" marL="0">
              <a:buNone/>
            </a:pPr>
            <a:r>
              <a:rPr lang="en-US" sz="2080" b="1" dirty="0">
                <a:solidFill>
                  <a:srgbClr val="FFFFFF"/>
                </a:solidFill>
                <a:latin typeface="Cambria" pitchFamily="34" charset="0"/>
                <a:ea typeface="Cambria" pitchFamily="34" charset="-122"/>
                <a:cs typeface="Cambria" pitchFamily="34" charset="-120"/>
              </a:rPr>
              <a:t>0</a:t>
            </a:r>
            <a:endParaRPr lang="en-US" sz="2080" dirty="0"/>
          </a:p>
        </p:txBody>
      </p:sp>
      <p:sp>
        <p:nvSpPr>
          <p:cNvPr id="12" name="Text 10"/>
          <p:cNvSpPr txBox="1"/>
          <p:nvPr/>
        </p:nvSpPr>
        <p:spPr>
          <a:xfrm>
            <a:off x="2834640" y="2560320"/>
            <a:ext cx="2103120" cy="411480"/>
          </a:xfrm>
          <a:prstGeom prst="rect">
            <a:avLst/>
          </a:prstGeom>
          <a:noFill/>
          <a:ln/>
        </p:spPr>
        <p:txBody>
          <a:bodyPr wrap="square" lIns="0" tIns="0" rIns="0" bIns="0" rtlCol="0" anchor="t"/>
          <a:lstStyle/>
          <a:p>
            <a:pPr indent="0" marL="0">
              <a:buNone/>
            </a:pPr>
            <a:r>
              <a:rPr lang="en-US" sz="1700" b="1" dirty="0">
                <a:solidFill>
                  <a:srgbClr val="1F4D2B"/>
                </a:solidFill>
                <a:latin typeface="Cambria" pitchFamily="34" charset="0"/>
                <a:ea typeface="Cambria" pitchFamily="34" charset="-122"/>
                <a:cs typeface="Cambria" pitchFamily="34" charset="-120"/>
              </a:rPr>
              <a:t>Money &amp; ledger</a:t>
            </a:r>
            <a:endParaRPr lang="en-US" sz="1700" dirty="0"/>
          </a:p>
        </p:txBody>
      </p:sp>
      <p:sp>
        <p:nvSpPr>
          <p:cNvPr id="13" name="Text 11"/>
          <p:cNvSpPr txBox="1"/>
          <p:nvPr/>
        </p:nvSpPr>
        <p:spPr>
          <a:xfrm>
            <a:off x="2834640" y="3017520"/>
            <a:ext cx="2057400" cy="1463040"/>
          </a:xfrm>
          <a:prstGeom prst="rect">
            <a:avLst/>
          </a:prstGeom>
          <a:noFill/>
          <a:ln/>
        </p:spPr>
        <p:txBody>
          <a:bodyPr wrap="square" lIns="0" tIns="0" rIns="0" bIns="0" rtlCol="0" anchor="t"/>
          <a:lstStyle/>
          <a:p>
            <a:pPr indent="0" marL="0">
              <a:buNone/>
            </a:pPr>
            <a:r>
              <a:rPr lang="en-US" sz="1350" dirty="0">
                <a:solidFill>
                  <a:srgbClr val="5B6B63"/>
                </a:solidFill>
                <a:latin typeface="Calibri" pitchFamily="34" charset="0"/>
                <a:ea typeface="Calibri" pitchFamily="34" charset="-122"/>
                <a:cs typeface="Calibri" pitchFamily="34" charset="-120"/>
              </a:rPr>
              <a:t>Operator accounts, Hedera-style IDs, top-up, welcome grant</a:t>
            </a:r>
            <a:endParaRPr lang="en-US" sz="1350" dirty="0"/>
          </a:p>
        </p:txBody>
      </p:sp>
      <p:sp>
        <p:nvSpPr>
          <p:cNvPr id="14" name="Shape 12"/>
          <p:cNvSpPr/>
          <p:nvPr/>
        </p:nvSpPr>
        <p:spPr>
          <a:xfrm>
            <a:off x="5212080" y="1600200"/>
            <a:ext cx="731520" cy="731520"/>
          </a:xfrm>
          <a:prstGeom prst="ellipse">
            <a:avLst/>
          </a:prstGeom>
          <a:solidFill>
            <a:srgbClr val="1F4D2B"/>
          </a:solidFill>
          <a:ln w="12700">
            <a:solidFill>
              <a:srgbClr val="1F4D2B"/>
            </a:solidFill>
            <a:prstDash val="solid"/>
          </a:ln>
        </p:spPr>
      </p:sp>
      <p:sp>
        <p:nvSpPr>
          <p:cNvPr id="15" name="Text 13"/>
          <p:cNvSpPr txBox="1"/>
          <p:nvPr/>
        </p:nvSpPr>
        <p:spPr>
          <a:xfrm>
            <a:off x="5212080" y="1600200"/>
            <a:ext cx="731520" cy="731520"/>
          </a:xfrm>
          <a:prstGeom prst="rect">
            <a:avLst/>
          </a:prstGeom>
          <a:noFill/>
          <a:ln/>
        </p:spPr>
        <p:txBody>
          <a:bodyPr wrap="square" lIns="0" tIns="0" rIns="0" bIns="0" rtlCol="0" anchor="ctr"/>
          <a:lstStyle/>
          <a:p>
            <a:pPr algn="ctr" indent="0" marL="0">
              <a:buNone/>
            </a:pPr>
            <a:r>
              <a:rPr lang="en-US" sz="2080" b="1" dirty="0">
                <a:solidFill>
                  <a:srgbClr val="FFFFFF"/>
                </a:solidFill>
                <a:latin typeface="Cambria" pitchFamily="34" charset="0"/>
                <a:ea typeface="Cambria" pitchFamily="34" charset="-122"/>
                <a:cs typeface="Cambria" pitchFamily="34" charset="-120"/>
              </a:rPr>
              <a:t>1</a:t>
            </a:r>
            <a:endParaRPr lang="en-US" sz="2080" dirty="0"/>
          </a:p>
        </p:txBody>
      </p:sp>
      <p:sp>
        <p:nvSpPr>
          <p:cNvPr id="16" name="Text 14"/>
          <p:cNvSpPr txBox="1"/>
          <p:nvPr/>
        </p:nvSpPr>
        <p:spPr>
          <a:xfrm>
            <a:off x="5120640" y="2560320"/>
            <a:ext cx="2103120" cy="411480"/>
          </a:xfrm>
          <a:prstGeom prst="rect">
            <a:avLst/>
          </a:prstGeom>
          <a:noFill/>
          <a:ln/>
        </p:spPr>
        <p:txBody>
          <a:bodyPr wrap="square" lIns="0" tIns="0" rIns="0" bIns="0" rtlCol="0" anchor="t"/>
          <a:lstStyle/>
          <a:p>
            <a:pPr indent="0" marL="0">
              <a:buNone/>
            </a:pPr>
            <a:r>
              <a:rPr lang="en-US" sz="1700" b="1" dirty="0">
                <a:solidFill>
                  <a:srgbClr val="1F4D2B"/>
                </a:solidFill>
                <a:latin typeface="Cambria" pitchFamily="34" charset="0"/>
                <a:ea typeface="Cambria" pitchFamily="34" charset="-122"/>
                <a:cs typeface="Cambria" pitchFamily="34" charset="-120"/>
              </a:rPr>
              <a:t>Roles &amp; certificates</a:t>
            </a:r>
            <a:endParaRPr lang="en-US" sz="1700" dirty="0"/>
          </a:p>
        </p:txBody>
      </p:sp>
      <p:sp>
        <p:nvSpPr>
          <p:cNvPr id="17" name="Text 15"/>
          <p:cNvSpPr txBox="1"/>
          <p:nvPr/>
        </p:nvSpPr>
        <p:spPr>
          <a:xfrm>
            <a:off x="5120640" y="3017520"/>
            <a:ext cx="2057400" cy="1463040"/>
          </a:xfrm>
          <a:prstGeom prst="rect">
            <a:avLst/>
          </a:prstGeom>
          <a:noFill/>
          <a:ln/>
        </p:spPr>
        <p:txBody>
          <a:bodyPr wrap="square" lIns="0" tIns="0" rIns="0" bIns="0" rtlCol="0" anchor="t"/>
          <a:lstStyle/>
          <a:p>
            <a:pPr indent="0" marL="0">
              <a:buNone/>
            </a:pPr>
            <a:r>
              <a:rPr lang="en-US" sz="1350" dirty="0">
                <a:solidFill>
                  <a:srgbClr val="5B6B63"/>
                </a:solidFill>
                <a:latin typeface="Calibri" pitchFamily="34" charset="0"/>
                <a:ea typeface="Calibri" pitchFamily="34" charset="-122"/>
                <a:cs typeface="Calibri" pitchFamily="34" charset="-120"/>
              </a:rPr>
              <a:t>New seed, certificates instead of minting, green share</a:t>
            </a:r>
            <a:endParaRPr lang="en-US" sz="1350" dirty="0"/>
          </a:p>
        </p:txBody>
      </p:sp>
      <p:sp>
        <p:nvSpPr>
          <p:cNvPr id="18" name="Shape 16"/>
          <p:cNvSpPr/>
          <p:nvPr/>
        </p:nvSpPr>
        <p:spPr>
          <a:xfrm>
            <a:off x="7498080" y="1600200"/>
            <a:ext cx="731520" cy="731520"/>
          </a:xfrm>
          <a:prstGeom prst="ellipse">
            <a:avLst/>
          </a:prstGeom>
          <a:solidFill>
            <a:srgbClr val="1F4D2B"/>
          </a:solidFill>
          <a:ln w="12700">
            <a:solidFill>
              <a:srgbClr val="1F4D2B"/>
            </a:solidFill>
            <a:prstDash val="solid"/>
          </a:ln>
        </p:spPr>
      </p:sp>
      <p:sp>
        <p:nvSpPr>
          <p:cNvPr id="19" name="Text 17"/>
          <p:cNvSpPr txBox="1"/>
          <p:nvPr/>
        </p:nvSpPr>
        <p:spPr>
          <a:xfrm>
            <a:off x="7498080" y="1600200"/>
            <a:ext cx="731520" cy="731520"/>
          </a:xfrm>
          <a:prstGeom prst="rect">
            <a:avLst/>
          </a:prstGeom>
          <a:noFill/>
          <a:ln/>
        </p:spPr>
        <p:txBody>
          <a:bodyPr wrap="square" lIns="0" tIns="0" rIns="0" bIns="0" rtlCol="0" anchor="ctr"/>
          <a:lstStyle/>
          <a:p>
            <a:pPr algn="ctr" indent="0" marL="0">
              <a:buNone/>
            </a:pPr>
            <a:r>
              <a:rPr lang="en-US" sz="2080" b="1" dirty="0">
                <a:solidFill>
                  <a:srgbClr val="FFFFFF"/>
                </a:solidFill>
                <a:latin typeface="Cambria" pitchFamily="34" charset="0"/>
                <a:ea typeface="Cambria" pitchFamily="34" charset="-122"/>
                <a:cs typeface="Cambria" pitchFamily="34" charset="-120"/>
              </a:rPr>
              <a:t>2</a:t>
            </a:r>
            <a:endParaRPr lang="en-US" sz="2080" dirty="0"/>
          </a:p>
        </p:txBody>
      </p:sp>
      <p:sp>
        <p:nvSpPr>
          <p:cNvPr id="20" name="Text 18"/>
          <p:cNvSpPr txBox="1"/>
          <p:nvPr/>
        </p:nvSpPr>
        <p:spPr>
          <a:xfrm>
            <a:off x="7406640" y="2560320"/>
            <a:ext cx="2103120" cy="411480"/>
          </a:xfrm>
          <a:prstGeom prst="rect">
            <a:avLst/>
          </a:prstGeom>
          <a:noFill/>
          <a:ln/>
        </p:spPr>
        <p:txBody>
          <a:bodyPr wrap="square" lIns="0" tIns="0" rIns="0" bIns="0" rtlCol="0" anchor="t"/>
          <a:lstStyle/>
          <a:p>
            <a:pPr indent="0" marL="0">
              <a:buNone/>
            </a:pPr>
            <a:r>
              <a:rPr lang="en-US" sz="1700" b="1" dirty="0">
                <a:solidFill>
                  <a:srgbClr val="1F4D2B"/>
                </a:solidFill>
                <a:latin typeface="Cambria" pitchFamily="34" charset="0"/>
                <a:ea typeface="Cambria" pitchFamily="34" charset="-122"/>
                <a:cs typeface="Cambria" pitchFamily="34" charset="-120"/>
              </a:rPr>
              <a:t>Batteries &amp; storage</a:t>
            </a:r>
            <a:endParaRPr lang="en-US" sz="1700" dirty="0"/>
          </a:p>
        </p:txBody>
      </p:sp>
      <p:sp>
        <p:nvSpPr>
          <p:cNvPr id="21" name="Text 19"/>
          <p:cNvSpPr txBox="1"/>
          <p:nvPr/>
        </p:nvSpPr>
        <p:spPr>
          <a:xfrm>
            <a:off x="7406640" y="3017520"/>
            <a:ext cx="2057400" cy="1463040"/>
          </a:xfrm>
          <a:prstGeom prst="rect">
            <a:avLst/>
          </a:prstGeom>
          <a:noFill/>
          <a:ln/>
        </p:spPr>
        <p:txBody>
          <a:bodyPr wrap="square" lIns="0" tIns="0" rIns="0" bIns="0" rtlCol="0" anchor="t"/>
          <a:lstStyle/>
          <a:p>
            <a:pPr indent="0" marL="0">
              <a:buNone/>
            </a:pPr>
            <a:r>
              <a:rPr lang="en-US" sz="1350" dirty="0">
                <a:solidFill>
                  <a:srgbClr val="5B6B63"/>
                </a:solidFill>
                <a:latin typeface="Calibri" pitchFamily="34" charset="0"/>
                <a:ea typeface="Calibri" pitchFamily="34" charset="-122"/>
                <a:cs typeface="Calibri" pitchFamily="34" charset="-120"/>
              </a:rPr>
              <a:t>Home battery, shared battery, utility statement, marketplace delivery</a:t>
            </a:r>
            <a:endParaRPr lang="en-US" sz="1350" dirty="0"/>
          </a:p>
        </p:txBody>
      </p:sp>
      <p:sp>
        <p:nvSpPr>
          <p:cNvPr id="22" name="Shape 20"/>
          <p:cNvSpPr/>
          <p:nvPr/>
        </p:nvSpPr>
        <p:spPr>
          <a:xfrm>
            <a:off x="9784080" y="1600200"/>
            <a:ext cx="731520" cy="731520"/>
          </a:xfrm>
          <a:prstGeom prst="ellipse">
            <a:avLst/>
          </a:prstGeom>
          <a:solidFill>
            <a:srgbClr val="1F4D2B"/>
          </a:solidFill>
          <a:ln w="12700">
            <a:solidFill>
              <a:srgbClr val="1F4D2B"/>
            </a:solidFill>
            <a:prstDash val="solid"/>
          </a:ln>
        </p:spPr>
      </p:sp>
      <p:sp>
        <p:nvSpPr>
          <p:cNvPr id="23" name="Text 21"/>
          <p:cNvSpPr txBox="1"/>
          <p:nvPr/>
        </p:nvSpPr>
        <p:spPr>
          <a:xfrm>
            <a:off x="9784080" y="1600200"/>
            <a:ext cx="731520" cy="731520"/>
          </a:xfrm>
          <a:prstGeom prst="rect">
            <a:avLst/>
          </a:prstGeom>
          <a:noFill/>
          <a:ln/>
        </p:spPr>
        <p:txBody>
          <a:bodyPr wrap="square" lIns="0" tIns="0" rIns="0" bIns="0" rtlCol="0" anchor="ctr"/>
          <a:lstStyle/>
          <a:p>
            <a:pPr algn="ctr" indent="0" marL="0">
              <a:buNone/>
            </a:pPr>
            <a:r>
              <a:rPr lang="en-US" sz="2080" b="1" dirty="0">
                <a:solidFill>
                  <a:srgbClr val="FFFFFF"/>
                </a:solidFill>
                <a:latin typeface="Cambria" pitchFamily="34" charset="0"/>
                <a:ea typeface="Cambria" pitchFamily="34" charset="-122"/>
                <a:cs typeface="Cambria" pitchFamily="34" charset="-120"/>
              </a:rPr>
              <a:t>3</a:t>
            </a:r>
            <a:endParaRPr lang="en-US" sz="2080" dirty="0"/>
          </a:p>
        </p:txBody>
      </p:sp>
      <p:sp>
        <p:nvSpPr>
          <p:cNvPr id="24" name="Text 22"/>
          <p:cNvSpPr txBox="1"/>
          <p:nvPr/>
        </p:nvSpPr>
        <p:spPr>
          <a:xfrm>
            <a:off x="9692640" y="2560320"/>
            <a:ext cx="2103120" cy="411480"/>
          </a:xfrm>
          <a:prstGeom prst="rect">
            <a:avLst/>
          </a:prstGeom>
          <a:noFill/>
          <a:ln/>
        </p:spPr>
        <p:txBody>
          <a:bodyPr wrap="square" lIns="0" tIns="0" rIns="0" bIns="0" rtlCol="0" anchor="t"/>
          <a:lstStyle/>
          <a:p>
            <a:pPr indent="0" marL="0">
              <a:buNone/>
            </a:pPr>
            <a:r>
              <a:rPr lang="en-US" sz="1700" b="1" dirty="0">
                <a:solidFill>
                  <a:srgbClr val="1F4D2B"/>
                </a:solidFill>
                <a:latin typeface="Cambria" pitchFamily="34" charset="0"/>
                <a:ea typeface="Cambria" pitchFamily="34" charset="-122"/>
                <a:cs typeface="Cambria" pitchFamily="34" charset="-120"/>
              </a:rPr>
              <a:t>The auction</a:t>
            </a:r>
            <a:endParaRPr lang="en-US" sz="1700" dirty="0"/>
          </a:p>
        </p:txBody>
      </p:sp>
      <p:sp>
        <p:nvSpPr>
          <p:cNvPr id="25" name="Text 23"/>
          <p:cNvSpPr txBox="1"/>
          <p:nvPr/>
        </p:nvSpPr>
        <p:spPr>
          <a:xfrm>
            <a:off x="9692640" y="3017520"/>
            <a:ext cx="2057400" cy="1463040"/>
          </a:xfrm>
          <a:prstGeom prst="rect">
            <a:avLst/>
          </a:prstGeom>
          <a:noFill/>
          <a:ln/>
        </p:spPr>
        <p:txBody>
          <a:bodyPr wrap="square" lIns="0" tIns="0" rIns="0" bIns="0" rtlCol="0" anchor="t"/>
          <a:lstStyle/>
          <a:p>
            <a:pPr indent="0" marL="0">
              <a:buNone/>
            </a:pPr>
            <a:r>
              <a:rPr lang="en-US" sz="1350" dirty="0">
                <a:solidFill>
                  <a:srgbClr val="5B6B63"/>
                </a:solidFill>
                <a:latin typeface="Calibri" pitchFamily="34" charset="0"/>
                <a:ea typeface="Calibri" pitchFamily="34" charset="-122"/>
                <a:cs typeface="Calibri" pitchFamily="34" charset="-120"/>
              </a:rPr>
              <a:t>Market clock, automatic bids, clearing, price history</a:t>
            </a:r>
            <a:endParaRPr lang="en-US" sz="1350" dirty="0"/>
          </a:p>
        </p:txBody>
      </p:sp>
      <p:sp>
        <p:nvSpPr>
          <p:cNvPr id="26" name="Shape 24"/>
          <p:cNvSpPr/>
          <p:nvPr/>
        </p:nvSpPr>
        <p:spPr>
          <a:xfrm>
            <a:off x="548640" y="4572000"/>
            <a:ext cx="11064240" cy="1143000"/>
          </a:xfrm>
          <a:prstGeom prst="roundRect">
            <a:avLst>
              <a:gd name="adj" fmla="val 9600"/>
            </a:avLst>
          </a:prstGeom>
          <a:solidFill>
            <a:srgbClr val="EEF5E6"/>
          </a:solidFill>
          <a:ln w="12700">
            <a:solidFill>
              <a:srgbClr val="EEF5E6"/>
            </a:solidFill>
            <a:prstDash val="solid"/>
          </a:ln>
        </p:spPr>
      </p:sp>
      <p:sp>
        <p:nvSpPr>
          <p:cNvPr id="27" name="Text 25"/>
          <p:cNvSpPr txBox="1"/>
          <p:nvPr/>
        </p:nvSpPr>
        <p:spPr>
          <a:xfrm>
            <a:off x="822960" y="4663440"/>
            <a:ext cx="10607040" cy="960120"/>
          </a:xfrm>
          <a:prstGeom prst="rect">
            <a:avLst/>
          </a:prstGeom>
          <a:noFill/>
          <a:ln/>
        </p:spPr>
        <p:txBody>
          <a:bodyPr wrap="square" lIns="0" tIns="0" rIns="0" bIns="0" rtlCol="0" anchor="ctr"/>
          <a:lstStyle/>
          <a:p>
            <a:pPr indent="0" marL="0">
              <a:buNone/>
            </a:pPr>
            <a:r>
              <a:rPr lang="en-US" sz="1500" dirty="0">
                <a:solidFill>
                  <a:srgbClr val="1F4D2B"/>
                </a:solidFill>
                <a:latin typeface="Calibri" pitchFamily="34" charset="0"/>
                <a:ea typeface="Calibri" pitchFamily="34" charset="-122"/>
                <a:cs typeface="Calibri" pitchFamily="34" charset="-120"/>
              </a:rPr>
              <a:t>Each phase ends with a working demo, and every test must pass before the next phase starts. The frontend already speaks the final API, so the backend only has to match it.</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23</a:t>
            </a:r>
            <a:endParaRPr lang="en-US" sz="1000" dirty="0"/>
          </a:p>
        </p:txBody>
      </p:sp>
      <p:sp>
        <p:nvSpPr>
          <p:cNvPr id="3" name="Text 1"/>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200" b="1" spc="300" kern="0" dirty="0">
                <a:solidFill>
                  <a:srgbClr val="3E8E41"/>
                </a:solidFill>
                <a:latin typeface="Calibri" pitchFamily="34" charset="0"/>
                <a:ea typeface="Calibri" pitchFamily="34" charset="-122"/>
                <a:cs typeface="Calibri" pitchFamily="34" charset="-120"/>
              </a:rPr>
              <a:t>BEYOND THE PROJECT</a:t>
            </a:r>
            <a:endParaRPr lang="en-US" sz="1200" dirty="0"/>
          </a:p>
        </p:txBody>
      </p:sp>
      <p:sp>
        <p:nvSpPr>
          <p:cNvPr id="4" name="Text 2"/>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F4D2B"/>
                </a:solidFill>
                <a:latin typeface="Cambria" pitchFamily="34" charset="0"/>
                <a:ea typeface="Cambria" pitchFamily="34" charset="-122"/>
                <a:cs typeface="Cambria" pitchFamily="34" charset="-120"/>
              </a:rPr>
              <a:t>Inspired by real systems — and what comes next</a:t>
            </a:r>
            <a:endParaRPr 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675120" cy="914400"/>
        </p:xfrm>
        <a:graphic>
          <a:graphicData uri="http://schemas.openxmlformats.org/drawingml/2006/table">
            <a:tbl>
              <a:tblPr/>
              <a:tblGrid>
                <a:gridCol w="3017520"/>
                <a:gridCol w="3657600"/>
              </a:tblGrid>
              <a:tr h="50292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Our design</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1F4D2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Real-world counterpart</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1F4D2B"/>
                    </a:solidFill>
                  </a:tcPr>
                </a:tc>
              </a:tr>
              <a:tr h="502920">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Neighbour trading</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Brooklyn Microgrid, Power Ledger</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r>
              <a:tr h="502920">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Auction per interval</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6"/>
                    </a:solidFill>
                  </a:tcPr>
                </a:tc>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EPEX Spot, Nord Pool</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6"/>
                    </a:solidFill>
                  </a:tcPr>
                </a:tc>
              </a:tr>
              <a:tr h="502920">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Shared battery with rented space</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Community batteries, "solar cloud" offers</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r>
              <a:tr h="502920">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Floor / ceiling band</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6"/>
                    </a:solidFill>
                  </a:tcPr>
                </a:tc>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Feed-in tariffs and net billing</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6"/>
                    </a:solidFill>
                  </a:tcPr>
                </a:tc>
              </a:tr>
              <a:tr h="502920">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Green certificates</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350" dirty="0">
                          <a:solidFill>
                            <a:srgbClr val="1B2A21"/>
                          </a:solidFill>
                          <a:latin typeface="Calibri" pitchFamily="34" charset="0"/>
                          <a:ea typeface="Calibri" pitchFamily="34" charset="-122"/>
                          <a:cs typeface="Calibri" pitchFamily="34" charset="-120"/>
                        </a:rPr>
                        <a:t>Guarantees of Origin, Hedera Guardian</a:t>
                      </a:r>
                      <a:endParaRPr lang="en-US" sz="1350" dirty="0">
                        <a:latin typeface="Calibri" charset="0"/>
                        <a:ea typeface="Calibri" charset="0"/>
                        <a:cs typeface="Calibri" charset="0"/>
                      </a:endParaRPr>
                    </a:p>
                  </a:txBody>
                  <a:tcPr marL="91440" marR="91440" marT="45720" marB="45720"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r>
            </a:tbl>
          </a:graphicData>
        </a:graphic>
      </p:graphicFrame>
      <p:sp>
        <p:nvSpPr>
          <p:cNvPr id="6" name="Shape 3"/>
          <p:cNvSpPr/>
          <p:nvPr/>
        </p:nvSpPr>
        <p:spPr>
          <a:xfrm>
            <a:off x="7589520" y="1645920"/>
            <a:ext cx="4023360" cy="3657600"/>
          </a:xfrm>
          <a:prstGeom prst="roundRect">
            <a:avLst>
              <a:gd name="adj" fmla="val 3000"/>
            </a:avLst>
          </a:prstGeom>
          <a:solidFill>
            <a:srgbClr val="FDF3D6"/>
          </a:solidFill>
          <a:ln w="12700">
            <a:solidFill>
              <a:srgbClr val="FDF3D6"/>
            </a:solidFill>
            <a:prstDash val="solid"/>
          </a:ln>
        </p:spPr>
      </p:sp>
      <p:sp>
        <p:nvSpPr>
          <p:cNvPr id="7" name="Shape 4"/>
          <p:cNvSpPr/>
          <p:nvPr/>
        </p:nvSpPr>
        <p:spPr>
          <a:xfrm>
            <a:off x="7818120" y="1828800"/>
            <a:ext cx="594360" cy="594360"/>
          </a:xfrm>
          <a:prstGeom prst="ellipse">
            <a:avLst/>
          </a:prstGeom>
          <a:solidFill>
            <a:srgbClr val="F2A900"/>
          </a:solidFill>
          <a:ln w="12700">
            <a:solidFill>
              <a:srgbClr val="F2A900"/>
            </a:solidFill>
            <a:prstDash val="solid"/>
          </a:ln>
        </p:spPr>
      </p:sp>
      <p:pic>
        <p:nvPicPr>
          <p:cNvPr id="8" name="Image 0" descr="preencoded.png">    </p:cNvPr>
          <p:cNvPicPr>
            <a:picLocks noChangeAspect="1"/>
          </p:cNvPicPr>
          <p:nvPr/>
        </p:nvPicPr>
        <p:blipFill>
          <a:blip r:embed="rId1"/>
          <a:stretch>
            <a:fillRect/>
          </a:stretch>
        </p:blipFill>
        <p:spPr>
          <a:xfrm>
            <a:off x="7960766" y="1971446"/>
            <a:ext cx="309067" cy="309067"/>
          </a:xfrm>
          <a:prstGeom prst="rect">
            <a:avLst/>
          </a:prstGeom>
        </p:spPr>
      </p:pic>
      <p:sp>
        <p:nvSpPr>
          <p:cNvPr id="9" name="Text 5"/>
          <p:cNvSpPr txBox="1"/>
          <p:nvPr/>
        </p:nvSpPr>
        <p:spPr>
          <a:xfrm>
            <a:off x="8595360" y="1892808"/>
            <a:ext cx="2926080" cy="411480"/>
          </a:xfrm>
          <a:prstGeom prst="rect">
            <a:avLst/>
          </a:prstGeom>
          <a:noFill/>
          <a:ln/>
        </p:spPr>
        <p:txBody>
          <a:bodyPr wrap="square" lIns="0" tIns="0" rIns="0" bIns="0" rtlCol="0" anchor="t"/>
          <a:lstStyle/>
          <a:p>
            <a:pPr indent="0" marL="0">
              <a:buNone/>
            </a:pPr>
            <a:r>
              <a:rPr lang="en-US" sz="1900" b="1" dirty="0">
                <a:solidFill>
                  <a:srgbClr val="1F4D2B"/>
                </a:solidFill>
                <a:latin typeface="Cambria" pitchFamily="34" charset="0"/>
                <a:ea typeface="Cambria" pitchFamily="34" charset="-122"/>
                <a:cs typeface="Cambria" pitchFamily="34" charset="-120"/>
              </a:rPr>
              <a:t>Future work</a:t>
            </a:r>
            <a:endParaRPr lang="en-US" sz="1900" dirty="0"/>
          </a:p>
        </p:txBody>
      </p:sp>
      <p:sp>
        <p:nvSpPr>
          <p:cNvPr id="10" name="Text 6"/>
          <p:cNvSpPr txBox="1"/>
          <p:nvPr/>
        </p:nvSpPr>
        <p:spPr>
          <a:xfrm>
            <a:off x="7863840" y="2606040"/>
            <a:ext cx="35661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21"/>
                </a:solidFill>
                <a:latin typeface="Calibri" pitchFamily="34" charset="0"/>
                <a:ea typeface="Calibri" pitchFamily="34" charset="-122"/>
                <a:cs typeface="Calibri" pitchFamily="34" charset="-120"/>
              </a:rPr>
              <a:t>Real Hedera accounts or wallets</a:t>
            </a:r>
            <a:endParaRPr lang="en-US" sz="1400" dirty="0"/>
          </a:p>
          <a:p>
            <a:pPr marL="342900" indent="-342900">
              <a:spcAft>
                <a:spcPts val="600"/>
              </a:spcAft>
              <a:buSzPct val="100000"/>
              <a:buChar char="•"/>
            </a:pPr>
            <a:r>
              <a:rPr lang="en-US" sz="1400" dirty="0">
                <a:solidFill>
                  <a:srgbClr val="1B2A21"/>
                </a:solidFill>
                <a:latin typeface="Calibri" pitchFamily="34" charset="0"/>
                <a:ea typeface="Calibri" pitchFamily="34" charset="-122"/>
                <a:cs typeface="Calibri" pitchFamily="34" charset="-120"/>
              </a:rPr>
              <a:t>Contracts on future production</a:t>
            </a:r>
            <a:endParaRPr lang="en-US" sz="1400" dirty="0"/>
          </a:p>
          <a:p>
            <a:pPr marL="342900" indent="-342900">
              <a:spcAft>
                <a:spcPts val="600"/>
              </a:spcAft>
              <a:buSzPct val="100000"/>
              <a:buChar char="•"/>
            </a:pPr>
            <a:r>
              <a:rPr lang="en-US" sz="1400" dirty="0">
                <a:solidFill>
                  <a:srgbClr val="1B2A21"/>
                </a:solidFill>
                <a:latin typeface="Calibri" pitchFamily="34" charset="0"/>
                <a:ea typeface="Calibri" pitchFamily="34" charset="-122"/>
                <a:cs typeface="Calibri" pitchFamily="34" charset="-120"/>
              </a:rPr>
              <a:t>Renting out private batteries</a:t>
            </a:r>
            <a:endParaRPr lang="en-US" sz="1400" dirty="0"/>
          </a:p>
          <a:p>
            <a:pPr marL="342900" indent="-342900">
              <a:spcAft>
                <a:spcPts val="600"/>
              </a:spcAft>
              <a:buSzPct val="100000"/>
              <a:buChar char="•"/>
            </a:pPr>
            <a:r>
              <a:rPr lang="en-US" sz="1400" dirty="0">
                <a:solidFill>
                  <a:srgbClr val="1B2A21"/>
                </a:solidFill>
                <a:latin typeface="Calibri" pitchFamily="34" charset="0"/>
                <a:ea typeface="Calibri" pitchFamily="34" charset="-122"/>
                <a:cs typeface="Calibri" pitchFamily="34" charset="-120"/>
              </a:rPr>
              <a:t>Smarter bids with forecasts</a:t>
            </a:r>
            <a:endParaRPr lang="en-US" sz="1400" dirty="0"/>
          </a:p>
          <a:p>
            <a:pPr marL="342900" indent="-342900">
              <a:spcAft>
                <a:spcPts val="600"/>
              </a:spcAft>
              <a:buSzPct val="100000"/>
              <a:buChar char="•"/>
            </a:pPr>
            <a:r>
              <a:rPr lang="en-US" sz="1400" dirty="0">
                <a:solidFill>
                  <a:srgbClr val="1B2A21"/>
                </a:solidFill>
                <a:latin typeface="Calibri" pitchFamily="34" charset="0"/>
                <a:ea typeface="Calibri" pitchFamily="34" charset="-122"/>
                <a:cs typeface="Calibri" pitchFamily="34" charset="-120"/>
              </a:rPr>
              <a:t>Identity checks and real payments</a:t>
            </a:r>
            <a:endParaRPr lang="en-US" sz="1400" dirty="0"/>
          </a:p>
          <a:p>
            <a:pPr marL="342900" indent="-342900">
              <a:spcAft>
                <a:spcPts val="600"/>
              </a:spcAft>
              <a:buSzPct val="100000"/>
              <a:buChar char="•"/>
            </a:pPr>
            <a:r>
              <a:rPr lang="en-US" sz="1400" dirty="0">
                <a:solidFill>
                  <a:srgbClr val="1B2A21"/>
                </a:solidFill>
                <a:latin typeface="Calibri" pitchFamily="34" charset="0"/>
                <a:ea typeface="Calibri" pitchFamily="34" charset="-122"/>
                <a:cs typeface="Calibri" pitchFamily="34" charset="-120"/>
              </a:rPr>
              <a:t>Signed smart-meter readings</a:t>
            </a:r>
            <a:endParaRPr lang="en-US" sz="1400" dirty="0"/>
          </a:p>
        </p:txBody>
      </p:sp>
      <p:sp>
        <p:nvSpPr>
          <p:cNvPr id="11" name="Text 7"/>
          <p:cNvSpPr txBox="1"/>
          <p:nvPr/>
        </p:nvSpPr>
        <p:spPr>
          <a:xfrm>
            <a:off x="548640" y="4846320"/>
            <a:ext cx="6675120" cy="1188720"/>
          </a:xfrm>
          <a:prstGeom prst="rect">
            <a:avLst/>
          </a:prstGeom>
          <a:noFill/>
          <a:ln/>
        </p:spPr>
        <p:txBody>
          <a:bodyPr wrap="square" lIns="0" tIns="0" rIns="0" bIns="0" rtlCol="0" anchor="t"/>
          <a:lstStyle/>
          <a:p>
            <a:pPr indent="0" marL="0">
              <a:buNone/>
            </a:pPr>
            <a:r>
              <a:rPr lang="en-US" sz="1350" i="1" dirty="0">
                <a:solidFill>
                  <a:srgbClr val="3E8E41"/>
                </a:solidFill>
                <a:latin typeface="Calibri" pitchFamily="34" charset="0"/>
                <a:ea typeface="Calibri" pitchFamily="34" charset="-122"/>
                <a:cs typeface="Calibri" pitchFamily="34" charset="-120"/>
              </a:rPr>
              <a:t>Honest context: most blockchain energy-trading projects stayed pilots because of regulation, not technology. Blockchain's biggest success in energy is certificates of origin.</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4D2B"/>
        </a:solidFill>
      </p:bgPr>
    </p:bg>
    <p:spTree>
      <p:nvGrpSpPr>
        <p:cNvPr id="1" name=""/>
        <p:cNvGrpSpPr/>
        <p:nvPr/>
      </p:nvGrpSpPr>
      <p:grpSpPr>
        <a:xfrm>
          <a:off x="0" y="0"/>
          <a:ext cx="0" cy="0"/>
          <a:chOff x="0" y="0"/>
          <a:chExt cx="0" cy="0"/>
        </a:xfrm>
      </p:grpSpPr>
      <p:sp>
        <p:nvSpPr>
          <p:cNvPr id="2" name="Text 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97BC62"/>
                </a:solidFill>
                <a:latin typeface="Calibri" pitchFamily="34" charset="0"/>
                <a:ea typeface="Calibri" pitchFamily="34" charset="-122"/>
                <a:cs typeface="Calibri" pitchFamily="34" charset="-120"/>
              </a:rPr>
              <a:t>24</a:t>
            </a:r>
            <a:endParaRPr lang="en-US" sz="1000" dirty="0"/>
          </a:p>
        </p:txBody>
      </p:sp>
      <p:sp>
        <p:nvSpPr>
          <p:cNvPr id="3" name="Text 1"/>
          <p:cNvSpPr txBox="1"/>
          <p:nvPr/>
        </p:nvSpPr>
        <p:spPr>
          <a:xfrm>
            <a:off x="731520" y="73152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Key takeaways</a:t>
            </a:r>
            <a:endParaRPr lang="en-US" sz="4000" dirty="0"/>
          </a:p>
        </p:txBody>
      </p:sp>
      <p:sp>
        <p:nvSpPr>
          <p:cNvPr id="4" name="Shape 2"/>
          <p:cNvSpPr/>
          <p:nvPr/>
        </p:nvSpPr>
        <p:spPr>
          <a:xfrm>
            <a:off x="731520" y="1828800"/>
            <a:ext cx="594360" cy="594360"/>
          </a:xfrm>
          <a:prstGeom prst="ellipse">
            <a:avLst/>
          </a:prstGeom>
          <a:solidFill>
            <a:srgbClr val="F2A900"/>
          </a:solidFill>
          <a:ln w="12700">
            <a:solidFill>
              <a:srgbClr val="F2A900"/>
            </a:solidFill>
            <a:prstDash val="solid"/>
          </a:ln>
        </p:spPr>
      </p:sp>
      <p:pic>
        <p:nvPicPr>
          <p:cNvPr id="5" name="Image 0" descr="preencoded.png">    </p:cNvPr>
          <p:cNvPicPr>
            <a:picLocks noChangeAspect="1"/>
          </p:cNvPicPr>
          <p:nvPr/>
        </p:nvPicPr>
        <p:blipFill>
          <a:blip r:embed="rId1"/>
          <a:stretch>
            <a:fillRect/>
          </a:stretch>
        </p:blipFill>
        <p:spPr>
          <a:xfrm>
            <a:off x="874166" y="1971446"/>
            <a:ext cx="309067" cy="309067"/>
          </a:xfrm>
          <a:prstGeom prst="rect">
            <a:avLst/>
          </a:prstGeom>
        </p:spPr>
      </p:pic>
      <p:sp>
        <p:nvSpPr>
          <p:cNvPr id="6" name="Text 3"/>
          <p:cNvSpPr txBox="1"/>
          <p:nvPr/>
        </p:nvSpPr>
        <p:spPr>
          <a:xfrm>
            <a:off x="1554480" y="1828800"/>
            <a:ext cx="9875520" cy="59436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Every kWh is in exactly one place: battery, storage, sold, used, exported or lost.</a:t>
            </a:r>
            <a:endParaRPr lang="en-US" sz="1900" dirty="0"/>
          </a:p>
        </p:txBody>
      </p:sp>
      <p:sp>
        <p:nvSpPr>
          <p:cNvPr id="7" name="Shape 4"/>
          <p:cNvSpPr/>
          <p:nvPr/>
        </p:nvSpPr>
        <p:spPr>
          <a:xfrm>
            <a:off x="731520" y="2697480"/>
            <a:ext cx="594360" cy="594360"/>
          </a:xfrm>
          <a:prstGeom prst="ellipse">
            <a:avLst/>
          </a:prstGeom>
          <a:solidFill>
            <a:srgbClr val="3E8E41"/>
          </a:solidFill>
          <a:ln w="12700">
            <a:solidFill>
              <a:srgbClr val="3E8E41"/>
            </a:solidFill>
            <a:prstDash val="solid"/>
          </a:ln>
        </p:spPr>
      </p:sp>
      <p:pic>
        <p:nvPicPr>
          <p:cNvPr id="8" name="Image 1" descr="preencoded.png">    </p:cNvPr>
          <p:cNvPicPr>
            <a:picLocks noChangeAspect="1"/>
          </p:cNvPicPr>
          <p:nvPr/>
        </p:nvPicPr>
        <p:blipFill>
          <a:blip r:embed="rId2"/>
          <a:stretch>
            <a:fillRect/>
          </a:stretch>
        </p:blipFill>
        <p:spPr>
          <a:xfrm>
            <a:off x="874166" y="2840126"/>
            <a:ext cx="309067" cy="309067"/>
          </a:xfrm>
          <a:prstGeom prst="rect">
            <a:avLst/>
          </a:prstGeom>
        </p:spPr>
      </p:pic>
      <p:sp>
        <p:nvSpPr>
          <p:cNvPr id="9" name="Text 5"/>
          <p:cNvSpPr txBox="1"/>
          <p:nvPr/>
        </p:nvSpPr>
        <p:spPr>
          <a:xfrm>
            <a:off x="1554480" y="2697480"/>
            <a:ext cx="9875520" cy="59436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Producing earns proof (a certificate); selling earns money (TEC).</a:t>
            </a:r>
            <a:endParaRPr lang="en-US" sz="1900" dirty="0"/>
          </a:p>
        </p:txBody>
      </p:sp>
      <p:sp>
        <p:nvSpPr>
          <p:cNvPr id="10" name="Shape 6"/>
          <p:cNvSpPr/>
          <p:nvPr/>
        </p:nvSpPr>
        <p:spPr>
          <a:xfrm>
            <a:off x="731520" y="3566160"/>
            <a:ext cx="594360" cy="594360"/>
          </a:xfrm>
          <a:prstGeom prst="ellipse">
            <a:avLst/>
          </a:prstGeom>
          <a:solidFill>
            <a:srgbClr val="F2A900"/>
          </a:solidFill>
          <a:ln w="12700">
            <a:solidFill>
              <a:srgbClr val="F2A900"/>
            </a:solidFill>
            <a:prstDash val="solid"/>
          </a:ln>
        </p:spPr>
      </p:sp>
      <p:pic>
        <p:nvPicPr>
          <p:cNvPr id="11" name="Image 2" descr="preencoded.png">    </p:cNvPr>
          <p:cNvPicPr>
            <a:picLocks noChangeAspect="1"/>
          </p:cNvPicPr>
          <p:nvPr/>
        </p:nvPicPr>
        <p:blipFill>
          <a:blip r:embed="rId3"/>
          <a:stretch>
            <a:fillRect/>
          </a:stretch>
        </p:blipFill>
        <p:spPr>
          <a:xfrm>
            <a:off x="874166" y="3708806"/>
            <a:ext cx="309067" cy="309067"/>
          </a:xfrm>
          <a:prstGeom prst="rect">
            <a:avLst/>
          </a:prstGeom>
        </p:spPr>
      </p:pic>
      <p:sp>
        <p:nvSpPr>
          <p:cNvPr id="12" name="Text 7"/>
          <p:cNvSpPr txBox="1"/>
          <p:nvPr/>
        </p:nvSpPr>
        <p:spPr>
          <a:xfrm>
            <a:off x="1554480" y="3566160"/>
            <a:ext cx="9875520" cy="59436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One fair price per interval, always between the utility's floor and ceiling.</a:t>
            </a:r>
            <a:endParaRPr lang="en-US" sz="1900" dirty="0"/>
          </a:p>
        </p:txBody>
      </p:sp>
      <p:sp>
        <p:nvSpPr>
          <p:cNvPr id="13" name="Shape 8"/>
          <p:cNvSpPr/>
          <p:nvPr/>
        </p:nvSpPr>
        <p:spPr>
          <a:xfrm>
            <a:off x="731520" y="4434840"/>
            <a:ext cx="594360" cy="594360"/>
          </a:xfrm>
          <a:prstGeom prst="ellipse">
            <a:avLst/>
          </a:prstGeom>
          <a:solidFill>
            <a:srgbClr val="3E8E41"/>
          </a:solidFill>
          <a:ln w="12700">
            <a:solidFill>
              <a:srgbClr val="3E8E41"/>
            </a:solidFill>
            <a:prstDash val="solid"/>
          </a:ln>
        </p:spPr>
      </p:sp>
      <p:pic>
        <p:nvPicPr>
          <p:cNvPr id="14" name="Image 3" descr="preencoded.png">    </p:cNvPr>
          <p:cNvPicPr>
            <a:picLocks noChangeAspect="1"/>
          </p:cNvPicPr>
          <p:nvPr/>
        </p:nvPicPr>
        <p:blipFill>
          <a:blip r:embed="rId4"/>
          <a:stretch>
            <a:fillRect/>
          </a:stretch>
        </p:blipFill>
        <p:spPr>
          <a:xfrm>
            <a:off x="874166" y="4577486"/>
            <a:ext cx="309067" cy="309067"/>
          </a:xfrm>
          <a:prstGeom prst="rect">
            <a:avLst/>
          </a:prstGeom>
        </p:spPr>
      </p:pic>
      <p:sp>
        <p:nvSpPr>
          <p:cNvPr id="15" name="Text 9"/>
          <p:cNvSpPr txBox="1"/>
          <p:nvPr/>
        </p:nvSpPr>
        <p:spPr>
          <a:xfrm>
            <a:off x="1554480" y="4434840"/>
            <a:ext cx="9875520" cy="59436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The utility is the safety net: nobody is ever cut off.</a:t>
            </a:r>
            <a:endParaRPr lang="en-US" sz="1900" dirty="0"/>
          </a:p>
        </p:txBody>
      </p:sp>
      <p:sp>
        <p:nvSpPr>
          <p:cNvPr id="16" name="Shape 10"/>
          <p:cNvSpPr/>
          <p:nvPr/>
        </p:nvSpPr>
        <p:spPr>
          <a:xfrm>
            <a:off x="731520" y="5303520"/>
            <a:ext cx="594360" cy="594360"/>
          </a:xfrm>
          <a:prstGeom prst="ellipse">
            <a:avLst/>
          </a:prstGeom>
          <a:solidFill>
            <a:srgbClr val="F2A900"/>
          </a:solidFill>
          <a:ln w="12700">
            <a:solidFill>
              <a:srgbClr val="F2A900"/>
            </a:solidFill>
            <a:prstDash val="solid"/>
          </a:ln>
        </p:spPr>
      </p:sp>
      <p:pic>
        <p:nvPicPr>
          <p:cNvPr id="17" name="Image 4" descr="preencoded.png">    </p:cNvPr>
          <p:cNvPicPr>
            <a:picLocks noChangeAspect="1"/>
          </p:cNvPicPr>
          <p:nvPr/>
        </p:nvPicPr>
        <p:blipFill>
          <a:blip r:embed="rId5"/>
          <a:stretch>
            <a:fillRect/>
          </a:stretch>
        </p:blipFill>
        <p:spPr>
          <a:xfrm>
            <a:off x="874166" y="5446166"/>
            <a:ext cx="309067" cy="309067"/>
          </a:xfrm>
          <a:prstGeom prst="rect">
            <a:avLst/>
          </a:prstGeom>
        </p:spPr>
      </p:pic>
      <p:sp>
        <p:nvSpPr>
          <p:cNvPr id="18" name="Text 11"/>
          <p:cNvSpPr txBox="1"/>
          <p:nvPr/>
        </p:nvSpPr>
        <p:spPr>
          <a:xfrm>
            <a:off x="1554480" y="5303520"/>
            <a:ext cx="9875520" cy="59436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Money, energy and certificates are checked to balance after every interval.</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Wallet — Energy Market Design</dc:title>
  <dc:subject>PptxGenJS Presentation</dc:subject>
  <dc:creator>PptxGenJS</dc:creator>
  <cp:lastModifiedBy>PptxGenJS</cp:lastModifiedBy>
  <cp:revision>1</cp:revision>
  <dcterms:created xsi:type="dcterms:W3CDTF">2026-09-29T01:05:34Z</dcterms:created>
  <dcterms:modified xsi:type="dcterms:W3CDTF">2026-09-29T01:05:34Z</dcterms:modified>
</cp:coreProperties>
</file>